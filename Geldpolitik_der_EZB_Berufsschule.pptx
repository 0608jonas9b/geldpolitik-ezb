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24E"/>
                </a:solidFill>
                <a:latin typeface="Cambria"/>
              </a:defRPr>
            </a:pPr>
            <a:r>
              <a:rPr sz="1400" b="0" i="0" u="none" strike="noStrike">
                <a:solidFill>
                  <a:srgbClr val="10224E"/>
                </a:solidFill>
                <a:latin typeface="Cambria"/>
              </a:rPr>
              <a:t>Inflation im Euroraum in Prozent</a:t>
            </a:r>
          </a:p>
        </c:rich>
      </c:tx>
      <c:layout/>
      <c:overlay val="0"/>
    </c:title>
    <c:autoTitleDeleted val="0"/>
    <c:plotArea>
      <c:layout/>
      <c:barChart>
        <c:barDir val="col"/>
        <c:grouping val="clustered"/>
        <c:varyColors val="0"/>
        <c:ser>
          <c:idx val="0"/>
          <c:order val="0"/>
          <c:tx>
            <c:strRef>
              <c:f>Sheet1!$B$1</c:f>
              <c:strCache>
                <c:ptCount val="1"/>
                <c:pt idx="0">
                  <c:v>Inflationsrate</c:v>
                </c:pt>
              </c:strCache>
            </c:strRef>
          </c:tx>
          <c:spPr>
            <a:solidFill>
              <a:srgbClr val="2E5AAC"/>
            </a:solidFill>
            <a:effectLst/>
          </c:spPr>
          <c:invertIfNegative val="0"/>
          <c:dLbls>
            <c:numFmt formatCode="0.0&quot; %&quot;" sourceLinked="0"/>
            <c:txPr>
              <a:bodyPr/>
              <a:lstStyle/>
              <a:p>
                <a:pPr>
                  <a:defRPr b="0" i="0" strike="noStrike" sz="1100" u="none">
                    <a:solidFill>
                      <a:srgbClr val="1A1D26"/>
                    </a:solidFill>
                    <a:latin typeface="Calibri"/>
                  </a:defRPr>
                </a:pPr>
              </a:p>
            </c:txPr>
            <c:showLegendKey val="0"/>
            <c:showVal val="1"/>
            <c:showCatName val="0"/>
            <c:showSerName val="0"/>
            <c:showPercent val="0"/>
            <c:showBubbleSize val="0"/>
            <c:showLeaderLines val="0"/>
          </c:dLbls>
          <c:dPt>
            <c:idx val="0"/>
            <c:invertIfNegative val="0"/>
            <c:bubble3D val="0"/>
            <c:spPr>
              <a:solidFill>
                <a:srgbClr val="2E5AAC"/>
              </a:solidFill>
              <a:effectLst/>
            </c:spPr>
          </c:dPt>
          <c:dPt>
            <c:idx val="1"/>
            <c:invertIfNegative val="0"/>
            <c:bubble3D val="0"/>
            <c:spPr>
              <a:solidFill>
                <a:srgbClr val="2E5AAC"/>
              </a:solidFill>
              <a:effectLst/>
            </c:spPr>
          </c:dPt>
          <c:dPt>
            <c:idx val="2"/>
            <c:invertIfNegative val="0"/>
            <c:bubble3D val="0"/>
            <c:spPr>
              <a:solidFill>
                <a:srgbClr val="B3321F"/>
              </a:solidFill>
              <a:effectLst/>
            </c:spPr>
          </c:dPt>
          <c:dPt>
            <c:idx val="3"/>
            <c:invertIfNegative val="0"/>
            <c:bubble3D val="0"/>
            <c:spPr>
              <a:solidFill>
                <a:srgbClr val="B3321F"/>
              </a:solidFill>
              <a:effectLst/>
            </c:spPr>
          </c:dPt>
          <c:dPt>
            <c:idx val="4"/>
            <c:invertIfNegative val="0"/>
            <c:bubble3D val="0"/>
            <c:spPr>
              <a:solidFill>
                <a:srgbClr val="FFC72C"/>
              </a:solidFill>
              <a:effectLst/>
            </c:spPr>
          </c:dPt>
          <c:dPt>
            <c:idx val="5"/>
            <c:invertIfNegative val="0"/>
            <c:bubble3D val="0"/>
            <c:spPr>
              <a:solidFill>
                <a:srgbClr val="FFC72C"/>
              </a:solidFill>
              <a:effectLst/>
            </c:spPr>
          </c:dPt>
          <c:cat>
            <c:multiLvlStrRef>
              <c:f>Sheet1!$A$2:$A$7</c:f>
              <c:multiLvlStrCache>
                <c:ptCount val="6"/>
                <c:lvl>
                  <c:pt idx="0">
                    <c:v>2020</c:v>
                  </c:pt>
                  <c:pt idx="1">
                    <c:v>2021</c:v>
                  </c:pt>
                  <c:pt idx="2">
                    <c:v>2022</c:v>
                  </c:pt>
                  <c:pt idx="3">
                    <c:v>2023</c:v>
                  </c:pt>
                  <c:pt idx="4">
                    <c:v>2024</c:v>
                  </c:pt>
                  <c:pt idx="5">
                    <c:v>2025</c:v>
                  </c:pt>
                </c:lvl>
              </c:multiLvlStrCache>
            </c:multiLvlStrRef>
          </c:cat>
          <c:val>
            <c:numRef>
              <c:f>Sheet1!$B$2:$B$7</c:f>
              <c:numCache>
                <c:formatCode>General</c:formatCode>
                <c:ptCount val="6"/>
                <c:pt idx="0">
                  <c:v>0.3</c:v>
                </c:pt>
                <c:pt idx="1">
                  <c:v>2.6</c:v>
                </c:pt>
                <c:pt idx="2">
                  <c:v>8.4</c:v>
                </c:pt>
                <c:pt idx="3">
                  <c:v>5.4</c:v>
                </c:pt>
                <c:pt idx="4">
                  <c:v>2.4</c:v>
                </c:pt>
                <c:pt idx="5">
                  <c:v>2.1</c:v>
                </c:pt>
              </c:numCache>
            </c:numRef>
          </c:val>
        </c:ser>
        <c:dLbls>
          <c:numFmt formatCode="0.0&quot; %&quot;" sourceLinked="0"/>
          <c:txPr>
            <a:bodyPr/>
            <a:lstStyle/>
            <a:p>
              <a:pPr>
                <a:defRPr b="0" i="0" strike="noStrike" sz="1100" u="none">
                  <a:solidFill>
                    <a:srgbClr val="1A1D26"/>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274"/>
                </a:solidFill>
                <a:latin typeface="Calibri"/>
              </a:defRPr>
            </a:pPr>
            <a:endParaRPr lang="en-US"/>
          </a:p>
        </c:txPr>
        <c:crossAx val="2094734552"/>
        <c:crosses val="autoZero"/>
        <c:auto val="1"/>
        <c:lblAlgn val="ctr"/>
        <c:noMultiLvlLbl val="1"/>
      </c:catAx>
      <c:valAx>
        <c:axId val="2094734552"/>
        <c:scaling>
          <c:orientation val="minMax"/>
          <c:max val="10"/>
        </c:scaling>
        <c:delete val="0"/>
        <c:axPos val="l"/>
        <c:majorGridlines>
          <c:spPr>
            <a:ln w="12700" cap="flat">
              <a:solidFill>
                <a:srgbClr val="E4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274"/>
                </a:solidFill>
                <a:latin typeface="Calibri"/>
              </a:defRPr>
            </a:pPr>
            <a:endParaRPr lang="en-US"/>
          </a:p>
        </c:txPr>
        <c:crossAx val="2094734554"/>
        <c:crosses val="autoZero"/>
        <c:crossBetween val="between"/>
        <c:majorUnit val="2"/>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Begruessung. Einstiegsfrage ans Publikum: Wer hat schon einmal von 'Leitzins' in den Nachrichten gehoert? Kurz das Ziel der Praesentation nennen: Wir schauen uns an, was die EZB macht, mit welchen Werkzeugen sie arbeitet und wie ihre Zinsentscheidungen bei uns allen ankommen. (ca. 30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Gliederung kurz vorstellen, jeden Teil in einem Satz ankuendigen. Nicht vorlesen! Hinweis geben, dass Fragen am Ende gesammelt beantwortet werden. (ca. 30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ueber den Alltag. Klasse aktivieren: 'Wer von euch spart auf etwas Groesseres?' Die vier Beispiele nur kurz antippen - sie werden in Teil 3 vertieft. (ca. 60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Kernaussage: Geld ist keine Sache, sondern eine Funktion. Beispiel Tauschwirtschaft nennen (Baecker will keine Schuhe - 'Problem des doppelten Zufalls'). Bei den Geldarten betonen: Was auf dem Konto liegt, ist Buchgeld und kein gesetzliches Zahlungsmittel. (ca. 90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Wichtigster Satz: Den groessten Teil des Geldes schaffen nicht die Notenbanken, sondern die Geschaeftsbanken durch Kreditvergabe. Das Zahlenbeispiel nur als Groessenordnung nennen, nicht vorrechnen. Ueberleitung: Wer kontrolliert diesen Prozess? (ca. 75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Aufbau nur grob erklaeren - Pruefungsrelevant ist: Der EZB-Rat entscheidet ueber die Zinsen. Bei der Unabhaengigkeit die politische Debatte antippen: Sie ist gewollt, wird aber auch kritisiert, weil niemand die EZB abwaehlen kann. (ca. 75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Zentrale Folie fuer den Auftrag der EZB. Die 2 % gut erklaeren: Es geht nicht um sinkende Preise, sondern um langsam und berechenbar steigende Preise. Vergleich mit der Fed nennen - zeigt, dass die Rangfolge eine politische Entscheidung ist. (ca. 75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 vom Tempel nutzen: zwei Saeulen tragen das eine Ziel. Wichtig: Die EZB schaut nicht nur auf die aktuelle Inflationsrate, sondern auf viele Indikatoren und auf die Zukunft. (ca. 75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Uebersichtsfolie - hier den Aufbau der naechsten drei Folien ankuendigen. Die Merkformel nennen: Preis, Menge, Bindung. (ca. 45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drei Saetze in der richtigen Reihenfolge erklaeren: oben teuer leihen, unten sicher parken, in der Mitte das eigentliche Geschaeft. Merksatz: Der Leitzins ist der Grosshandelspreis fuer Geld - alles andere baut darauf auf. (ca. 90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Vergleich anbieten: Die EZB verleiht Geld wie ein Pfandleihhaus - nur gegen Sicherheiten und nur auf Zeit. Tenderverfahren kurz halten, das ist Detailwissen. (ca. 75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 nutzen: Die Mindestreserve ist wie ein Sicherheitsgurt - sie bindet einen Teil des Geldes. Wichtig fuer die Ueberleitung: Heute ist sie eher technisches Beiwerk, der Zins ist das entscheidende Instrument. Damit beginnt Teil 3. (ca. 60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Kernfolie von Teil 3. Die Kette einmal langsam durchgehen und dabei auf die Folie zeigen. Betonen: Die EZB kann Preise nicht direkt festlegen - sie wirkt nur indirekt ueber die Banken. (ca. 90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Gegenueberstellung ist pruefungsrelevant. Merksatz anbieten: Expansiv = Gas geben, restriktiv = bremsen. Wichtig: Beide Richtungen haben Verlierer - das leitet zur Bewertung am Ende ueber. (ca. 90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wird die Theorie konkret. Die Grafik sprechen lassen: 2022 mehr als das Vierfache des Zielwerts. Erklaeren, warum die EZB erst spaet reagiert hat (Annahme: Energiepreise sind nur voruebergehend) - das ist ein guter Kritikpunkt fuer die Diskussion. (ca. 90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Direkter Bezug zur Klasse. Das Rechenbeispiel 300.000 Euro / 250 Euro im Monat unbedingt nennen - es macht die Groessenordnung greifbar. Den Realzins kurz erklaeren, das ist der haeufigste Denkfehler. (ca. 90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Bezug zum Ausbildungsbetrieb der Klasse herstellen: Auch dort werden Investitionen ueber Kredite finanziert. Die Verbindung Investition - Auftraege - Ausbildungsplaetze deutlich machen. (ca. 75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wird die politische Dimension sichtbar. Der Punkt 'ein Zins fuer viele Laender' eignet sich besonders gut fuer die anschliessende Diskussion und ist der Uebergang zum Fazit. (ca. 75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drei Kernaussagen wiederholen - das bleibt haengen. Danach die Diskussionsfragen oeffnen und die Klasse einbeziehen. Zum Schluss auf Rueckfragen eingehen. (ca. 90 Sekunden plus Diskussion)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24E"/>
        </a:solidFill>
      </p:bgPr>
    </p:bg>
    <p:spTree>
      <p:nvGrpSpPr>
        <p:cNvPr id="1" name=""/>
        <p:cNvGrpSpPr/>
        <p:nvPr/>
      </p:nvGrpSpPr>
      <p:grpSpPr>
        <a:xfrm>
          <a:off x="0" y="0"/>
          <a:ext cx="0" cy="0"/>
          <a:chOff x="0" y="0"/>
          <a:chExt cx="0" cy="0"/>
        </a:xfrm>
      </p:grpSpPr>
      <p:sp>
        <p:nvSpPr>
          <p:cNvPr id="2" name="Shape 0"/>
          <p:cNvSpPr/>
          <p:nvPr/>
        </p:nvSpPr>
        <p:spPr>
          <a:xfrm>
            <a:off x="9614916" y="1522476"/>
            <a:ext cx="155448" cy="155448"/>
          </a:xfrm>
          <a:prstGeom prst="ellipse">
            <a:avLst/>
          </a:prstGeom>
          <a:solidFill>
            <a:srgbClr val="FFC72C"/>
          </a:solidFill>
          <a:ln w="12700">
            <a:solidFill>
              <a:srgbClr val="FFC72C"/>
            </a:solidFill>
            <a:prstDash val="solid"/>
          </a:ln>
        </p:spPr>
      </p:sp>
      <p:sp>
        <p:nvSpPr>
          <p:cNvPr id="3" name="Shape 1"/>
          <p:cNvSpPr/>
          <p:nvPr/>
        </p:nvSpPr>
        <p:spPr>
          <a:xfrm>
            <a:off x="10460736" y="1749113"/>
            <a:ext cx="155448" cy="155448"/>
          </a:xfrm>
          <a:prstGeom prst="ellipse">
            <a:avLst/>
          </a:prstGeom>
          <a:solidFill>
            <a:srgbClr val="FFC72C"/>
          </a:solidFill>
          <a:ln w="12700">
            <a:solidFill>
              <a:srgbClr val="FFC72C"/>
            </a:solidFill>
            <a:prstDash val="solid"/>
          </a:ln>
        </p:spPr>
      </p:sp>
      <p:sp>
        <p:nvSpPr>
          <p:cNvPr id="4" name="Shape 2"/>
          <p:cNvSpPr/>
          <p:nvPr/>
        </p:nvSpPr>
        <p:spPr>
          <a:xfrm>
            <a:off x="11079919" y="2368296"/>
            <a:ext cx="155448" cy="155448"/>
          </a:xfrm>
          <a:prstGeom prst="ellipse">
            <a:avLst/>
          </a:prstGeom>
          <a:solidFill>
            <a:srgbClr val="FFC72C"/>
          </a:solidFill>
          <a:ln w="12700">
            <a:solidFill>
              <a:srgbClr val="FFC72C"/>
            </a:solidFill>
            <a:prstDash val="solid"/>
          </a:ln>
        </p:spPr>
      </p:sp>
      <p:sp>
        <p:nvSpPr>
          <p:cNvPr id="5" name="Shape 3"/>
          <p:cNvSpPr/>
          <p:nvPr/>
        </p:nvSpPr>
        <p:spPr>
          <a:xfrm>
            <a:off x="11306556" y="3214116"/>
            <a:ext cx="155448" cy="155448"/>
          </a:xfrm>
          <a:prstGeom prst="ellipse">
            <a:avLst/>
          </a:prstGeom>
          <a:solidFill>
            <a:srgbClr val="FFC72C"/>
          </a:solidFill>
          <a:ln w="12700">
            <a:solidFill>
              <a:srgbClr val="FFC72C"/>
            </a:solidFill>
            <a:prstDash val="solid"/>
          </a:ln>
        </p:spPr>
      </p:sp>
      <p:sp>
        <p:nvSpPr>
          <p:cNvPr id="6" name="Shape 4"/>
          <p:cNvSpPr/>
          <p:nvPr/>
        </p:nvSpPr>
        <p:spPr>
          <a:xfrm>
            <a:off x="11079919" y="4059936"/>
            <a:ext cx="155448" cy="155448"/>
          </a:xfrm>
          <a:prstGeom prst="ellipse">
            <a:avLst/>
          </a:prstGeom>
          <a:solidFill>
            <a:srgbClr val="FFC72C"/>
          </a:solidFill>
          <a:ln w="12700">
            <a:solidFill>
              <a:srgbClr val="FFC72C"/>
            </a:solidFill>
            <a:prstDash val="solid"/>
          </a:ln>
        </p:spPr>
      </p:sp>
      <p:sp>
        <p:nvSpPr>
          <p:cNvPr id="7" name="Shape 5"/>
          <p:cNvSpPr/>
          <p:nvPr/>
        </p:nvSpPr>
        <p:spPr>
          <a:xfrm>
            <a:off x="10460736" y="4679119"/>
            <a:ext cx="155448" cy="155448"/>
          </a:xfrm>
          <a:prstGeom prst="ellipse">
            <a:avLst/>
          </a:prstGeom>
          <a:solidFill>
            <a:srgbClr val="FFC72C"/>
          </a:solidFill>
          <a:ln w="12700">
            <a:solidFill>
              <a:srgbClr val="FFC72C"/>
            </a:solidFill>
            <a:prstDash val="solid"/>
          </a:ln>
        </p:spPr>
      </p:sp>
      <p:sp>
        <p:nvSpPr>
          <p:cNvPr id="8" name="Shape 6"/>
          <p:cNvSpPr/>
          <p:nvPr/>
        </p:nvSpPr>
        <p:spPr>
          <a:xfrm>
            <a:off x="9614916" y="4905756"/>
            <a:ext cx="155448" cy="155448"/>
          </a:xfrm>
          <a:prstGeom prst="ellipse">
            <a:avLst/>
          </a:prstGeom>
          <a:solidFill>
            <a:srgbClr val="FFC72C"/>
          </a:solidFill>
          <a:ln w="12700">
            <a:solidFill>
              <a:srgbClr val="FFC72C"/>
            </a:solidFill>
            <a:prstDash val="solid"/>
          </a:ln>
        </p:spPr>
      </p:sp>
      <p:sp>
        <p:nvSpPr>
          <p:cNvPr id="9" name="Shape 7"/>
          <p:cNvSpPr/>
          <p:nvPr/>
        </p:nvSpPr>
        <p:spPr>
          <a:xfrm>
            <a:off x="8769096" y="4679119"/>
            <a:ext cx="155448" cy="155448"/>
          </a:xfrm>
          <a:prstGeom prst="ellipse">
            <a:avLst/>
          </a:prstGeom>
          <a:solidFill>
            <a:srgbClr val="FFC72C"/>
          </a:solidFill>
          <a:ln w="12700">
            <a:solidFill>
              <a:srgbClr val="FFC72C"/>
            </a:solidFill>
            <a:prstDash val="solid"/>
          </a:ln>
        </p:spPr>
      </p:sp>
      <p:sp>
        <p:nvSpPr>
          <p:cNvPr id="10" name="Shape 8"/>
          <p:cNvSpPr/>
          <p:nvPr/>
        </p:nvSpPr>
        <p:spPr>
          <a:xfrm>
            <a:off x="8149913" y="4059936"/>
            <a:ext cx="155448" cy="155448"/>
          </a:xfrm>
          <a:prstGeom prst="ellipse">
            <a:avLst/>
          </a:prstGeom>
          <a:solidFill>
            <a:srgbClr val="FFC72C"/>
          </a:solidFill>
          <a:ln w="12700">
            <a:solidFill>
              <a:srgbClr val="FFC72C"/>
            </a:solidFill>
            <a:prstDash val="solid"/>
          </a:ln>
        </p:spPr>
      </p:sp>
      <p:sp>
        <p:nvSpPr>
          <p:cNvPr id="11" name="Shape 9"/>
          <p:cNvSpPr/>
          <p:nvPr/>
        </p:nvSpPr>
        <p:spPr>
          <a:xfrm>
            <a:off x="7923276" y="3214116"/>
            <a:ext cx="155448" cy="155448"/>
          </a:xfrm>
          <a:prstGeom prst="ellipse">
            <a:avLst/>
          </a:prstGeom>
          <a:solidFill>
            <a:srgbClr val="FFC72C"/>
          </a:solidFill>
          <a:ln w="12700">
            <a:solidFill>
              <a:srgbClr val="FFC72C"/>
            </a:solidFill>
            <a:prstDash val="solid"/>
          </a:ln>
        </p:spPr>
      </p:sp>
      <p:sp>
        <p:nvSpPr>
          <p:cNvPr id="12" name="Shape 10"/>
          <p:cNvSpPr/>
          <p:nvPr/>
        </p:nvSpPr>
        <p:spPr>
          <a:xfrm>
            <a:off x="8149913" y="2368296"/>
            <a:ext cx="155448" cy="155448"/>
          </a:xfrm>
          <a:prstGeom prst="ellipse">
            <a:avLst/>
          </a:prstGeom>
          <a:solidFill>
            <a:srgbClr val="FFC72C"/>
          </a:solidFill>
          <a:ln w="12700">
            <a:solidFill>
              <a:srgbClr val="FFC72C"/>
            </a:solidFill>
            <a:prstDash val="solid"/>
          </a:ln>
        </p:spPr>
      </p:sp>
      <p:sp>
        <p:nvSpPr>
          <p:cNvPr id="13" name="Shape 11"/>
          <p:cNvSpPr/>
          <p:nvPr/>
        </p:nvSpPr>
        <p:spPr>
          <a:xfrm>
            <a:off x="8769096" y="1749113"/>
            <a:ext cx="155448" cy="155448"/>
          </a:xfrm>
          <a:prstGeom prst="ellipse">
            <a:avLst/>
          </a:prstGeom>
          <a:solidFill>
            <a:srgbClr val="FFC72C"/>
          </a:solidFill>
          <a:ln w="12700">
            <a:solidFill>
              <a:srgbClr val="FFC72C"/>
            </a:solidFill>
            <a:prstDash val="solid"/>
          </a:ln>
        </p:spPr>
      </p:sp>
      <p:sp>
        <p:nvSpPr>
          <p:cNvPr id="14" name="Shape 12"/>
          <p:cNvSpPr/>
          <p:nvPr/>
        </p:nvSpPr>
        <p:spPr>
          <a:xfrm>
            <a:off x="8641080" y="2240280"/>
            <a:ext cx="2103120" cy="2103120"/>
          </a:xfrm>
          <a:prstGeom prst="ellipse">
            <a:avLst/>
          </a:prstGeom>
          <a:solidFill>
            <a:srgbClr val="1C3670"/>
          </a:solidFill>
          <a:ln w="15875">
            <a:solidFill>
              <a:srgbClr val="FFC72C"/>
            </a:solidFill>
            <a:prstDash val="solid"/>
          </a:ln>
        </p:spPr>
      </p:sp>
      <p:sp>
        <p:nvSpPr>
          <p:cNvPr id="15" name="Text 13"/>
          <p:cNvSpPr txBox="1"/>
          <p:nvPr/>
        </p:nvSpPr>
        <p:spPr>
          <a:xfrm>
            <a:off x="8641080" y="2240280"/>
            <a:ext cx="2103120" cy="2103120"/>
          </a:xfrm>
          <a:prstGeom prst="rect">
            <a:avLst/>
          </a:prstGeom>
          <a:noFill/>
          <a:ln/>
        </p:spPr>
        <p:txBody>
          <a:bodyPr wrap="square" lIns="0" tIns="0" rIns="0" bIns="0" rtlCol="0" anchor="ctr"/>
          <a:lstStyle/>
          <a:p>
            <a:pPr algn="ctr" indent="0" marL="0">
              <a:buNone/>
            </a:pPr>
            <a:r>
              <a:rPr lang="en-US" sz="8800" b="1" dirty="0">
                <a:solidFill>
                  <a:srgbClr val="FFC72C"/>
                </a:solidFill>
                <a:latin typeface="Cambria" pitchFamily="34" charset="0"/>
                <a:ea typeface="Cambria" pitchFamily="34" charset="-122"/>
                <a:cs typeface="Cambria" pitchFamily="34" charset="-120"/>
              </a:rPr>
              <a:t>€</a:t>
            </a:r>
            <a:endParaRPr lang="en-US" sz="8800" dirty="0"/>
          </a:p>
        </p:txBody>
      </p:sp>
      <p:sp>
        <p:nvSpPr>
          <p:cNvPr id="16" name="Text 14"/>
          <p:cNvSpPr txBox="1"/>
          <p:nvPr/>
        </p:nvSpPr>
        <p:spPr>
          <a:xfrm>
            <a:off x="822960" y="1481328"/>
            <a:ext cx="6583680" cy="274320"/>
          </a:xfrm>
          <a:prstGeom prst="rect">
            <a:avLst/>
          </a:prstGeom>
          <a:noFill/>
          <a:ln/>
        </p:spPr>
        <p:txBody>
          <a:bodyPr wrap="square" lIns="0" tIns="0" rIns="0" bIns="0" rtlCol="0" anchor="t"/>
          <a:lstStyle/>
          <a:p>
            <a:pPr algn="l" indent="0" marL="0">
              <a:buNone/>
            </a:pPr>
            <a:r>
              <a:rPr lang="en-US" sz="1250" b="1" spc="160" kern="0" dirty="0">
                <a:solidFill>
                  <a:srgbClr val="FFC72C"/>
                </a:solidFill>
                <a:latin typeface="Calibri" pitchFamily="34" charset="0"/>
                <a:ea typeface="Calibri" pitchFamily="34" charset="-122"/>
                <a:cs typeface="Calibri" pitchFamily="34" charset="-120"/>
              </a:rPr>
              <a:t>POLITIKUNTERRICHT · BERUFSSCHULE</a:t>
            </a:r>
            <a:endParaRPr lang="en-US" sz="1250" dirty="0"/>
          </a:p>
        </p:txBody>
      </p:sp>
      <p:sp>
        <p:nvSpPr>
          <p:cNvPr id="17" name="Text 15"/>
          <p:cNvSpPr txBox="1"/>
          <p:nvPr/>
        </p:nvSpPr>
        <p:spPr>
          <a:xfrm>
            <a:off x="822960" y="1810512"/>
            <a:ext cx="6583680" cy="1517904"/>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Die Geldpolitik</a:t>
            </a:r>
            <a:endParaRPr lang="en-US" sz="4400" dirty="0"/>
          </a:p>
          <a:p>
            <a:pPr algn="l" indent="0" marL="0">
              <a:buNone/>
            </a:pPr>
            <a:r>
              <a:rPr lang="en-US" sz="4400" b="1" dirty="0">
                <a:solidFill>
                  <a:srgbClr val="FFFFFF"/>
                </a:solidFill>
                <a:latin typeface="Cambria" pitchFamily="34" charset="0"/>
                <a:ea typeface="Cambria" pitchFamily="34" charset="-122"/>
                <a:cs typeface="Cambria" pitchFamily="34" charset="-120"/>
              </a:rPr>
              <a:t>der EZB</a:t>
            </a:r>
            <a:endParaRPr lang="en-US" sz="4400" dirty="0"/>
          </a:p>
        </p:txBody>
      </p:sp>
      <p:sp>
        <p:nvSpPr>
          <p:cNvPr id="18" name="Text 16"/>
          <p:cNvSpPr txBox="1"/>
          <p:nvPr/>
        </p:nvSpPr>
        <p:spPr>
          <a:xfrm>
            <a:off x="822960" y="3456432"/>
            <a:ext cx="6400800" cy="777240"/>
          </a:xfrm>
          <a:prstGeom prst="rect">
            <a:avLst/>
          </a:prstGeom>
          <a:noFill/>
          <a:ln/>
        </p:spPr>
        <p:txBody>
          <a:bodyPr wrap="square" lIns="0" tIns="0" rIns="0" bIns="0" rtlCol="0" anchor="t"/>
          <a:lstStyle/>
          <a:p>
            <a:pPr algn="l" indent="0" marL="0">
              <a:lnSpc>
                <a:spcPct val="120000"/>
              </a:lnSpc>
              <a:buNone/>
            </a:pPr>
            <a:r>
              <a:rPr lang="en-US" sz="1700" dirty="0">
                <a:solidFill>
                  <a:srgbClr val="C9D5EE"/>
                </a:solidFill>
                <a:latin typeface="Calibri" pitchFamily="34" charset="0"/>
                <a:ea typeface="Calibri" pitchFamily="34" charset="-122"/>
                <a:cs typeface="Calibri" pitchFamily="34" charset="-120"/>
              </a:rPr>
              <a:t>Inhalte, Strategie und Instrumente – und warum der Zins uns alle betrifft</a:t>
            </a:r>
            <a:endParaRPr lang="en-US" sz="1700" dirty="0"/>
          </a:p>
        </p:txBody>
      </p:sp>
      <p:sp>
        <p:nvSpPr>
          <p:cNvPr id="19" name="Text 17"/>
          <p:cNvSpPr txBox="1"/>
          <p:nvPr/>
        </p:nvSpPr>
        <p:spPr>
          <a:xfrm>
            <a:off x="822960" y="4498848"/>
            <a:ext cx="6400800" cy="1005840"/>
          </a:xfrm>
          <a:prstGeom prst="rect">
            <a:avLst/>
          </a:prstGeom>
          <a:noFill/>
          <a:ln/>
        </p:spPr>
        <p:txBody>
          <a:bodyPr wrap="square" lIns="0" tIns="0" rIns="0" bIns="0" rtlCol="0" anchor="t"/>
          <a:lstStyle/>
          <a:p>
            <a:pPr algn="l" indent="0" marL="0">
              <a:spcAft>
                <a:spcPts val="400"/>
              </a:spcAft>
              <a:buNone/>
            </a:pPr>
            <a:r>
              <a:rPr lang="en-US" sz="1350" b="1" dirty="0">
                <a:solidFill>
                  <a:srgbClr val="FFFFFF"/>
                </a:solidFill>
                <a:latin typeface="Calibri" pitchFamily="34" charset="0"/>
                <a:ea typeface="Calibri" pitchFamily="34" charset="-122"/>
                <a:cs typeface="Calibri" pitchFamily="34" charset="-120"/>
              </a:rPr>
              <a:t>Vorgestellt von: </a:t>
            </a:r>
            <a:pPr algn="l" indent="0" marL="0">
              <a:spcAft>
                <a:spcPts val="400"/>
              </a:spcAft>
              <a:buNone/>
            </a:pPr>
            <a:r>
              <a:rPr lang="en-US" sz="1350" dirty="0">
                <a:solidFill>
                  <a:srgbClr val="C9D5EE"/>
                </a:solidFill>
                <a:latin typeface="Calibri" pitchFamily="34" charset="0"/>
                <a:ea typeface="Calibri" pitchFamily="34" charset="-122"/>
                <a:cs typeface="Calibri" pitchFamily="34" charset="-120"/>
              </a:rPr>
              <a:t>[Name eintragen]</a:t>
            </a:r>
            <a:endParaRPr lang="en-US" sz="1350" dirty="0"/>
          </a:p>
          <a:p>
            <a:pPr algn="l" indent="0" marL="0">
              <a:spcAft>
                <a:spcPts val="400"/>
              </a:spcAft>
              <a:buNone/>
            </a:pPr>
            <a:r>
              <a:rPr lang="en-US" sz="1350" b="1" dirty="0">
                <a:solidFill>
                  <a:srgbClr val="FFFFFF"/>
                </a:solidFill>
                <a:latin typeface="Calibri" pitchFamily="34" charset="0"/>
                <a:ea typeface="Calibri" pitchFamily="34" charset="-122"/>
                <a:cs typeface="Calibri" pitchFamily="34" charset="-120"/>
              </a:rPr>
              <a:t>Fach / Klasse: </a:t>
            </a:r>
            <a:pPr algn="l" indent="0" marL="0">
              <a:spcAft>
                <a:spcPts val="400"/>
              </a:spcAft>
              <a:buNone/>
            </a:pPr>
            <a:r>
              <a:rPr lang="en-US" sz="1350" dirty="0">
                <a:solidFill>
                  <a:srgbClr val="C9D5EE"/>
                </a:solidFill>
                <a:latin typeface="Calibri" pitchFamily="34" charset="0"/>
                <a:ea typeface="Calibri" pitchFamily="34" charset="-122"/>
                <a:cs typeface="Calibri" pitchFamily="34" charset="-120"/>
              </a:rPr>
              <a:t>Politik · [Klasse eintragen]</a:t>
            </a:r>
            <a:endParaRPr lang="en-US" sz="1350" dirty="0"/>
          </a:p>
          <a:p>
            <a:pPr algn="l" indent="0" marL="0">
              <a:spcAft>
                <a:spcPts val="400"/>
              </a:spcAft>
              <a:buNone/>
            </a:pPr>
            <a:r>
              <a:rPr lang="en-US" sz="1350" b="1" dirty="0">
                <a:solidFill>
                  <a:srgbClr val="FFFFFF"/>
                </a:solidFill>
                <a:latin typeface="Calibri" pitchFamily="34" charset="0"/>
                <a:ea typeface="Calibri" pitchFamily="34" charset="-122"/>
                <a:cs typeface="Calibri" pitchFamily="34" charset="-120"/>
              </a:rPr>
              <a:t>Datum: </a:t>
            </a:r>
            <a:pPr algn="l" indent="0" marL="0">
              <a:spcAft>
                <a:spcPts val="400"/>
              </a:spcAft>
              <a:buNone/>
            </a:pPr>
            <a:r>
              <a:rPr lang="en-US" sz="1350" dirty="0">
                <a:solidFill>
                  <a:srgbClr val="C9D5EE"/>
                </a:solidFill>
                <a:latin typeface="Calibri" pitchFamily="34" charset="0"/>
                <a:ea typeface="Calibri" pitchFamily="34" charset="-122"/>
                <a:cs typeface="Calibri" pitchFamily="34" charset="-120"/>
              </a:rPr>
              <a:t>[TT.MM.JJJJ]</a:t>
            </a:r>
            <a:endParaRPr lang="en-US" sz="1350" dirty="0"/>
          </a:p>
        </p:txBody>
      </p:sp>
      <p:sp>
        <p:nvSpPr>
          <p:cNvPr id="20" name="Text 18"/>
          <p:cNvSpPr txBox="1"/>
          <p:nvPr/>
        </p:nvSpPr>
        <p:spPr>
          <a:xfrm>
            <a:off x="822960" y="5989320"/>
            <a:ext cx="6400800" cy="274320"/>
          </a:xfrm>
          <a:prstGeom prst="rect">
            <a:avLst/>
          </a:prstGeom>
          <a:noFill/>
          <a:ln/>
        </p:spPr>
        <p:txBody>
          <a:bodyPr wrap="square" lIns="0" tIns="0" rIns="0" bIns="0" rtlCol="0" anchor="t"/>
          <a:lstStyle/>
          <a:p>
            <a:pPr algn="l" indent="0" marL="0">
              <a:buNone/>
            </a:pPr>
            <a:r>
              <a:rPr lang="en-US" sz="1100" i="1" dirty="0">
                <a:solidFill>
                  <a:srgbClr val="8FA2C8"/>
                </a:solidFill>
                <a:latin typeface="Calibri" pitchFamily="34" charset="0"/>
                <a:ea typeface="Calibri" pitchFamily="34" charset="-122"/>
                <a:cs typeface="Calibri" pitchFamily="34" charset="-120"/>
              </a:rPr>
              <a:t>Vortragsdauer: ca. 20 Minuten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algn="l" indent="0" marL="0">
              <a:buNone/>
            </a:pPr>
            <a:r>
              <a:rPr lang="en-US" sz="1100" b="1" spc="140" kern="0" dirty="0">
                <a:solidFill>
                  <a:srgbClr val="9A6F00"/>
                </a:solidFill>
                <a:latin typeface="Calibri" pitchFamily="34" charset="0"/>
                <a:ea typeface="Calibri" pitchFamily="34" charset="-122"/>
                <a:cs typeface="Calibri" pitchFamily="34" charset="-120"/>
              </a:rPr>
              <a:t>ÜBERBLICK</a:t>
            </a:r>
            <a:endParaRPr lang="en-US" sz="1100" dirty="0"/>
          </a:p>
        </p:txBody>
      </p:sp>
      <p:sp>
        <p:nvSpPr>
          <p:cNvPr id="3" name="Text 1"/>
          <p:cNvSpPr txBox="1"/>
          <p:nvPr/>
        </p:nvSpPr>
        <p:spPr>
          <a:xfrm>
            <a:off x="566928" y="566928"/>
            <a:ext cx="11057839" cy="676656"/>
          </a:xfrm>
          <a:prstGeom prst="rect">
            <a:avLst/>
          </a:prstGeom>
          <a:noFill/>
          <a:ln/>
        </p:spPr>
        <p:txBody>
          <a:bodyPr wrap="square" lIns="0" tIns="0" rIns="0" bIns="0" rtlCol="0" anchor="ctr"/>
          <a:lstStyle/>
          <a:p>
            <a:pPr algn="l" indent="0" marL="0">
              <a:buNone/>
            </a:pPr>
            <a:r>
              <a:rPr lang="en-US" sz="3000" b="1" dirty="0">
                <a:solidFill>
                  <a:srgbClr val="10224E"/>
                </a:solidFill>
                <a:latin typeface="Cambria" pitchFamily="34" charset="0"/>
                <a:ea typeface="Cambria" pitchFamily="34" charset="-122"/>
                <a:cs typeface="Cambria" pitchFamily="34" charset="-120"/>
              </a:rPr>
              <a:t>Gliederung</a:t>
            </a:r>
            <a:endParaRPr lang="en-US" sz="3000" dirty="0"/>
          </a:p>
        </p:txBody>
      </p:sp>
      <p:sp>
        <p:nvSpPr>
          <p:cNvPr id="4" name="Shape 2"/>
          <p:cNvSpPr/>
          <p:nvPr/>
        </p:nvSpPr>
        <p:spPr>
          <a:xfrm>
            <a:off x="566928" y="1572768"/>
            <a:ext cx="3502152" cy="3657600"/>
          </a:xfrm>
          <a:prstGeom prst="roundRect">
            <a:avLst>
              <a:gd name="adj" fmla="val 2089"/>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5" name="Shape 3"/>
          <p:cNvSpPr/>
          <p:nvPr/>
        </p:nvSpPr>
        <p:spPr>
          <a:xfrm>
            <a:off x="859536" y="1865376"/>
            <a:ext cx="566928" cy="566928"/>
          </a:xfrm>
          <a:prstGeom prst="ellipse">
            <a:avLst/>
          </a:prstGeom>
          <a:solidFill>
            <a:srgbClr val="FFC72C"/>
          </a:solidFill>
          <a:ln w="12700">
            <a:solidFill>
              <a:srgbClr val="FFC72C"/>
            </a:solidFill>
            <a:prstDash val="solid"/>
          </a:ln>
        </p:spPr>
      </p:sp>
      <p:sp>
        <p:nvSpPr>
          <p:cNvPr id="6" name="Text 4"/>
          <p:cNvSpPr txBox="1"/>
          <p:nvPr/>
        </p:nvSpPr>
        <p:spPr>
          <a:xfrm>
            <a:off x="859536" y="1865376"/>
            <a:ext cx="566928" cy="566928"/>
          </a:xfrm>
          <a:prstGeom prst="rect">
            <a:avLst/>
          </a:prstGeom>
          <a:noFill/>
          <a:ln/>
        </p:spPr>
        <p:txBody>
          <a:bodyPr wrap="square" lIns="0" tIns="0" rIns="0" bIns="0" rtlCol="0" anchor="ctr"/>
          <a:lstStyle/>
          <a:p>
            <a:pPr algn="ctr" indent="0" marL="0">
              <a:buNone/>
            </a:pPr>
            <a:r>
              <a:rPr lang="en-US" sz="2000" b="1" dirty="0">
                <a:solidFill>
                  <a:srgbClr val="10224E"/>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554480" y="1938528"/>
            <a:ext cx="2221992" cy="237744"/>
          </a:xfrm>
          <a:prstGeom prst="rect">
            <a:avLst/>
          </a:prstGeom>
          <a:noFill/>
          <a:ln/>
        </p:spPr>
        <p:txBody>
          <a:bodyPr wrap="square" lIns="0" tIns="0" rIns="0" bIns="0" rtlCol="0" anchor="t"/>
          <a:lstStyle/>
          <a:p>
            <a:pPr algn="l" indent="0" marL="0">
              <a:buNone/>
            </a:pPr>
            <a:r>
              <a:rPr lang="en-US" sz="1100" b="1" spc="120" kern="0" dirty="0">
                <a:solidFill>
                  <a:srgbClr val="9A6F00"/>
                </a:solidFill>
                <a:latin typeface="Calibri" pitchFamily="34" charset="0"/>
                <a:ea typeface="Calibri" pitchFamily="34" charset="-122"/>
                <a:cs typeface="Calibri" pitchFamily="34" charset="-120"/>
              </a:rPr>
              <a:t>Teil 1</a:t>
            </a:r>
            <a:endParaRPr lang="en-US" sz="1100" dirty="0"/>
          </a:p>
        </p:txBody>
      </p:sp>
      <p:sp>
        <p:nvSpPr>
          <p:cNvPr id="8" name="Text 6"/>
          <p:cNvSpPr txBox="1"/>
          <p:nvPr/>
        </p:nvSpPr>
        <p:spPr>
          <a:xfrm>
            <a:off x="1554480" y="2176272"/>
            <a:ext cx="2267712" cy="292608"/>
          </a:xfrm>
          <a:prstGeom prst="rect">
            <a:avLst/>
          </a:prstGeom>
          <a:noFill/>
          <a:ln/>
        </p:spPr>
        <p:txBody>
          <a:bodyPr wrap="square" lIns="0" tIns="0" rIns="0" bIns="0" rtlCol="0" anchor="t"/>
          <a:lstStyle/>
          <a:p>
            <a:pPr algn="l" indent="0" marL="0">
              <a:buNone/>
            </a:pPr>
            <a:r>
              <a:rPr lang="en-US" sz="1550" b="1" dirty="0">
                <a:solidFill>
                  <a:srgbClr val="10224E"/>
                </a:solidFill>
                <a:latin typeface="Cambria" pitchFamily="34" charset="0"/>
                <a:ea typeface="Cambria" pitchFamily="34" charset="-122"/>
                <a:cs typeface="Cambria" pitchFamily="34" charset="-120"/>
              </a:rPr>
              <a:t>Grundlagen</a:t>
            </a:r>
            <a:endParaRPr lang="en-US" sz="1550" dirty="0"/>
          </a:p>
        </p:txBody>
      </p:sp>
      <p:sp>
        <p:nvSpPr>
          <p:cNvPr id="9" name="Text 7"/>
          <p:cNvSpPr txBox="1"/>
          <p:nvPr/>
        </p:nvSpPr>
        <p:spPr>
          <a:xfrm>
            <a:off x="877824" y="2761488"/>
            <a:ext cx="2880360" cy="1783080"/>
          </a:xfrm>
          <a:prstGeom prst="rect">
            <a:avLst/>
          </a:prstGeom>
          <a:noFill/>
          <a:ln/>
        </p:spPr>
        <p:txBody>
          <a:bodyPr wrap="square" lIns="0" tIns="0" rIns="0" bIns="0" rtlCol="0" anchor="t"/>
          <a:lstStyle/>
          <a:p>
            <a:pPr algn="l" marL="177800" indent="-177800">
              <a:lnSpc>
                <a:spcPct val="110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Warum uns die EZB alle betrifft</a:t>
            </a:r>
            <a:endParaRPr lang="en-US" sz="1250" dirty="0"/>
          </a:p>
          <a:p>
            <a:pPr algn="l" marL="177800" indent="-177800">
              <a:lnSpc>
                <a:spcPct val="110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Was ist Geld?</a:t>
            </a:r>
            <a:endParaRPr lang="en-US" sz="1250" dirty="0"/>
          </a:p>
          <a:p>
            <a:pPr algn="l" marL="177800" indent="-177800">
              <a:lnSpc>
                <a:spcPct val="110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Wer schafft das Geld?</a:t>
            </a:r>
            <a:endParaRPr lang="en-US" sz="1250" dirty="0"/>
          </a:p>
          <a:p>
            <a:pPr algn="l" marL="177800" indent="-177800">
              <a:lnSpc>
                <a:spcPct val="110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Die EZB: Aufbau und Auftrag</a:t>
            </a:r>
            <a:endParaRPr lang="en-US" sz="1250" dirty="0"/>
          </a:p>
          <a:p>
            <a:pPr algn="l" marL="177800" indent="-177800">
              <a:lnSpc>
                <a:spcPct val="110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Das Ziel: Preisstabilität</a:t>
            </a:r>
            <a:endParaRPr lang="en-US" sz="1250" dirty="0"/>
          </a:p>
        </p:txBody>
      </p:sp>
      <p:sp>
        <p:nvSpPr>
          <p:cNvPr id="10" name="Text 8"/>
          <p:cNvSpPr txBox="1"/>
          <p:nvPr/>
        </p:nvSpPr>
        <p:spPr>
          <a:xfrm>
            <a:off x="877824" y="4663440"/>
            <a:ext cx="2880360" cy="256032"/>
          </a:xfrm>
          <a:prstGeom prst="rect">
            <a:avLst/>
          </a:prstGeom>
          <a:noFill/>
          <a:ln/>
        </p:spPr>
        <p:txBody>
          <a:bodyPr wrap="square" lIns="0" tIns="0" rIns="0" bIns="0" rtlCol="0" anchor="t"/>
          <a:lstStyle/>
          <a:p>
            <a:pPr algn="l" indent="0" marL="0">
              <a:buNone/>
            </a:pPr>
            <a:r>
              <a:rPr lang="en-US" sz="1150" i="1" dirty="0">
                <a:solidFill>
                  <a:srgbClr val="9A6F00"/>
                </a:solidFill>
                <a:latin typeface="Calibri" pitchFamily="34" charset="0"/>
                <a:ea typeface="Calibri" pitchFamily="34" charset="-122"/>
                <a:cs typeface="Calibri" pitchFamily="34" charset="-120"/>
              </a:rPr>
              <a:t>ca. 6 Minuten</a:t>
            </a:r>
            <a:endParaRPr lang="en-US" sz="1150" dirty="0"/>
          </a:p>
        </p:txBody>
      </p:sp>
      <p:sp>
        <p:nvSpPr>
          <p:cNvPr id="11" name="Shape 9"/>
          <p:cNvSpPr/>
          <p:nvPr/>
        </p:nvSpPr>
        <p:spPr>
          <a:xfrm>
            <a:off x="4343400" y="1572768"/>
            <a:ext cx="3502152" cy="3657600"/>
          </a:xfrm>
          <a:prstGeom prst="roundRect">
            <a:avLst>
              <a:gd name="adj" fmla="val 2089"/>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2" name="Shape 10"/>
          <p:cNvSpPr/>
          <p:nvPr/>
        </p:nvSpPr>
        <p:spPr>
          <a:xfrm>
            <a:off x="4636008" y="1865376"/>
            <a:ext cx="566928" cy="566928"/>
          </a:xfrm>
          <a:prstGeom prst="ellipse">
            <a:avLst/>
          </a:prstGeom>
          <a:solidFill>
            <a:srgbClr val="FFC72C"/>
          </a:solidFill>
          <a:ln w="12700">
            <a:solidFill>
              <a:srgbClr val="FFC72C"/>
            </a:solidFill>
            <a:prstDash val="solid"/>
          </a:ln>
        </p:spPr>
      </p:sp>
      <p:sp>
        <p:nvSpPr>
          <p:cNvPr id="13" name="Text 11"/>
          <p:cNvSpPr txBox="1"/>
          <p:nvPr/>
        </p:nvSpPr>
        <p:spPr>
          <a:xfrm>
            <a:off x="4636008" y="1865376"/>
            <a:ext cx="566928" cy="566928"/>
          </a:xfrm>
          <a:prstGeom prst="rect">
            <a:avLst/>
          </a:prstGeom>
          <a:noFill/>
          <a:ln/>
        </p:spPr>
        <p:txBody>
          <a:bodyPr wrap="square" lIns="0" tIns="0" rIns="0" bIns="0" rtlCol="0" anchor="ctr"/>
          <a:lstStyle/>
          <a:p>
            <a:pPr algn="ctr" indent="0" marL="0">
              <a:buNone/>
            </a:pPr>
            <a:r>
              <a:rPr lang="en-US" sz="2000" b="1" dirty="0">
                <a:solidFill>
                  <a:srgbClr val="10224E"/>
                </a:solidFill>
                <a:latin typeface="Cambria" pitchFamily="34" charset="0"/>
                <a:ea typeface="Cambria" pitchFamily="34" charset="-122"/>
                <a:cs typeface="Cambria" pitchFamily="34" charset="-120"/>
              </a:rPr>
              <a:t>2</a:t>
            </a:r>
            <a:endParaRPr lang="en-US" sz="2000" dirty="0"/>
          </a:p>
        </p:txBody>
      </p:sp>
      <p:sp>
        <p:nvSpPr>
          <p:cNvPr id="14" name="Text 12"/>
          <p:cNvSpPr txBox="1"/>
          <p:nvPr/>
        </p:nvSpPr>
        <p:spPr>
          <a:xfrm>
            <a:off x="5330952" y="1938528"/>
            <a:ext cx="2221992" cy="237744"/>
          </a:xfrm>
          <a:prstGeom prst="rect">
            <a:avLst/>
          </a:prstGeom>
          <a:noFill/>
          <a:ln/>
        </p:spPr>
        <p:txBody>
          <a:bodyPr wrap="square" lIns="0" tIns="0" rIns="0" bIns="0" rtlCol="0" anchor="t"/>
          <a:lstStyle/>
          <a:p>
            <a:pPr algn="l" indent="0" marL="0">
              <a:buNone/>
            </a:pPr>
            <a:r>
              <a:rPr lang="en-US" sz="1100" b="1" spc="120" kern="0" dirty="0">
                <a:solidFill>
                  <a:srgbClr val="9A6F00"/>
                </a:solidFill>
                <a:latin typeface="Calibri" pitchFamily="34" charset="0"/>
                <a:ea typeface="Calibri" pitchFamily="34" charset="-122"/>
                <a:cs typeface="Calibri" pitchFamily="34" charset="-120"/>
              </a:rPr>
              <a:t>Teil 2</a:t>
            </a:r>
            <a:endParaRPr lang="en-US" sz="1100" dirty="0"/>
          </a:p>
        </p:txBody>
      </p:sp>
      <p:sp>
        <p:nvSpPr>
          <p:cNvPr id="15" name="Text 13"/>
          <p:cNvSpPr txBox="1"/>
          <p:nvPr/>
        </p:nvSpPr>
        <p:spPr>
          <a:xfrm>
            <a:off x="5330952" y="2176272"/>
            <a:ext cx="2267712" cy="292608"/>
          </a:xfrm>
          <a:prstGeom prst="rect">
            <a:avLst/>
          </a:prstGeom>
          <a:noFill/>
          <a:ln/>
        </p:spPr>
        <p:txBody>
          <a:bodyPr wrap="square" lIns="0" tIns="0" rIns="0" bIns="0" rtlCol="0" anchor="t"/>
          <a:lstStyle/>
          <a:p>
            <a:pPr algn="l" indent="0" marL="0">
              <a:buNone/>
            </a:pPr>
            <a:r>
              <a:rPr lang="en-US" sz="1550" b="1" dirty="0">
                <a:solidFill>
                  <a:srgbClr val="10224E"/>
                </a:solidFill>
                <a:latin typeface="Cambria" pitchFamily="34" charset="0"/>
                <a:ea typeface="Cambria" pitchFamily="34" charset="-122"/>
                <a:cs typeface="Cambria" pitchFamily="34" charset="-120"/>
              </a:rPr>
              <a:t>Strategie und Instrumente</a:t>
            </a:r>
            <a:endParaRPr lang="en-US" sz="1550" dirty="0"/>
          </a:p>
        </p:txBody>
      </p:sp>
      <p:sp>
        <p:nvSpPr>
          <p:cNvPr id="16" name="Text 14"/>
          <p:cNvSpPr txBox="1"/>
          <p:nvPr/>
        </p:nvSpPr>
        <p:spPr>
          <a:xfrm>
            <a:off x="4654296" y="2761488"/>
            <a:ext cx="2880360" cy="1783080"/>
          </a:xfrm>
          <a:prstGeom prst="rect">
            <a:avLst/>
          </a:prstGeom>
          <a:noFill/>
          <a:ln/>
        </p:spPr>
        <p:txBody>
          <a:bodyPr wrap="square" lIns="0" tIns="0" rIns="0" bIns="0" rtlCol="0" anchor="t"/>
          <a:lstStyle/>
          <a:p>
            <a:pPr algn="l" marL="177800" indent="-177800">
              <a:lnSpc>
                <a:spcPct val="110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Die Strategie der EZB</a:t>
            </a:r>
            <a:endParaRPr lang="en-US" sz="1250" dirty="0"/>
          </a:p>
          <a:p>
            <a:pPr algn="l" marL="177800" indent="-177800">
              <a:lnSpc>
                <a:spcPct val="110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Der Werkzeugkasten im Überblick</a:t>
            </a:r>
            <a:endParaRPr lang="en-US" sz="1250" dirty="0"/>
          </a:p>
          <a:p>
            <a:pPr algn="l" marL="177800" indent="-177800">
              <a:lnSpc>
                <a:spcPct val="110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Leitzinsen</a:t>
            </a:r>
            <a:endParaRPr lang="en-US" sz="1250" dirty="0"/>
          </a:p>
          <a:p>
            <a:pPr algn="l" marL="177800" indent="-177800">
              <a:lnSpc>
                <a:spcPct val="110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Offenmarktgeschäfte</a:t>
            </a:r>
            <a:endParaRPr lang="en-US" sz="1250" dirty="0"/>
          </a:p>
          <a:p>
            <a:pPr algn="l" marL="177800" indent="-177800">
              <a:lnSpc>
                <a:spcPct val="110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Mindestreserve</a:t>
            </a:r>
            <a:endParaRPr lang="en-US" sz="1250" dirty="0"/>
          </a:p>
        </p:txBody>
      </p:sp>
      <p:sp>
        <p:nvSpPr>
          <p:cNvPr id="17" name="Text 15"/>
          <p:cNvSpPr txBox="1"/>
          <p:nvPr/>
        </p:nvSpPr>
        <p:spPr>
          <a:xfrm>
            <a:off x="4654296" y="4663440"/>
            <a:ext cx="2880360" cy="256032"/>
          </a:xfrm>
          <a:prstGeom prst="rect">
            <a:avLst/>
          </a:prstGeom>
          <a:noFill/>
          <a:ln/>
        </p:spPr>
        <p:txBody>
          <a:bodyPr wrap="square" lIns="0" tIns="0" rIns="0" bIns="0" rtlCol="0" anchor="t"/>
          <a:lstStyle/>
          <a:p>
            <a:pPr algn="l" indent="0" marL="0">
              <a:buNone/>
            </a:pPr>
            <a:r>
              <a:rPr lang="en-US" sz="1150" i="1" dirty="0">
                <a:solidFill>
                  <a:srgbClr val="9A6F00"/>
                </a:solidFill>
                <a:latin typeface="Calibri" pitchFamily="34" charset="0"/>
                <a:ea typeface="Calibri" pitchFamily="34" charset="-122"/>
                <a:cs typeface="Calibri" pitchFamily="34" charset="-120"/>
              </a:rPr>
              <a:t>ca. 6 Minuten</a:t>
            </a:r>
            <a:endParaRPr lang="en-US" sz="1150" dirty="0"/>
          </a:p>
        </p:txBody>
      </p:sp>
      <p:sp>
        <p:nvSpPr>
          <p:cNvPr id="18" name="Shape 16"/>
          <p:cNvSpPr/>
          <p:nvPr/>
        </p:nvSpPr>
        <p:spPr>
          <a:xfrm>
            <a:off x="8119872" y="1572768"/>
            <a:ext cx="3502152" cy="3657600"/>
          </a:xfrm>
          <a:prstGeom prst="roundRect">
            <a:avLst>
              <a:gd name="adj" fmla="val 2089"/>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9" name="Shape 17"/>
          <p:cNvSpPr/>
          <p:nvPr/>
        </p:nvSpPr>
        <p:spPr>
          <a:xfrm>
            <a:off x="8412480" y="1865376"/>
            <a:ext cx="566928" cy="566928"/>
          </a:xfrm>
          <a:prstGeom prst="ellipse">
            <a:avLst/>
          </a:prstGeom>
          <a:solidFill>
            <a:srgbClr val="FFC72C"/>
          </a:solidFill>
          <a:ln w="12700">
            <a:solidFill>
              <a:srgbClr val="FFC72C"/>
            </a:solidFill>
            <a:prstDash val="solid"/>
          </a:ln>
        </p:spPr>
      </p:sp>
      <p:sp>
        <p:nvSpPr>
          <p:cNvPr id="20" name="Text 18"/>
          <p:cNvSpPr txBox="1"/>
          <p:nvPr/>
        </p:nvSpPr>
        <p:spPr>
          <a:xfrm>
            <a:off x="8412480" y="1865376"/>
            <a:ext cx="566928" cy="566928"/>
          </a:xfrm>
          <a:prstGeom prst="rect">
            <a:avLst/>
          </a:prstGeom>
          <a:noFill/>
          <a:ln/>
        </p:spPr>
        <p:txBody>
          <a:bodyPr wrap="square" lIns="0" tIns="0" rIns="0" bIns="0" rtlCol="0" anchor="ctr"/>
          <a:lstStyle/>
          <a:p>
            <a:pPr algn="ctr" indent="0" marL="0">
              <a:buNone/>
            </a:pPr>
            <a:r>
              <a:rPr lang="en-US" sz="2000" b="1" dirty="0">
                <a:solidFill>
                  <a:srgbClr val="10224E"/>
                </a:solidFill>
                <a:latin typeface="Cambria" pitchFamily="34" charset="0"/>
                <a:ea typeface="Cambria" pitchFamily="34" charset="-122"/>
                <a:cs typeface="Cambria" pitchFamily="34" charset="-120"/>
              </a:rPr>
              <a:t>3</a:t>
            </a:r>
            <a:endParaRPr lang="en-US" sz="2000" dirty="0"/>
          </a:p>
        </p:txBody>
      </p:sp>
      <p:sp>
        <p:nvSpPr>
          <p:cNvPr id="21" name="Text 19"/>
          <p:cNvSpPr txBox="1"/>
          <p:nvPr/>
        </p:nvSpPr>
        <p:spPr>
          <a:xfrm>
            <a:off x="9107424" y="1938528"/>
            <a:ext cx="2221992" cy="237744"/>
          </a:xfrm>
          <a:prstGeom prst="rect">
            <a:avLst/>
          </a:prstGeom>
          <a:noFill/>
          <a:ln/>
        </p:spPr>
        <p:txBody>
          <a:bodyPr wrap="square" lIns="0" tIns="0" rIns="0" bIns="0" rtlCol="0" anchor="t"/>
          <a:lstStyle/>
          <a:p>
            <a:pPr algn="l" indent="0" marL="0">
              <a:buNone/>
            </a:pPr>
            <a:r>
              <a:rPr lang="en-US" sz="1100" b="1" spc="120" kern="0" dirty="0">
                <a:solidFill>
                  <a:srgbClr val="9A6F00"/>
                </a:solidFill>
                <a:latin typeface="Calibri" pitchFamily="34" charset="0"/>
                <a:ea typeface="Calibri" pitchFamily="34" charset="-122"/>
                <a:cs typeface="Calibri" pitchFamily="34" charset="-120"/>
              </a:rPr>
              <a:t>Teil 3</a:t>
            </a:r>
            <a:endParaRPr lang="en-US" sz="1100" dirty="0"/>
          </a:p>
        </p:txBody>
      </p:sp>
      <p:sp>
        <p:nvSpPr>
          <p:cNvPr id="22" name="Text 20"/>
          <p:cNvSpPr txBox="1"/>
          <p:nvPr/>
        </p:nvSpPr>
        <p:spPr>
          <a:xfrm>
            <a:off x="9107424" y="2176272"/>
            <a:ext cx="2267712" cy="292608"/>
          </a:xfrm>
          <a:prstGeom prst="rect">
            <a:avLst/>
          </a:prstGeom>
          <a:noFill/>
          <a:ln/>
        </p:spPr>
        <p:txBody>
          <a:bodyPr wrap="square" lIns="0" tIns="0" rIns="0" bIns="0" rtlCol="0" anchor="t"/>
          <a:lstStyle/>
          <a:p>
            <a:pPr algn="l" indent="0" marL="0">
              <a:buNone/>
            </a:pPr>
            <a:r>
              <a:rPr lang="en-US" sz="1550" b="1" dirty="0">
                <a:solidFill>
                  <a:srgbClr val="10224E"/>
                </a:solidFill>
                <a:latin typeface="Cambria" pitchFamily="34" charset="0"/>
                <a:ea typeface="Cambria" pitchFamily="34" charset="-122"/>
                <a:cs typeface="Cambria" pitchFamily="34" charset="-120"/>
              </a:rPr>
              <a:t>Der Zins und seine Wirkung</a:t>
            </a:r>
            <a:endParaRPr lang="en-US" sz="1550" dirty="0"/>
          </a:p>
        </p:txBody>
      </p:sp>
      <p:sp>
        <p:nvSpPr>
          <p:cNvPr id="23" name="Text 21"/>
          <p:cNvSpPr txBox="1"/>
          <p:nvPr/>
        </p:nvSpPr>
        <p:spPr>
          <a:xfrm>
            <a:off x="8430768" y="2761488"/>
            <a:ext cx="2880360" cy="1783080"/>
          </a:xfrm>
          <a:prstGeom prst="rect">
            <a:avLst/>
          </a:prstGeom>
          <a:noFill/>
          <a:ln/>
        </p:spPr>
        <p:txBody>
          <a:bodyPr wrap="square" lIns="0" tIns="0" rIns="0" bIns="0" rtlCol="0" anchor="t"/>
          <a:lstStyle/>
          <a:p>
            <a:pPr algn="l" marL="177800" indent="-177800">
              <a:lnSpc>
                <a:spcPct val="110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Der Transmissionsprozess</a:t>
            </a:r>
            <a:endParaRPr lang="en-US" sz="1250" dirty="0"/>
          </a:p>
          <a:p>
            <a:pPr algn="l" marL="177800" indent="-177800">
              <a:lnSpc>
                <a:spcPct val="110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Expansiv oder restriktiv?</a:t>
            </a:r>
            <a:endParaRPr lang="en-US" sz="1250" dirty="0"/>
          </a:p>
          <a:p>
            <a:pPr algn="l" marL="177800" indent="-177800">
              <a:lnSpc>
                <a:spcPct val="110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Praxisbeispiel: die Zinswende</a:t>
            </a:r>
            <a:endParaRPr lang="en-US" sz="1250" dirty="0"/>
          </a:p>
          <a:p>
            <a:pPr algn="l" marL="177800" indent="-177800">
              <a:lnSpc>
                <a:spcPct val="110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Haushalte, Unternehmen, Staat</a:t>
            </a:r>
            <a:endParaRPr lang="en-US" sz="1250" dirty="0"/>
          </a:p>
          <a:p>
            <a:pPr algn="l" marL="177800" indent="-177800">
              <a:lnSpc>
                <a:spcPct val="110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Fazit und Diskussion</a:t>
            </a:r>
            <a:endParaRPr lang="en-US" sz="1250" dirty="0"/>
          </a:p>
        </p:txBody>
      </p:sp>
      <p:sp>
        <p:nvSpPr>
          <p:cNvPr id="24" name="Text 22"/>
          <p:cNvSpPr txBox="1"/>
          <p:nvPr/>
        </p:nvSpPr>
        <p:spPr>
          <a:xfrm>
            <a:off x="8430768" y="4663440"/>
            <a:ext cx="2880360" cy="256032"/>
          </a:xfrm>
          <a:prstGeom prst="rect">
            <a:avLst/>
          </a:prstGeom>
          <a:noFill/>
          <a:ln/>
        </p:spPr>
        <p:txBody>
          <a:bodyPr wrap="square" lIns="0" tIns="0" rIns="0" bIns="0" rtlCol="0" anchor="t"/>
          <a:lstStyle/>
          <a:p>
            <a:pPr algn="l" indent="0" marL="0">
              <a:buNone/>
            </a:pPr>
            <a:r>
              <a:rPr lang="en-US" sz="1150" i="1" dirty="0">
                <a:solidFill>
                  <a:srgbClr val="9A6F00"/>
                </a:solidFill>
                <a:latin typeface="Calibri" pitchFamily="34" charset="0"/>
                <a:ea typeface="Calibri" pitchFamily="34" charset="-122"/>
                <a:cs typeface="Calibri" pitchFamily="34" charset="-120"/>
              </a:rPr>
              <a:t>ca. 8 Minuten</a:t>
            </a:r>
            <a:endParaRPr lang="en-US" sz="1150" dirty="0"/>
          </a:p>
        </p:txBody>
      </p:sp>
      <p:sp>
        <p:nvSpPr>
          <p:cNvPr id="25" name="Shape 23"/>
          <p:cNvSpPr/>
          <p:nvPr/>
        </p:nvSpPr>
        <p:spPr>
          <a:xfrm>
            <a:off x="566928" y="5440680"/>
            <a:ext cx="11057839" cy="566928"/>
          </a:xfrm>
          <a:prstGeom prst="roundRect">
            <a:avLst>
              <a:gd name="adj" fmla="val 12903"/>
            </a:avLst>
          </a:prstGeom>
          <a:solidFill>
            <a:srgbClr val="10224E"/>
          </a:solidFill>
          <a:ln w="12700">
            <a:solidFill>
              <a:srgbClr val="10224E"/>
            </a:solidFill>
            <a:prstDash val="solid"/>
          </a:ln>
          <a:effectLst>
            <a:outerShdw sx="100000" sy="100000" kx="0" ky="0" algn="bl" rotWithShape="0" blurRad="88900" dist="12700" dir="5400000">
              <a:srgbClr val="8A96AD">
                <a:alpha val="22000"/>
              </a:srgbClr>
            </a:outerShdw>
          </a:effectLst>
        </p:spPr>
      </p:sp>
      <p:sp>
        <p:nvSpPr>
          <p:cNvPr id="26" name="Shape 24"/>
          <p:cNvSpPr/>
          <p:nvPr/>
        </p:nvSpPr>
        <p:spPr>
          <a:xfrm>
            <a:off x="786384" y="5577840"/>
            <a:ext cx="292608" cy="292608"/>
          </a:xfrm>
          <a:prstGeom prst="ellipse">
            <a:avLst/>
          </a:prstGeom>
          <a:solidFill>
            <a:srgbClr val="FFC72C"/>
          </a:solidFill>
          <a:ln w="12700">
            <a:solidFill>
              <a:srgbClr val="FFC72C"/>
            </a:solidFill>
            <a:prstDash val="solid"/>
          </a:ln>
        </p:spPr>
      </p:sp>
      <p:sp>
        <p:nvSpPr>
          <p:cNvPr id="27" name="Text 25"/>
          <p:cNvSpPr txBox="1"/>
          <p:nvPr/>
        </p:nvSpPr>
        <p:spPr>
          <a:xfrm>
            <a:off x="786384" y="5577840"/>
            <a:ext cx="292608" cy="292608"/>
          </a:xfrm>
          <a:prstGeom prst="rect">
            <a:avLst/>
          </a:prstGeom>
          <a:noFill/>
          <a:ln/>
        </p:spPr>
        <p:txBody>
          <a:bodyPr wrap="square" lIns="0" tIns="0" rIns="0" bIns="0" rtlCol="0" anchor="ctr"/>
          <a:lstStyle/>
          <a:p>
            <a:pPr algn="ctr" indent="0" marL="0">
              <a:buNone/>
            </a:pPr>
            <a:r>
              <a:rPr lang="en-US" sz="1400" b="1" dirty="0">
                <a:solidFill>
                  <a:srgbClr val="10224E"/>
                </a:solidFill>
                <a:latin typeface="Cambria" pitchFamily="34" charset="0"/>
                <a:ea typeface="Cambria" pitchFamily="34" charset="-122"/>
                <a:cs typeface="Cambria" pitchFamily="34" charset="-120"/>
              </a:rPr>
              <a:t>›</a:t>
            </a:r>
            <a:endParaRPr lang="en-US" sz="1400" dirty="0"/>
          </a:p>
        </p:txBody>
      </p:sp>
      <p:sp>
        <p:nvSpPr>
          <p:cNvPr id="28" name="Text 26"/>
          <p:cNvSpPr txBox="1"/>
          <p:nvPr/>
        </p:nvSpPr>
        <p:spPr>
          <a:xfrm>
            <a:off x="1225296" y="5440680"/>
            <a:ext cx="10143439" cy="566928"/>
          </a:xfrm>
          <a:prstGeom prst="rect">
            <a:avLst/>
          </a:prstGeom>
          <a:noFill/>
          <a:ln/>
        </p:spPr>
        <p:txBody>
          <a:bodyPr wrap="square" lIns="0" tIns="0" rIns="0" bIns="0" rtlCol="0" anchor="ctr"/>
          <a:lstStyle/>
          <a:p>
            <a:pPr algn="l" indent="0" marL="0">
              <a:buNone/>
            </a:pPr>
            <a:r>
              <a:rPr lang="en-US" sz="1250" dirty="0">
                <a:solidFill>
                  <a:srgbClr val="FFFFFF"/>
                </a:solidFill>
                <a:latin typeface="Calibri" pitchFamily="34" charset="0"/>
                <a:ea typeface="Calibri" pitchFamily="34" charset="-122"/>
                <a:cs typeface="Calibri" pitchFamily="34" charset="-120"/>
              </a:rPr>
              <a:t>Roter Faden: vom Geld über die Instrumente der EZB bis zur Wirkung des Zinses auf Haushalte, Unternehmen und Staat.</a:t>
            </a:r>
            <a:endParaRPr lang="en-US" sz="1250" dirty="0"/>
          </a:p>
        </p:txBody>
      </p:sp>
      <p:sp>
        <p:nvSpPr>
          <p:cNvPr id="29" name="Text 27"/>
          <p:cNvSpPr txBox="1"/>
          <p:nvPr/>
        </p:nvSpPr>
        <p:spPr>
          <a:xfrm>
            <a:off x="566928" y="6364224"/>
            <a:ext cx="5486400" cy="256032"/>
          </a:xfrm>
          <a:prstGeom prst="rect">
            <a:avLst/>
          </a:prstGeom>
          <a:noFill/>
          <a:ln/>
        </p:spPr>
        <p:txBody>
          <a:bodyPr wrap="square" lIns="0" tIns="0" rIns="0" bIns="0" rtlCol="0" anchor="t"/>
          <a:lstStyle/>
          <a:p>
            <a:pPr algn="l" indent="0" marL="0">
              <a:buNone/>
            </a:pPr>
            <a:r>
              <a:rPr lang="en-US" sz="950" dirty="0">
                <a:solidFill>
                  <a:srgbClr val="5A6274"/>
                </a:solidFill>
                <a:latin typeface="Calibri" pitchFamily="34" charset="0"/>
                <a:ea typeface="Calibri" pitchFamily="34" charset="-122"/>
                <a:cs typeface="Calibri" pitchFamily="34" charset="-120"/>
              </a:rPr>
              <a:t>Die Geldpolitik der EZB</a:t>
            </a:r>
            <a:endParaRPr lang="en-US" sz="950" dirty="0"/>
          </a:p>
        </p:txBody>
      </p:sp>
      <p:sp>
        <p:nvSpPr>
          <p:cNvPr id="30" name="Text 28"/>
          <p:cNvSpPr txBox="1"/>
          <p:nvPr/>
        </p:nvSpPr>
        <p:spPr>
          <a:xfrm>
            <a:off x="7967167" y="6364224"/>
            <a:ext cx="3657600" cy="256032"/>
          </a:xfrm>
          <a:prstGeom prst="rect">
            <a:avLst/>
          </a:prstGeom>
          <a:noFill/>
          <a:ln/>
        </p:spPr>
        <p:txBody>
          <a:bodyPr wrap="square" lIns="0" tIns="0" rIns="0" bIns="0" rtlCol="0" anchor="t"/>
          <a:lstStyle/>
          <a:p>
            <a:pPr algn="r" indent="0" marL="0">
              <a:buNone/>
            </a:pPr>
            <a:r>
              <a:rPr lang="en-US" sz="950" dirty="0">
                <a:solidFill>
                  <a:srgbClr val="5A6274"/>
                </a:solidFill>
                <a:latin typeface="Calibri" pitchFamily="34" charset="0"/>
                <a:ea typeface="Calibri" pitchFamily="34" charset="-122"/>
                <a:cs typeface="Calibri" pitchFamily="34" charset="-120"/>
              </a:rPr>
              <a:t>Gliederung</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algn="l" indent="0" marL="0">
              <a:buNone/>
            </a:pPr>
            <a:r>
              <a:rPr lang="en-US" sz="1100" b="1" spc="140" kern="0" dirty="0">
                <a:solidFill>
                  <a:srgbClr val="9A6F00"/>
                </a:solidFill>
                <a:latin typeface="Calibri" pitchFamily="34" charset="0"/>
                <a:ea typeface="Calibri" pitchFamily="34" charset="-122"/>
                <a:cs typeface="Calibri" pitchFamily="34" charset="-120"/>
              </a:rPr>
              <a:t>TEIL 1 · GRUNDLAGEN</a:t>
            </a:r>
            <a:endParaRPr lang="en-US" sz="1100" dirty="0"/>
          </a:p>
        </p:txBody>
      </p:sp>
      <p:sp>
        <p:nvSpPr>
          <p:cNvPr id="3" name="Text 1"/>
          <p:cNvSpPr txBox="1"/>
          <p:nvPr/>
        </p:nvSpPr>
        <p:spPr>
          <a:xfrm>
            <a:off x="566928" y="566928"/>
            <a:ext cx="11057839" cy="676656"/>
          </a:xfrm>
          <a:prstGeom prst="rect">
            <a:avLst/>
          </a:prstGeom>
          <a:noFill/>
          <a:ln/>
        </p:spPr>
        <p:txBody>
          <a:bodyPr wrap="square" lIns="0" tIns="0" rIns="0" bIns="0" rtlCol="0" anchor="ctr"/>
          <a:lstStyle/>
          <a:p>
            <a:pPr algn="l" indent="0" marL="0">
              <a:buNone/>
            </a:pPr>
            <a:r>
              <a:rPr lang="en-US" sz="3000" b="1" dirty="0">
                <a:solidFill>
                  <a:srgbClr val="10224E"/>
                </a:solidFill>
                <a:latin typeface="Cambria" pitchFamily="34" charset="0"/>
                <a:ea typeface="Cambria" pitchFamily="34" charset="-122"/>
                <a:cs typeface="Cambria" pitchFamily="34" charset="-120"/>
              </a:rPr>
              <a:t>Warum uns die EZB alle betrifft</a:t>
            </a:r>
            <a:endParaRPr lang="en-US" sz="3000" dirty="0"/>
          </a:p>
        </p:txBody>
      </p:sp>
      <p:sp>
        <p:nvSpPr>
          <p:cNvPr id="4" name="Text 2"/>
          <p:cNvSpPr txBox="1"/>
          <p:nvPr/>
        </p:nvSpPr>
        <p:spPr>
          <a:xfrm>
            <a:off x="566928" y="1298448"/>
            <a:ext cx="11057839" cy="365760"/>
          </a:xfrm>
          <a:prstGeom prst="rect">
            <a:avLst/>
          </a:prstGeom>
          <a:noFill/>
          <a:ln/>
        </p:spPr>
        <p:txBody>
          <a:bodyPr wrap="square" lIns="0" tIns="0" rIns="0" bIns="0" rtlCol="0" anchor="t"/>
          <a:lstStyle/>
          <a:p>
            <a:pPr algn="l" indent="0" marL="0">
              <a:buNone/>
            </a:pPr>
            <a:r>
              <a:rPr lang="en-US" sz="1450" dirty="0">
                <a:solidFill>
                  <a:srgbClr val="5A6274"/>
                </a:solidFill>
                <a:latin typeface="Calibri" pitchFamily="34" charset="0"/>
                <a:ea typeface="Calibri" pitchFamily="34" charset="-122"/>
                <a:cs typeface="Calibri" pitchFamily="34" charset="-120"/>
              </a:rPr>
              <a:t>Vier Alltagssituationen, in denen Entscheidungen aus Frankfurt am Main direkt spürbar werden:</a:t>
            </a:r>
            <a:endParaRPr lang="en-US" sz="1450" dirty="0"/>
          </a:p>
        </p:txBody>
      </p:sp>
      <p:sp>
        <p:nvSpPr>
          <p:cNvPr id="5" name="Shape 3"/>
          <p:cNvSpPr/>
          <p:nvPr/>
        </p:nvSpPr>
        <p:spPr>
          <a:xfrm>
            <a:off x="566928" y="1828800"/>
            <a:ext cx="5394960" cy="1645920"/>
          </a:xfrm>
          <a:prstGeom prst="roundRect">
            <a:avLst>
              <a:gd name="adj" fmla="val 4444"/>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6" name="Shape 4"/>
          <p:cNvSpPr/>
          <p:nvPr/>
        </p:nvSpPr>
        <p:spPr>
          <a:xfrm>
            <a:off x="841248" y="2084832"/>
            <a:ext cx="566928" cy="566928"/>
          </a:xfrm>
          <a:prstGeom prst="ellipse">
            <a:avLst/>
          </a:prstGeom>
          <a:solidFill>
            <a:srgbClr val="FFC72C"/>
          </a:solidFill>
          <a:ln w="12700">
            <a:solidFill>
              <a:srgbClr val="FFC72C"/>
            </a:solidFill>
            <a:prstDash val="solid"/>
          </a:ln>
        </p:spPr>
      </p:sp>
      <p:sp>
        <p:nvSpPr>
          <p:cNvPr id="7" name="Text 5"/>
          <p:cNvSpPr txBox="1"/>
          <p:nvPr/>
        </p:nvSpPr>
        <p:spPr>
          <a:xfrm>
            <a:off x="841248" y="2084832"/>
            <a:ext cx="566928" cy="566928"/>
          </a:xfrm>
          <a:prstGeom prst="rect">
            <a:avLst/>
          </a:prstGeom>
          <a:noFill/>
          <a:ln/>
        </p:spPr>
        <p:txBody>
          <a:bodyPr wrap="square" lIns="0" tIns="0" rIns="0" bIns="0" rtlCol="0" anchor="ctr"/>
          <a:lstStyle/>
          <a:p>
            <a:pPr algn="ctr" indent="0" marL="0">
              <a:buNone/>
            </a:pPr>
            <a:r>
              <a:rPr lang="en-US" sz="1900" b="1" dirty="0">
                <a:solidFill>
                  <a:srgbClr val="10224E"/>
                </a:solidFill>
                <a:latin typeface="Cambria" pitchFamily="34" charset="0"/>
                <a:ea typeface="Cambria" pitchFamily="34" charset="-122"/>
                <a:cs typeface="Cambria" pitchFamily="34" charset="-120"/>
              </a:rPr>
              <a:t>1</a:t>
            </a:r>
            <a:endParaRPr lang="en-US" sz="1900" dirty="0"/>
          </a:p>
        </p:txBody>
      </p:sp>
      <p:sp>
        <p:nvSpPr>
          <p:cNvPr id="8" name="Text 6"/>
          <p:cNvSpPr txBox="1"/>
          <p:nvPr/>
        </p:nvSpPr>
        <p:spPr>
          <a:xfrm>
            <a:off x="1536192" y="2103120"/>
            <a:ext cx="4114800" cy="310896"/>
          </a:xfrm>
          <a:prstGeom prst="rect">
            <a:avLst/>
          </a:prstGeom>
          <a:noFill/>
          <a:ln/>
        </p:spPr>
        <p:txBody>
          <a:bodyPr wrap="square" lIns="0" tIns="0" rIns="0" bIns="0" rtlCol="0" anchor="t"/>
          <a:lstStyle/>
          <a:p>
            <a:pPr algn="l" indent="0" marL="0">
              <a:buNone/>
            </a:pPr>
            <a:r>
              <a:rPr lang="en-US" sz="1600" b="1" dirty="0">
                <a:solidFill>
                  <a:srgbClr val="10224E"/>
                </a:solidFill>
                <a:latin typeface="Cambria" pitchFamily="34" charset="0"/>
                <a:ea typeface="Cambria" pitchFamily="34" charset="-122"/>
                <a:cs typeface="Cambria" pitchFamily="34" charset="-120"/>
              </a:rPr>
              <a:t>Einkaufen</a:t>
            </a:r>
            <a:endParaRPr lang="en-US" sz="1600" dirty="0"/>
          </a:p>
        </p:txBody>
      </p:sp>
      <p:sp>
        <p:nvSpPr>
          <p:cNvPr id="9" name="Text 7"/>
          <p:cNvSpPr txBox="1"/>
          <p:nvPr/>
        </p:nvSpPr>
        <p:spPr>
          <a:xfrm>
            <a:off x="1536192" y="2487168"/>
            <a:ext cx="4114800" cy="841248"/>
          </a:xfrm>
          <a:prstGeom prst="rect">
            <a:avLst/>
          </a:prstGeom>
          <a:noFill/>
          <a:ln/>
        </p:spPr>
        <p:txBody>
          <a:bodyPr wrap="square" lIns="0" tIns="0" rIns="0" bIns="0" rtlCol="0" anchor="t"/>
          <a:lstStyle/>
          <a:p>
            <a:pPr algn="l" indent="0" marL="0">
              <a:lnSpc>
                <a:spcPct val="110000"/>
              </a:lnSpc>
              <a:buNone/>
            </a:pPr>
            <a:r>
              <a:rPr lang="en-US" sz="1300" dirty="0">
                <a:solidFill>
                  <a:srgbClr val="1A1D26"/>
                </a:solidFill>
                <a:latin typeface="Calibri" pitchFamily="34" charset="0"/>
                <a:ea typeface="Calibri" pitchFamily="34" charset="-122"/>
                <a:cs typeface="Calibri" pitchFamily="34" charset="-120"/>
              </a:rPr>
              <a:t>Steigen die Preise schneller als der Lohn, kann man sich für dasselbe Geld weniger leisten. Genau das soll die EZB verhindern.</a:t>
            </a:r>
            <a:endParaRPr lang="en-US" sz="1300" dirty="0"/>
          </a:p>
        </p:txBody>
      </p:sp>
      <p:sp>
        <p:nvSpPr>
          <p:cNvPr id="10" name="Shape 8"/>
          <p:cNvSpPr/>
          <p:nvPr/>
        </p:nvSpPr>
        <p:spPr>
          <a:xfrm>
            <a:off x="6227064" y="1828800"/>
            <a:ext cx="5394960" cy="1645920"/>
          </a:xfrm>
          <a:prstGeom prst="roundRect">
            <a:avLst>
              <a:gd name="adj" fmla="val 4444"/>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1" name="Shape 9"/>
          <p:cNvSpPr/>
          <p:nvPr/>
        </p:nvSpPr>
        <p:spPr>
          <a:xfrm>
            <a:off x="6501384" y="2084832"/>
            <a:ext cx="566928" cy="566928"/>
          </a:xfrm>
          <a:prstGeom prst="ellipse">
            <a:avLst/>
          </a:prstGeom>
          <a:solidFill>
            <a:srgbClr val="FFC72C"/>
          </a:solidFill>
          <a:ln w="12700">
            <a:solidFill>
              <a:srgbClr val="FFC72C"/>
            </a:solidFill>
            <a:prstDash val="solid"/>
          </a:ln>
        </p:spPr>
      </p:sp>
      <p:sp>
        <p:nvSpPr>
          <p:cNvPr id="12" name="Text 10"/>
          <p:cNvSpPr txBox="1"/>
          <p:nvPr/>
        </p:nvSpPr>
        <p:spPr>
          <a:xfrm>
            <a:off x="6501384" y="2084832"/>
            <a:ext cx="566928" cy="566928"/>
          </a:xfrm>
          <a:prstGeom prst="rect">
            <a:avLst/>
          </a:prstGeom>
          <a:noFill/>
          <a:ln/>
        </p:spPr>
        <p:txBody>
          <a:bodyPr wrap="square" lIns="0" tIns="0" rIns="0" bIns="0" rtlCol="0" anchor="ctr"/>
          <a:lstStyle/>
          <a:p>
            <a:pPr algn="ctr" indent="0" marL="0">
              <a:buNone/>
            </a:pPr>
            <a:r>
              <a:rPr lang="en-US" sz="1900" b="1" dirty="0">
                <a:solidFill>
                  <a:srgbClr val="10224E"/>
                </a:solidFill>
                <a:latin typeface="Cambria" pitchFamily="34" charset="0"/>
                <a:ea typeface="Cambria" pitchFamily="34" charset="-122"/>
                <a:cs typeface="Cambria" pitchFamily="34" charset="-120"/>
              </a:rPr>
              <a:t>2</a:t>
            </a:r>
            <a:endParaRPr lang="en-US" sz="1900" dirty="0"/>
          </a:p>
        </p:txBody>
      </p:sp>
      <p:sp>
        <p:nvSpPr>
          <p:cNvPr id="13" name="Text 11"/>
          <p:cNvSpPr txBox="1"/>
          <p:nvPr/>
        </p:nvSpPr>
        <p:spPr>
          <a:xfrm>
            <a:off x="7196328" y="2103120"/>
            <a:ext cx="4114800" cy="310896"/>
          </a:xfrm>
          <a:prstGeom prst="rect">
            <a:avLst/>
          </a:prstGeom>
          <a:noFill/>
          <a:ln/>
        </p:spPr>
        <p:txBody>
          <a:bodyPr wrap="square" lIns="0" tIns="0" rIns="0" bIns="0" rtlCol="0" anchor="t"/>
          <a:lstStyle/>
          <a:p>
            <a:pPr algn="l" indent="0" marL="0">
              <a:buNone/>
            </a:pPr>
            <a:r>
              <a:rPr lang="en-US" sz="1600" b="1" dirty="0">
                <a:solidFill>
                  <a:srgbClr val="10224E"/>
                </a:solidFill>
                <a:latin typeface="Cambria" pitchFamily="34" charset="0"/>
                <a:ea typeface="Cambria" pitchFamily="34" charset="-122"/>
                <a:cs typeface="Cambria" pitchFamily="34" charset="-120"/>
              </a:rPr>
              <a:t>Sparen</a:t>
            </a:r>
            <a:endParaRPr lang="en-US" sz="1600" dirty="0"/>
          </a:p>
        </p:txBody>
      </p:sp>
      <p:sp>
        <p:nvSpPr>
          <p:cNvPr id="14" name="Text 12"/>
          <p:cNvSpPr txBox="1"/>
          <p:nvPr/>
        </p:nvSpPr>
        <p:spPr>
          <a:xfrm>
            <a:off x="7196328" y="2487168"/>
            <a:ext cx="4114800" cy="841248"/>
          </a:xfrm>
          <a:prstGeom prst="rect">
            <a:avLst/>
          </a:prstGeom>
          <a:noFill/>
          <a:ln/>
        </p:spPr>
        <p:txBody>
          <a:bodyPr wrap="square" lIns="0" tIns="0" rIns="0" bIns="0" rtlCol="0" anchor="t"/>
          <a:lstStyle/>
          <a:p>
            <a:pPr algn="l" indent="0" marL="0">
              <a:lnSpc>
                <a:spcPct val="110000"/>
              </a:lnSpc>
              <a:buNone/>
            </a:pPr>
            <a:r>
              <a:rPr lang="en-US" sz="1300" dirty="0">
                <a:solidFill>
                  <a:srgbClr val="1A1D26"/>
                </a:solidFill>
                <a:latin typeface="Calibri" pitchFamily="34" charset="0"/>
                <a:ea typeface="Calibri" pitchFamily="34" charset="-122"/>
                <a:cs typeface="Calibri" pitchFamily="34" charset="-120"/>
              </a:rPr>
              <a:t>Ob es für das Ersparte 0 % oder 3 % Zinsen gibt, hängt vor allem an den Leitzinsen der EZB.</a:t>
            </a:r>
            <a:endParaRPr lang="en-US" sz="1300" dirty="0"/>
          </a:p>
        </p:txBody>
      </p:sp>
      <p:sp>
        <p:nvSpPr>
          <p:cNvPr id="15" name="Shape 13"/>
          <p:cNvSpPr/>
          <p:nvPr/>
        </p:nvSpPr>
        <p:spPr>
          <a:xfrm>
            <a:off x="566928" y="3611880"/>
            <a:ext cx="5394960" cy="1645920"/>
          </a:xfrm>
          <a:prstGeom prst="roundRect">
            <a:avLst>
              <a:gd name="adj" fmla="val 4444"/>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6" name="Shape 14"/>
          <p:cNvSpPr/>
          <p:nvPr/>
        </p:nvSpPr>
        <p:spPr>
          <a:xfrm>
            <a:off x="841248" y="3867912"/>
            <a:ext cx="566928" cy="566928"/>
          </a:xfrm>
          <a:prstGeom prst="ellipse">
            <a:avLst/>
          </a:prstGeom>
          <a:solidFill>
            <a:srgbClr val="FFC72C"/>
          </a:solidFill>
          <a:ln w="12700">
            <a:solidFill>
              <a:srgbClr val="FFC72C"/>
            </a:solidFill>
            <a:prstDash val="solid"/>
          </a:ln>
        </p:spPr>
      </p:sp>
      <p:sp>
        <p:nvSpPr>
          <p:cNvPr id="17" name="Text 15"/>
          <p:cNvSpPr txBox="1"/>
          <p:nvPr/>
        </p:nvSpPr>
        <p:spPr>
          <a:xfrm>
            <a:off x="841248" y="3867912"/>
            <a:ext cx="566928" cy="566928"/>
          </a:xfrm>
          <a:prstGeom prst="rect">
            <a:avLst/>
          </a:prstGeom>
          <a:noFill/>
          <a:ln/>
        </p:spPr>
        <p:txBody>
          <a:bodyPr wrap="square" lIns="0" tIns="0" rIns="0" bIns="0" rtlCol="0" anchor="ctr"/>
          <a:lstStyle/>
          <a:p>
            <a:pPr algn="ctr" indent="0" marL="0">
              <a:buNone/>
            </a:pPr>
            <a:r>
              <a:rPr lang="en-US" sz="1900" b="1" dirty="0">
                <a:solidFill>
                  <a:srgbClr val="10224E"/>
                </a:solidFill>
                <a:latin typeface="Cambria" pitchFamily="34" charset="0"/>
                <a:ea typeface="Cambria" pitchFamily="34" charset="-122"/>
                <a:cs typeface="Cambria" pitchFamily="34" charset="-120"/>
              </a:rPr>
              <a:t>3</a:t>
            </a:r>
            <a:endParaRPr lang="en-US" sz="1900" dirty="0"/>
          </a:p>
        </p:txBody>
      </p:sp>
      <p:sp>
        <p:nvSpPr>
          <p:cNvPr id="18" name="Text 16"/>
          <p:cNvSpPr txBox="1"/>
          <p:nvPr/>
        </p:nvSpPr>
        <p:spPr>
          <a:xfrm>
            <a:off x="1536192" y="3886200"/>
            <a:ext cx="4114800" cy="310896"/>
          </a:xfrm>
          <a:prstGeom prst="rect">
            <a:avLst/>
          </a:prstGeom>
          <a:noFill/>
          <a:ln/>
        </p:spPr>
        <p:txBody>
          <a:bodyPr wrap="square" lIns="0" tIns="0" rIns="0" bIns="0" rtlCol="0" anchor="t"/>
          <a:lstStyle/>
          <a:p>
            <a:pPr algn="l" indent="0" marL="0">
              <a:buNone/>
            </a:pPr>
            <a:r>
              <a:rPr lang="en-US" sz="1600" b="1" dirty="0">
                <a:solidFill>
                  <a:srgbClr val="10224E"/>
                </a:solidFill>
                <a:latin typeface="Cambria" pitchFamily="34" charset="0"/>
                <a:ea typeface="Cambria" pitchFamily="34" charset="-122"/>
                <a:cs typeface="Cambria" pitchFamily="34" charset="-120"/>
              </a:rPr>
              <a:t>Kredit aufnehmen</a:t>
            </a:r>
            <a:endParaRPr lang="en-US" sz="1600" dirty="0"/>
          </a:p>
        </p:txBody>
      </p:sp>
      <p:sp>
        <p:nvSpPr>
          <p:cNvPr id="19" name="Text 17"/>
          <p:cNvSpPr txBox="1"/>
          <p:nvPr/>
        </p:nvSpPr>
        <p:spPr>
          <a:xfrm>
            <a:off x="1536192" y="4270248"/>
            <a:ext cx="4114800" cy="841248"/>
          </a:xfrm>
          <a:prstGeom prst="rect">
            <a:avLst/>
          </a:prstGeom>
          <a:noFill/>
          <a:ln/>
        </p:spPr>
        <p:txBody>
          <a:bodyPr wrap="square" lIns="0" tIns="0" rIns="0" bIns="0" rtlCol="0" anchor="t"/>
          <a:lstStyle/>
          <a:p>
            <a:pPr algn="l" indent="0" marL="0">
              <a:lnSpc>
                <a:spcPct val="110000"/>
              </a:lnSpc>
              <a:buNone/>
            </a:pPr>
            <a:r>
              <a:rPr lang="en-US" sz="1300" dirty="0">
                <a:solidFill>
                  <a:srgbClr val="1A1D26"/>
                </a:solidFill>
                <a:latin typeface="Calibri" pitchFamily="34" charset="0"/>
                <a:ea typeface="Calibri" pitchFamily="34" charset="-122"/>
                <a:cs typeface="Calibri" pitchFamily="34" charset="-120"/>
              </a:rPr>
              <a:t>Ratenkauf, Autokredit, später die Baufinanzierung: Der Zins bestimmt, wie teuer geliehenes Geld ist.</a:t>
            </a:r>
            <a:endParaRPr lang="en-US" sz="1300" dirty="0"/>
          </a:p>
        </p:txBody>
      </p:sp>
      <p:sp>
        <p:nvSpPr>
          <p:cNvPr id="20" name="Shape 18"/>
          <p:cNvSpPr/>
          <p:nvPr/>
        </p:nvSpPr>
        <p:spPr>
          <a:xfrm>
            <a:off x="6227064" y="3611880"/>
            <a:ext cx="5394960" cy="1645920"/>
          </a:xfrm>
          <a:prstGeom prst="roundRect">
            <a:avLst>
              <a:gd name="adj" fmla="val 4444"/>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21" name="Shape 19"/>
          <p:cNvSpPr/>
          <p:nvPr/>
        </p:nvSpPr>
        <p:spPr>
          <a:xfrm>
            <a:off x="6501384" y="3867912"/>
            <a:ext cx="566928" cy="566928"/>
          </a:xfrm>
          <a:prstGeom prst="ellipse">
            <a:avLst/>
          </a:prstGeom>
          <a:solidFill>
            <a:srgbClr val="FFC72C"/>
          </a:solidFill>
          <a:ln w="12700">
            <a:solidFill>
              <a:srgbClr val="FFC72C"/>
            </a:solidFill>
            <a:prstDash val="solid"/>
          </a:ln>
        </p:spPr>
      </p:sp>
      <p:sp>
        <p:nvSpPr>
          <p:cNvPr id="22" name="Text 20"/>
          <p:cNvSpPr txBox="1"/>
          <p:nvPr/>
        </p:nvSpPr>
        <p:spPr>
          <a:xfrm>
            <a:off x="6501384" y="3867912"/>
            <a:ext cx="566928" cy="566928"/>
          </a:xfrm>
          <a:prstGeom prst="rect">
            <a:avLst/>
          </a:prstGeom>
          <a:noFill/>
          <a:ln/>
        </p:spPr>
        <p:txBody>
          <a:bodyPr wrap="square" lIns="0" tIns="0" rIns="0" bIns="0" rtlCol="0" anchor="ctr"/>
          <a:lstStyle/>
          <a:p>
            <a:pPr algn="ctr" indent="0" marL="0">
              <a:buNone/>
            </a:pPr>
            <a:r>
              <a:rPr lang="en-US" sz="1900" b="1" dirty="0">
                <a:solidFill>
                  <a:srgbClr val="10224E"/>
                </a:solidFill>
                <a:latin typeface="Cambria" pitchFamily="34" charset="0"/>
                <a:ea typeface="Cambria" pitchFamily="34" charset="-122"/>
                <a:cs typeface="Cambria" pitchFamily="34" charset="-120"/>
              </a:rPr>
              <a:t>4</a:t>
            </a:r>
            <a:endParaRPr lang="en-US" sz="1900" dirty="0"/>
          </a:p>
        </p:txBody>
      </p:sp>
      <p:sp>
        <p:nvSpPr>
          <p:cNvPr id="23" name="Text 21"/>
          <p:cNvSpPr txBox="1"/>
          <p:nvPr/>
        </p:nvSpPr>
        <p:spPr>
          <a:xfrm>
            <a:off x="7196328" y="3886200"/>
            <a:ext cx="4114800" cy="310896"/>
          </a:xfrm>
          <a:prstGeom prst="rect">
            <a:avLst/>
          </a:prstGeom>
          <a:noFill/>
          <a:ln/>
        </p:spPr>
        <p:txBody>
          <a:bodyPr wrap="square" lIns="0" tIns="0" rIns="0" bIns="0" rtlCol="0" anchor="t"/>
          <a:lstStyle/>
          <a:p>
            <a:pPr algn="l" indent="0" marL="0">
              <a:buNone/>
            </a:pPr>
            <a:r>
              <a:rPr lang="en-US" sz="1600" b="1" dirty="0">
                <a:solidFill>
                  <a:srgbClr val="10224E"/>
                </a:solidFill>
                <a:latin typeface="Cambria" pitchFamily="34" charset="0"/>
                <a:ea typeface="Cambria" pitchFamily="34" charset="-122"/>
                <a:cs typeface="Cambria" pitchFamily="34" charset="-120"/>
              </a:rPr>
              <a:t>Ausbildung und Job</a:t>
            </a:r>
            <a:endParaRPr lang="en-US" sz="1600" dirty="0"/>
          </a:p>
        </p:txBody>
      </p:sp>
      <p:sp>
        <p:nvSpPr>
          <p:cNvPr id="24" name="Text 22"/>
          <p:cNvSpPr txBox="1"/>
          <p:nvPr/>
        </p:nvSpPr>
        <p:spPr>
          <a:xfrm>
            <a:off x="7196328" y="4270248"/>
            <a:ext cx="4114800" cy="841248"/>
          </a:xfrm>
          <a:prstGeom prst="rect">
            <a:avLst/>
          </a:prstGeom>
          <a:noFill/>
          <a:ln/>
        </p:spPr>
        <p:txBody>
          <a:bodyPr wrap="square" lIns="0" tIns="0" rIns="0" bIns="0" rtlCol="0" anchor="t"/>
          <a:lstStyle/>
          <a:p>
            <a:pPr algn="l" indent="0" marL="0">
              <a:lnSpc>
                <a:spcPct val="110000"/>
              </a:lnSpc>
              <a:buNone/>
            </a:pPr>
            <a:r>
              <a:rPr lang="en-US" sz="1300" dirty="0">
                <a:solidFill>
                  <a:srgbClr val="1A1D26"/>
                </a:solidFill>
                <a:latin typeface="Calibri" pitchFamily="34" charset="0"/>
                <a:ea typeface="Calibri" pitchFamily="34" charset="-122"/>
                <a:cs typeface="Calibri" pitchFamily="34" charset="-120"/>
              </a:rPr>
              <a:t>Günstige Kredite erleichtern Investitionen der Betriebe – und damit Arbeits- und Ausbildungsplätze.</a:t>
            </a:r>
            <a:endParaRPr lang="en-US" sz="1300" dirty="0"/>
          </a:p>
        </p:txBody>
      </p:sp>
      <p:sp>
        <p:nvSpPr>
          <p:cNvPr id="25" name="Shape 23"/>
          <p:cNvSpPr/>
          <p:nvPr/>
        </p:nvSpPr>
        <p:spPr>
          <a:xfrm>
            <a:off x="566928" y="5486400"/>
            <a:ext cx="11057839" cy="566928"/>
          </a:xfrm>
          <a:prstGeom prst="roundRect">
            <a:avLst>
              <a:gd name="adj" fmla="val 12903"/>
            </a:avLst>
          </a:prstGeom>
          <a:solidFill>
            <a:srgbClr val="10224E"/>
          </a:solidFill>
          <a:ln w="12700">
            <a:solidFill>
              <a:srgbClr val="10224E"/>
            </a:solidFill>
            <a:prstDash val="solid"/>
          </a:ln>
          <a:effectLst>
            <a:outerShdw sx="100000" sy="100000" kx="0" ky="0" algn="bl" rotWithShape="0" blurRad="88900" dist="12700" dir="5400000">
              <a:srgbClr val="8A96AD">
                <a:alpha val="22000"/>
              </a:srgbClr>
            </a:outerShdw>
          </a:effectLst>
        </p:spPr>
      </p:sp>
      <p:sp>
        <p:nvSpPr>
          <p:cNvPr id="26" name="Text 24"/>
          <p:cNvSpPr txBox="1"/>
          <p:nvPr/>
        </p:nvSpPr>
        <p:spPr>
          <a:xfrm>
            <a:off x="886968" y="5486400"/>
            <a:ext cx="10417759" cy="566928"/>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Hinter all dem steht eine Institution: die Europäische Zentralbank (EZB).</a:t>
            </a:r>
            <a:endParaRPr lang="en-US" sz="1400" dirty="0"/>
          </a:p>
        </p:txBody>
      </p:sp>
      <p:sp>
        <p:nvSpPr>
          <p:cNvPr id="27" name="Text 25"/>
          <p:cNvSpPr txBox="1"/>
          <p:nvPr/>
        </p:nvSpPr>
        <p:spPr>
          <a:xfrm>
            <a:off x="566928" y="6364224"/>
            <a:ext cx="5486400" cy="256032"/>
          </a:xfrm>
          <a:prstGeom prst="rect">
            <a:avLst/>
          </a:prstGeom>
          <a:noFill/>
          <a:ln/>
        </p:spPr>
        <p:txBody>
          <a:bodyPr wrap="square" lIns="0" tIns="0" rIns="0" bIns="0" rtlCol="0" anchor="t"/>
          <a:lstStyle/>
          <a:p>
            <a:pPr algn="l" indent="0" marL="0">
              <a:buNone/>
            </a:pPr>
            <a:r>
              <a:rPr lang="en-US" sz="950" dirty="0">
                <a:solidFill>
                  <a:srgbClr val="5A6274"/>
                </a:solidFill>
                <a:latin typeface="Calibri" pitchFamily="34" charset="0"/>
                <a:ea typeface="Calibri" pitchFamily="34" charset="-122"/>
                <a:cs typeface="Calibri" pitchFamily="34" charset="-120"/>
              </a:rPr>
              <a:t>Die Geldpolitik der EZB</a:t>
            </a:r>
            <a:endParaRPr lang="en-US" sz="950" dirty="0"/>
          </a:p>
        </p:txBody>
      </p:sp>
      <p:sp>
        <p:nvSpPr>
          <p:cNvPr id="28" name="Text 26"/>
          <p:cNvSpPr txBox="1"/>
          <p:nvPr/>
        </p:nvSpPr>
        <p:spPr>
          <a:xfrm>
            <a:off x="7967167" y="6364224"/>
            <a:ext cx="3657600" cy="256032"/>
          </a:xfrm>
          <a:prstGeom prst="rect">
            <a:avLst/>
          </a:prstGeom>
          <a:noFill/>
          <a:ln/>
        </p:spPr>
        <p:txBody>
          <a:bodyPr wrap="square" lIns="0" tIns="0" rIns="0" bIns="0" rtlCol="0" anchor="t"/>
          <a:lstStyle/>
          <a:p>
            <a:pPr algn="r" indent="0" marL="0">
              <a:buNone/>
            </a:pPr>
            <a:r>
              <a:rPr lang="en-US" sz="950" dirty="0">
                <a:solidFill>
                  <a:srgbClr val="5A6274"/>
                </a:solidFill>
                <a:latin typeface="Calibri" pitchFamily="34" charset="0"/>
                <a:ea typeface="Calibri" pitchFamily="34" charset="-122"/>
                <a:cs typeface="Calibri" pitchFamily="34" charset="-120"/>
              </a:rPr>
              <a:t>Folie 1 von 17</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algn="l" indent="0" marL="0">
              <a:buNone/>
            </a:pPr>
            <a:r>
              <a:rPr lang="en-US" sz="1100" b="1" spc="140" kern="0" dirty="0">
                <a:solidFill>
                  <a:srgbClr val="9A6F00"/>
                </a:solidFill>
                <a:latin typeface="Calibri" pitchFamily="34" charset="0"/>
                <a:ea typeface="Calibri" pitchFamily="34" charset="-122"/>
                <a:cs typeface="Calibri" pitchFamily="34" charset="-120"/>
              </a:rPr>
              <a:t>TEIL 1 · GRUNDLAGEN</a:t>
            </a:r>
            <a:endParaRPr lang="en-US" sz="1100" dirty="0"/>
          </a:p>
        </p:txBody>
      </p:sp>
      <p:sp>
        <p:nvSpPr>
          <p:cNvPr id="3" name="Text 1"/>
          <p:cNvSpPr txBox="1"/>
          <p:nvPr/>
        </p:nvSpPr>
        <p:spPr>
          <a:xfrm>
            <a:off x="566928" y="566928"/>
            <a:ext cx="11057839" cy="676656"/>
          </a:xfrm>
          <a:prstGeom prst="rect">
            <a:avLst/>
          </a:prstGeom>
          <a:noFill/>
          <a:ln/>
        </p:spPr>
        <p:txBody>
          <a:bodyPr wrap="square" lIns="0" tIns="0" rIns="0" bIns="0" rtlCol="0" anchor="ctr"/>
          <a:lstStyle/>
          <a:p>
            <a:pPr algn="l" indent="0" marL="0">
              <a:buNone/>
            </a:pPr>
            <a:r>
              <a:rPr lang="en-US" sz="3000" b="1" dirty="0">
                <a:solidFill>
                  <a:srgbClr val="10224E"/>
                </a:solidFill>
                <a:latin typeface="Cambria" pitchFamily="34" charset="0"/>
                <a:ea typeface="Cambria" pitchFamily="34" charset="-122"/>
                <a:cs typeface="Cambria" pitchFamily="34" charset="-120"/>
              </a:rPr>
              <a:t>Was ist Geld?</a:t>
            </a:r>
            <a:endParaRPr lang="en-US" sz="3000" dirty="0"/>
          </a:p>
        </p:txBody>
      </p:sp>
      <p:sp>
        <p:nvSpPr>
          <p:cNvPr id="4" name="Text 2"/>
          <p:cNvSpPr txBox="1"/>
          <p:nvPr/>
        </p:nvSpPr>
        <p:spPr>
          <a:xfrm>
            <a:off x="566928" y="1353312"/>
            <a:ext cx="5852160" cy="310896"/>
          </a:xfrm>
          <a:prstGeom prst="rect">
            <a:avLst/>
          </a:prstGeom>
          <a:noFill/>
          <a:ln/>
        </p:spPr>
        <p:txBody>
          <a:bodyPr wrap="square" lIns="0" tIns="0" rIns="0" bIns="0" rtlCol="0" anchor="t"/>
          <a:lstStyle/>
          <a:p>
            <a:pPr algn="l" indent="0" marL="0">
              <a:buNone/>
            </a:pPr>
            <a:r>
              <a:rPr lang="en-US" sz="1600" b="1" dirty="0">
                <a:solidFill>
                  <a:srgbClr val="10224E"/>
                </a:solidFill>
                <a:latin typeface="Cambria" pitchFamily="34" charset="0"/>
                <a:ea typeface="Cambria" pitchFamily="34" charset="-122"/>
                <a:cs typeface="Cambria" pitchFamily="34" charset="-120"/>
              </a:rPr>
              <a:t>Drei Funktionen des Geldes</a:t>
            </a:r>
            <a:endParaRPr lang="en-US" sz="1600" dirty="0"/>
          </a:p>
        </p:txBody>
      </p:sp>
      <p:sp>
        <p:nvSpPr>
          <p:cNvPr id="5" name="Shape 3"/>
          <p:cNvSpPr/>
          <p:nvPr/>
        </p:nvSpPr>
        <p:spPr>
          <a:xfrm>
            <a:off x="621792" y="1810512"/>
            <a:ext cx="502920" cy="502920"/>
          </a:xfrm>
          <a:prstGeom prst="ellipse">
            <a:avLst/>
          </a:prstGeom>
          <a:solidFill>
            <a:srgbClr val="FFC72C"/>
          </a:solidFill>
          <a:ln w="12700">
            <a:solidFill>
              <a:srgbClr val="FFC72C"/>
            </a:solidFill>
            <a:prstDash val="solid"/>
          </a:ln>
        </p:spPr>
      </p:sp>
      <p:sp>
        <p:nvSpPr>
          <p:cNvPr id="6" name="Text 4"/>
          <p:cNvSpPr txBox="1"/>
          <p:nvPr/>
        </p:nvSpPr>
        <p:spPr>
          <a:xfrm>
            <a:off x="621792" y="1810512"/>
            <a:ext cx="502920" cy="502920"/>
          </a:xfrm>
          <a:prstGeom prst="rect">
            <a:avLst/>
          </a:prstGeom>
          <a:noFill/>
          <a:ln/>
        </p:spPr>
        <p:txBody>
          <a:bodyPr wrap="square" lIns="0" tIns="0" rIns="0" bIns="0" rtlCol="0" anchor="ctr"/>
          <a:lstStyle/>
          <a:p>
            <a:pPr algn="ctr" indent="0" marL="0">
              <a:buNone/>
            </a:pPr>
            <a:r>
              <a:rPr lang="en-US" sz="1600" b="1" dirty="0">
                <a:solidFill>
                  <a:srgbClr val="10224E"/>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316736" y="1773936"/>
            <a:ext cx="5029200" cy="274320"/>
          </a:xfrm>
          <a:prstGeom prst="rect">
            <a:avLst/>
          </a:prstGeom>
          <a:noFill/>
          <a:ln/>
        </p:spPr>
        <p:txBody>
          <a:bodyPr wrap="square" lIns="0" tIns="0" rIns="0" bIns="0" rtlCol="0" anchor="t"/>
          <a:lstStyle/>
          <a:p>
            <a:pPr algn="l" indent="0" marL="0">
              <a:buNone/>
            </a:pPr>
            <a:r>
              <a:rPr lang="en-US" sz="1500" b="1" dirty="0">
                <a:solidFill>
                  <a:srgbClr val="10224E"/>
                </a:solidFill>
                <a:latin typeface="Calibri" pitchFamily="34" charset="0"/>
                <a:ea typeface="Calibri" pitchFamily="34" charset="-122"/>
                <a:cs typeface="Calibri" pitchFamily="34" charset="-120"/>
              </a:rPr>
              <a:t>Tauschmittel</a:t>
            </a:r>
            <a:endParaRPr lang="en-US" sz="1500" dirty="0"/>
          </a:p>
        </p:txBody>
      </p:sp>
      <p:sp>
        <p:nvSpPr>
          <p:cNvPr id="8" name="Text 6"/>
          <p:cNvSpPr txBox="1"/>
          <p:nvPr/>
        </p:nvSpPr>
        <p:spPr>
          <a:xfrm>
            <a:off x="1316736" y="2066544"/>
            <a:ext cx="5029200" cy="640080"/>
          </a:xfrm>
          <a:prstGeom prst="rect">
            <a:avLst/>
          </a:prstGeom>
          <a:noFill/>
          <a:ln/>
        </p:spPr>
        <p:txBody>
          <a:bodyPr wrap="square" lIns="0" tIns="0" rIns="0" bIns="0" rtlCol="0" anchor="t"/>
          <a:lstStyle/>
          <a:p>
            <a:pPr algn="l" indent="0" marL="0">
              <a:lnSpc>
                <a:spcPct val="108000"/>
              </a:lnSpc>
              <a:buNone/>
            </a:pPr>
            <a:r>
              <a:rPr lang="en-US" sz="1250" dirty="0">
                <a:solidFill>
                  <a:srgbClr val="1A1D26"/>
                </a:solidFill>
                <a:latin typeface="Calibri" pitchFamily="34" charset="0"/>
                <a:ea typeface="Calibri" pitchFamily="34" charset="-122"/>
                <a:cs typeface="Calibri" pitchFamily="34" charset="-120"/>
              </a:rPr>
              <a:t>Geld wird überall als Bezahlung akzeptiert. Ohne Geld müsste Ware gegen Ware getauscht werden – man bräuchte immer den passenden Partner.</a:t>
            </a:r>
            <a:endParaRPr lang="en-US" sz="1250" dirty="0"/>
          </a:p>
        </p:txBody>
      </p:sp>
      <p:sp>
        <p:nvSpPr>
          <p:cNvPr id="9" name="Shape 7"/>
          <p:cNvSpPr/>
          <p:nvPr/>
        </p:nvSpPr>
        <p:spPr>
          <a:xfrm>
            <a:off x="621792" y="2816352"/>
            <a:ext cx="502920" cy="502920"/>
          </a:xfrm>
          <a:prstGeom prst="ellipse">
            <a:avLst/>
          </a:prstGeom>
          <a:solidFill>
            <a:srgbClr val="FFC72C"/>
          </a:solidFill>
          <a:ln w="12700">
            <a:solidFill>
              <a:srgbClr val="FFC72C"/>
            </a:solidFill>
            <a:prstDash val="solid"/>
          </a:ln>
        </p:spPr>
      </p:sp>
      <p:sp>
        <p:nvSpPr>
          <p:cNvPr id="10" name="Text 8"/>
          <p:cNvSpPr txBox="1"/>
          <p:nvPr/>
        </p:nvSpPr>
        <p:spPr>
          <a:xfrm>
            <a:off x="621792" y="2816352"/>
            <a:ext cx="502920" cy="502920"/>
          </a:xfrm>
          <a:prstGeom prst="rect">
            <a:avLst/>
          </a:prstGeom>
          <a:noFill/>
          <a:ln/>
        </p:spPr>
        <p:txBody>
          <a:bodyPr wrap="square" lIns="0" tIns="0" rIns="0" bIns="0" rtlCol="0" anchor="ctr"/>
          <a:lstStyle/>
          <a:p>
            <a:pPr algn="ctr" indent="0" marL="0">
              <a:buNone/>
            </a:pPr>
            <a:r>
              <a:rPr lang="en-US" sz="1600" b="1" dirty="0">
                <a:solidFill>
                  <a:srgbClr val="10224E"/>
                </a:solidFill>
                <a:latin typeface="Cambria" pitchFamily="34" charset="0"/>
                <a:ea typeface="Cambria" pitchFamily="34" charset="-122"/>
                <a:cs typeface="Cambria" pitchFamily="34" charset="-120"/>
              </a:rPr>
              <a:t>2</a:t>
            </a:r>
            <a:endParaRPr lang="en-US" sz="1600" dirty="0"/>
          </a:p>
        </p:txBody>
      </p:sp>
      <p:sp>
        <p:nvSpPr>
          <p:cNvPr id="11" name="Text 9"/>
          <p:cNvSpPr txBox="1"/>
          <p:nvPr/>
        </p:nvSpPr>
        <p:spPr>
          <a:xfrm>
            <a:off x="1316736" y="2779776"/>
            <a:ext cx="5029200" cy="274320"/>
          </a:xfrm>
          <a:prstGeom prst="rect">
            <a:avLst/>
          </a:prstGeom>
          <a:noFill/>
          <a:ln/>
        </p:spPr>
        <p:txBody>
          <a:bodyPr wrap="square" lIns="0" tIns="0" rIns="0" bIns="0" rtlCol="0" anchor="t"/>
          <a:lstStyle/>
          <a:p>
            <a:pPr algn="l" indent="0" marL="0">
              <a:buNone/>
            </a:pPr>
            <a:r>
              <a:rPr lang="en-US" sz="1500" b="1" dirty="0">
                <a:solidFill>
                  <a:srgbClr val="10224E"/>
                </a:solidFill>
                <a:latin typeface="Calibri" pitchFamily="34" charset="0"/>
                <a:ea typeface="Calibri" pitchFamily="34" charset="-122"/>
                <a:cs typeface="Calibri" pitchFamily="34" charset="-120"/>
              </a:rPr>
              <a:t>Recheneinheit</a:t>
            </a:r>
            <a:endParaRPr lang="en-US" sz="1500" dirty="0"/>
          </a:p>
        </p:txBody>
      </p:sp>
      <p:sp>
        <p:nvSpPr>
          <p:cNvPr id="12" name="Text 10"/>
          <p:cNvSpPr txBox="1"/>
          <p:nvPr/>
        </p:nvSpPr>
        <p:spPr>
          <a:xfrm>
            <a:off x="1316736" y="3072384"/>
            <a:ext cx="5029200" cy="640080"/>
          </a:xfrm>
          <a:prstGeom prst="rect">
            <a:avLst/>
          </a:prstGeom>
          <a:noFill/>
          <a:ln/>
        </p:spPr>
        <p:txBody>
          <a:bodyPr wrap="square" lIns="0" tIns="0" rIns="0" bIns="0" rtlCol="0" anchor="t"/>
          <a:lstStyle/>
          <a:p>
            <a:pPr algn="l" indent="0" marL="0">
              <a:lnSpc>
                <a:spcPct val="108000"/>
              </a:lnSpc>
              <a:buNone/>
            </a:pPr>
            <a:r>
              <a:rPr lang="en-US" sz="1250" dirty="0">
                <a:solidFill>
                  <a:srgbClr val="1A1D26"/>
                </a:solidFill>
                <a:latin typeface="Calibri" pitchFamily="34" charset="0"/>
                <a:ea typeface="Calibri" pitchFamily="34" charset="-122"/>
                <a:cs typeface="Calibri" pitchFamily="34" charset="-120"/>
              </a:rPr>
              <a:t>Alle Güter werden in Euro bewertet. So lassen sich ganz unterschiedliche Dinge überhaupt vergleichen.</a:t>
            </a:r>
            <a:endParaRPr lang="en-US" sz="1250" dirty="0"/>
          </a:p>
        </p:txBody>
      </p:sp>
      <p:sp>
        <p:nvSpPr>
          <p:cNvPr id="13" name="Shape 11"/>
          <p:cNvSpPr/>
          <p:nvPr/>
        </p:nvSpPr>
        <p:spPr>
          <a:xfrm>
            <a:off x="621792" y="3822192"/>
            <a:ext cx="502920" cy="502920"/>
          </a:xfrm>
          <a:prstGeom prst="ellipse">
            <a:avLst/>
          </a:prstGeom>
          <a:solidFill>
            <a:srgbClr val="FFC72C"/>
          </a:solidFill>
          <a:ln w="12700">
            <a:solidFill>
              <a:srgbClr val="FFC72C"/>
            </a:solidFill>
            <a:prstDash val="solid"/>
          </a:ln>
        </p:spPr>
      </p:sp>
      <p:sp>
        <p:nvSpPr>
          <p:cNvPr id="14" name="Text 12"/>
          <p:cNvSpPr txBox="1"/>
          <p:nvPr/>
        </p:nvSpPr>
        <p:spPr>
          <a:xfrm>
            <a:off x="621792" y="3822192"/>
            <a:ext cx="502920" cy="502920"/>
          </a:xfrm>
          <a:prstGeom prst="rect">
            <a:avLst/>
          </a:prstGeom>
          <a:noFill/>
          <a:ln/>
        </p:spPr>
        <p:txBody>
          <a:bodyPr wrap="square" lIns="0" tIns="0" rIns="0" bIns="0" rtlCol="0" anchor="ctr"/>
          <a:lstStyle/>
          <a:p>
            <a:pPr algn="ctr" indent="0" marL="0">
              <a:buNone/>
            </a:pPr>
            <a:r>
              <a:rPr lang="en-US" sz="1600" b="1" dirty="0">
                <a:solidFill>
                  <a:srgbClr val="10224E"/>
                </a:solidFill>
                <a:latin typeface="Cambria" pitchFamily="34" charset="0"/>
                <a:ea typeface="Cambria" pitchFamily="34" charset="-122"/>
                <a:cs typeface="Cambria" pitchFamily="34" charset="-120"/>
              </a:rPr>
              <a:t>3</a:t>
            </a:r>
            <a:endParaRPr lang="en-US" sz="1600" dirty="0"/>
          </a:p>
        </p:txBody>
      </p:sp>
      <p:sp>
        <p:nvSpPr>
          <p:cNvPr id="15" name="Text 13"/>
          <p:cNvSpPr txBox="1"/>
          <p:nvPr/>
        </p:nvSpPr>
        <p:spPr>
          <a:xfrm>
            <a:off x="1316736" y="3785616"/>
            <a:ext cx="5029200" cy="274320"/>
          </a:xfrm>
          <a:prstGeom prst="rect">
            <a:avLst/>
          </a:prstGeom>
          <a:noFill/>
          <a:ln/>
        </p:spPr>
        <p:txBody>
          <a:bodyPr wrap="square" lIns="0" tIns="0" rIns="0" bIns="0" rtlCol="0" anchor="t"/>
          <a:lstStyle/>
          <a:p>
            <a:pPr algn="l" indent="0" marL="0">
              <a:buNone/>
            </a:pPr>
            <a:r>
              <a:rPr lang="en-US" sz="1500" b="1" dirty="0">
                <a:solidFill>
                  <a:srgbClr val="10224E"/>
                </a:solidFill>
                <a:latin typeface="Calibri" pitchFamily="34" charset="0"/>
                <a:ea typeface="Calibri" pitchFamily="34" charset="-122"/>
                <a:cs typeface="Calibri" pitchFamily="34" charset="-120"/>
              </a:rPr>
              <a:t>Wertaufbewahrung</a:t>
            </a:r>
            <a:endParaRPr lang="en-US" sz="1500" dirty="0"/>
          </a:p>
        </p:txBody>
      </p:sp>
      <p:sp>
        <p:nvSpPr>
          <p:cNvPr id="16" name="Text 14"/>
          <p:cNvSpPr txBox="1"/>
          <p:nvPr/>
        </p:nvSpPr>
        <p:spPr>
          <a:xfrm>
            <a:off x="1316736" y="4078224"/>
            <a:ext cx="5029200" cy="640080"/>
          </a:xfrm>
          <a:prstGeom prst="rect">
            <a:avLst/>
          </a:prstGeom>
          <a:noFill/>
          <a:ln/>
        </p:spPr>
        <p:txBody>
          <a:bodyPr wrap="square" lIns="0" tIns="0" rIns="0" bIns="0" rtlCol="0" anchor="t"/>
          <a:lstStyle/>
          <a:p>
            <a:pPr algn="l" indent="0" marL="0">
              <a:lnSpc>
                <a:spcPct val="108000"/>
              </a:lnSpc>
              <a:buNone/>
            </a:pPr>
            <a:r>
              <a:rPr lang="en-US" sz="1250" dirty="0">
                <a:solidFill>
                  <a:srgbClr val="1A1D26"/>
                </a:solidFill>
                <a:latin typeface="Calibri" pitchFamily="34" charset="0"/>
                <a:ea typeface="Calibri" pitchFamily="34" charset="-122"/>
                <a:cs typeface="Calibri" pitchFamily="34" charset="-120"/>
              </a:rPr>
              <a:t>Geld lässt sich sparen: Kaufkraft wird in die Zukunft verschoben – solange die Inflation niedrig bleibt.</a:t>
            </a:r>
            <a:endParaRPr lang="en-US" sz="1250" dirty="0"/>
          </a:p>
        </p:txBody>
      </p:sp>
      <p:sp>
        <p:nvSpPr>
          <p:cNvPr id="17" name="Shape 15"/>
          <p:cNvSpPr/>
          <p:nvPr/>
        </p:nvSpPr>
        <p:spPr>
          <a:xfrm>
            <a:off x="566928" y="4892040"/>
            <a:ext cx="5852160" cy="777240"/>
          </a:xfrm>
          <a:prstGeom prst="roundRect">
            <a:avLst>
              <a:gd name="adj" fmla="val 9412"/>
            </a:avLst>
          </a:prstGeom>
          <a:solidFill>
            <a:srgbClr val="10224E"/>
          </a:solidFill>
          <a:ln w="12700">
            <a:solidFill>
              <a:srgbClr val="10224E"/>
            </a:solidFill>
            <a:prstDash val="solid"/>
          </a:ln>
          <a:effectLst>
            <a:outerShdw sx="100000" sy="100000" kx="0" ky="0" algn="bl" rotWithShape="0" blurRad="88900" dist="12700" dir="5400000">
              <a:srgbClr val="8A96AD">
                <a:alpha val="22000"/>
              </a:srgbClr>
            </a:outerShdw>
          </a:effectLst>
        </p:spPr>
      </p:sp>
      <p:sp>
        <p:nvSpPr>
          <p:cNvPr id="18" name="Text 16"/>
          <p:cNvSpPr txBox="1"/>
          <p:nvPr/>
        </p:nvSpPr>
        <p:spPr>
          <a:xfrm>
            <a:off x="859536" y="4892040"/>
            <a:ext cx="5303520" cy="777240"/>
          </a:xfrm>
          <a:prstGeom prst="rect">
            <a:avLst/>
          </a:prstGeom>
          <a:noFill/>
          <a:ln/>
        </p:spPr>
        <p:txBody>
          <a:bodyPr wrap="square" lIns="0" tIns="0" rIns="0" bIns="0" rtlCol="0" anchor="ctr"/>
          <a:lstStyle/>
          <a:p>
            <a:pPr algn="l" indent="0" marL="0">
              <a:buNone/>
            </a:pPr>
            <a:r>
              <a:rPr lang="en-US" sz="1450" i="1" dirty="0">
                <a:solidFill>
                  <a:srgbClr val="FFFFFF"/>
                </a:solidFill>
                <a:latin typeface="Calibri" pitchFamily="34" charset="0"/>
                <a:ea typeface="Calibri" pitchFamily="34" charset="-122"/>
                <a:cs typeface="Calibri" pitchFamily="34" charset="-120"/>
              </a:rPr>
              <a:t>„Geld ist alles, was die Geldfunktionen erfüllt.“</a:t>
            </a:r>
            <a:endParaRPr lang="en-US" sz="1450" dirty="0"/>
          </a:p>
        </p:txBody>
      </p:sp>
      <p:sp>
        <p:nvSpPr>
          <p:cNvPr id="19" name="Shape 17"/>
          <p:cNvSpPr/>
          <p:nvPr/>
        </p:nvSpPr>
        <p:spPr>
          <a:xfrm>
            <a:off x="6583680" y="1353312"/>
            <a:ext cx="5038344" cy="4315968"/>
          </a:xfrm>
          <a:prstGeom prst="roundRect">
            <a:avLst>
              <a:gd name="adj" fmla="val 1695"/>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20" name="Text 18"/>
          <p:cNvSpPr txBox="1"/>
          <p:nvPr/>
        </p:nvSpPr>
        <p:spPr>
          <a:xfrm>
            <a:off x="6839712" y="1572768"/>
            <a:ext cx="4526280" cy="310896"/>
          </a:xfrm>
          <a:prstGeom prst="rect">
            <a:avLst/>
          </a:prstGeom>
          <a:noFill/>
          <a:ln/>
        </p:spPr>
        <p:txBody>
          <a:bodyPr wrap="square" lIns="0" tIns="0" rIns="0" bIns="0" rtlCol="0" anchor="t"/>
          <a:lstStyle/>
          <a:p>
            <a:pPr algn="l" indent="0" marL="0">
              <a:buNone/>
            </a:pPr>
            <a:r>
              <a:rPr lang="en-US" sz="1600" b="1" dirty="0">
                <a:solidFill>
                  <a:srgbClr val="10224E"/>
                </a:solidFill>
                <a:latin typeface="Cambria" pitchFamily="34" charset="0"/>
                <a:ea typeface="Cambria" pitchFamily="34" charset="-122"/>
                <a:cs typeface="Cambria" pitchFamily="34" charset="-120"/>
              </a:rPr>
              <a:t>Zwei Arten von Geld</a:t>
            </a:r>
            <a:endParaRPr lang="en-US" sz="1600" dirty="0"/>
          </a:p>
        </p:txBody>
      </p:sp>
      <p:sp>
        <p:nvSpPr>
          <p:cNvPr id="21" name="Shape 19"/>
          <p:cNvSpPr/>
          <p:nvPr/>
        </p:nvSpPr>
        <p:spPr>
          <a:xfrm>
            <a:off x="6821424" y="2011680"/>
            <a:ext cx="4562856" cy="1389888"/>
          </a:xfrm>
          <a:prstGeom prst="roundRect">
            <a:avLst>
              <a:gd name="adj" fmla="val 5263"/>
            </a:avLst>
          </a:prstGeom>
          <a:solidFill>
            <a:srgbClr val="FFFFFF"/>
          </a:solidFill>
          <a:ln w="12700">
            <a:solidFill>
              <a:srgbClr val="D8E0EF"/>
            </a:solidFill>
            <a:prstDash val="solid"/>
          </a:ln>
        </p:spPr>
      </p:sp>
      <p:sp>
        <p:nvSpPr>
          <p:cNvPr id="22" name="Text 20"/>
          <p:cNvSpPr txBox="1"/>
          <p:nvPr/>
        </p:nvSpPr>
        <p:spPr>
          <a:xfrm>
            <a:off x="7040880" y="2157984"/>
            <a:ext cx="4123944" cy="274320"/>
          </a:xfrm>
          <a:prstGeom prst="rect">
            <a:avLst/>
          </a:prstGeom>
          <a:noFill/>
          <a:ln/>
        </p:spPr>
        <p:txBody>
          <a:bodyPr wrap="square" lIns="0" tIns="0" rIns="0" bIns="0" rtlCol="0" anchor="t"/>
          <a:lstStyle/>
          <a:p>
            <a:pPr algn="l" indent="0" marL="0">
              <a:buNone/>
            </a:pPr>
            <a:r>
              <a:rPr lang="en-US" sz="1450" b="1" dirty="0">
                <a:solidFill>
                  <a:srgbClr val="10224E"/>
                </a:solidFill>
                <a:latin typeface="Calibri" pitchFamily="34" charset="0"/>
                <a:ea typeface="Calibri" pitchFamily="34" charset="-122"/>
                <a:cs typeface="Calibri" pitchFamily="34" charset="-120"/>
              </a:rPr>
              <a:t>Bargeld</a:t>
            </a:r>
            <a:endParaRPr lang="en-US" sz="1450" dirty="0"/>
          </a:p>
        </p:txBody>
      </p:sp>
      <p:sp>
        <p:nvSpPr>
          <p:cNvPr id="23" name="Text 21"/>
          <p:cNvSpPr txBox="1"/>
          <p:nvPr/>
        </p:nvSpPr>
        <p:spPr>
          <a:xfrm>
            <a:off x="7040880" y="2432304"/>
            <a:ext cx="4123944" cy="237744"/>
          </a:xfrm>
          <a:prstGeom prst="rect">
            <a:avLst/>
          </a:prstGeom>
          <a:noFill/>
          <a:ln/>
        </p:spPr>
        <p:txBody>
          <a:bodyPr wrap="square" lIns="0" tIns="0" rIns="0" bIns="0" rtlCol="0" anchor="t"/>
          <a:lstStyle/>
          <a:p>
            <a:pPr algn="l" indent="0" marL="0">
              <a:buNone/>
            </a:pPr>
            <a:r>
              <a:rPr lang="en-US" sz="1150" i="1" dirty="0">
                <a:solidFill>
                  <a:srgbClr val="9A6F00"/>
                </a:solidFill>
                <a:latin typeface="Calibri" pitchFamily="34" charset="0"/>
                <a:ea typeface="Calibri" pitchFamily="34" charset="-122"/>
                <a:cs typeface="Calibri" pitchFamily="34" charset="-120"/>
              </a:rPr>
              <a:t>gesetzliches Zahlungsmittel</a:t>
            </a:r>
            <a:endParaRPr lang="en-US" sz="1150" dirty="0"/>
          </a:p>
        </p:txBody>
      </p:sp>
      <p:sp>
        <p:nvSpPr>
          <p:cNvPr id="24" name="Text 22"/>
          <p:cNvSpPr txBox="1"/>
          <p:nvPr/>
        </p:nvSpPr>
        <p:spPr>
          <a:xfrm>
            <a:off x="7040880" y="2688336"/>
            <a:ext cx="4123944" cy="621792"/>
          </a:xfrm>
          <a:prstGeom prst="rect">
            <a:avLst/>
          </a:prstGeom>
          <a:noFill/>
          <a:ln/>
        </p:spPr>
        <p:txBody>
          <a:bodyPr wrap="square" lIns="0" tIns="0" rIns="0" bIns="0" rtlCol="0" anchor="t"/>
          <a:lstStyle/>
          <a:p>
            <a:pPr algn="l" indent="0" marL="0">
              <a:lnSpc>
                <a:spcPct val="105000"/>
              </a:lnSpc>
              <a:buNone/>
            </a:pPr>
            <a:r>
              <a:rPr lang="en-US" sz="1200" dirty="0">
                <a:solidFill>
                  <a:srgbClr val="1A1D26"/>
                </a:solidFill>
                <a:latin typeface="Calibri" pitchFamily="34" charset="0"/>
                <a:ea typeface="Calibri" pitchFamily="34" charset="-122"/>
                <a:cs typeface="Calibri" pitchFamily="34" charset="-120"/>
              </a:rPr>
              <a:t>Münzen geben die Staaten aus (mit Genehmigung der EZB), Banknoten nur die Zentralbank – sie hat das Notenmonopol.</a:t>
            </a:r>
            <a:endParaRPr lang="en-US" sz="1200" dirty="0"/>
          </a:p>
        </p:txBody>
      </p:sp>
      <p:sp>
        <p:nvSpPr>
          <p:cNvPr id="25" name="Shape 23"/>
          <p:cNvSpPr/>
          <p:nvPr/>
        </p:nvSpPr>
        <p:spPr>
          <a:xfrm>
            <a:off x="6821424" y="3547872"/>
            <a:ext cx="4562856" cy="1389888"/>
          </a:xfrm>
          <a:prstGeom prst="roundRect">
            <a:avLst>
              <a:gd name="adj" fmla="val 5263"/>
            </a:avLst>
          </a:prstGeom>
          <a:solidFill>
            <a:srgbClr val="FFFFFF"/>
          </a:solidFill>
          <a:ln w="12700">
            <a:solidFill>
              <a:srgbClr val="D8E0EF"/>
            </a:solidFill>
            <a:prstDash val="solid"/>
          </a:ln>
        </p:spPr>
      </p:sp>
      <p:sp>
        <p:nvSpPr>
          <p:cNvPr id="26" name="Text 24"/>
          <p:cNvSpPr txBox="1"/>
          <p:nvPr/>
        </p:nvSpPr>
        <p:spPr>
          <a:xfrm>
            <a:off x="7040880" y="3694176"/>
            <a:ext cx="4123944" cy="274320"/>
          </a:xfrm>
          <a:prstGeom prst="rect">
            <a:avLst/>
          </a:prstGeom>
          <a:noFill/>
          <a:ln/>
        </p:spPr>
        <p:txBody>
          <a:bodyPr wrap="square" lIns="0" tIns="0" rIns="0" bIns="0" rtlCol="0" anchor="t"/>
          <a:lstStyle/>
          <a:p>
            <a:pPr algn="l" indent="0" marL="0">
              <a:buNone/>
            </a:pPr>
            <a:r>
              <a:rPr lang="en-US" sz="1450" b="1" dirty="0">
                <a:solidFill>
                  <a:srgbClr val="10224E"/>
                </a:solidFill>
                <a:latin typeface="Calibri" pitchFamily="34" charset="0"/>
                <a:ea typeface="Calibri" pitchFamily="34" charset="-122"/>
                <a:cs typeface="Calibri" pitchFamily="34" charset="-120"/>
              </a:rPr>
              <a:t>Buchgeld (Giralgeld)</a:t>
            </a:r>
            <a:endParaRPr lang="en-US" sz="1450" dirty="0"/>
          </a:p>
        </p:txBody>
      </p:sp>
      <p:sp>
        <p:nvSpPr>
          <p:cNvPr id="27" name="Text 25"/>
          <p:cNvSpPr txBox="1"/>
          <p:nvPr/>
        </p:nvSpPr>
        <p:spPr>
          <a:xfrm>
            <a:off x="7040880" y="3968496"/>
            <a:ext cx="4123944" cy="237744"/>
          </a:xfrm>
          <a:prstGeom prst="rect">
            <a:avLst/>
          </a:prstGeom>
          <a:noFill/>
          <a:ln/>
        </p:spPr>
        <p:txBody>
          <a:bodyPr wrap="square" lIns="0" tIns="0" rIns="0" bIns="0" rtlCol="0" anchor="t"/>
          <a:lstStyle/>
          <a:p>
            <a:pPr algn="l" indent="0" marL="0">
              <a:buNone/>
            </a:pPr>
            <a:r>
              <a:rPr lang="en-US" sz="1150" i="1" dirty="0">
                <a:solidFill>
                  <a:srgbClr val="9A6F00"/>
                </a:solidFill>
                <a:latin typeface="Calibri" pitchFamily="34" charset="0"/>
                <a:ea typeface="Calibri" pitchFamily="34" charset="-122"/>
                <a:cs typeface="Calibri" pitchFamily="34" charset="-120"/>
              </a:rPr>
              <a:t>kein gesetzliches Zahlungsmittel</a:t>
            </a:r>
            <a:endParaRPr lang="en-US" sz="1150" dirty="0"/>
          </a:p>
        </p:txBody>
      </p:sp>
      <p:sp>
        <p:nvSpPr>
          <p:cNvPr id="28" name="Text 26"/>
          <p:cNvSpPr txBox="1"/>
          <p:nvPr/>
        </p:nvSpPr>
        <p:spPr>
          <a:xfrm>
            <a:off x="7040880" y="4224528"/>
            <a:ext cx="4123944" cy="621792"/>
          </a:xfrm>
          <a:prstGeom prst="rect">
            <a:avLst/>
          </a:prstGeom>
          <a:noFill/>
          <a:ln/>
        </p:spPr>
        <p:txBody>
          <a:bodyPr wrap="square" lIns="0" tIns="0" rIns="0" bIns="0" rtlCol="0" anchor="t"/>
          <a:lstStyle/>
          <a:p>
            <a:pPr algn="l" indent="0" marL="0">
              <a:lnSpc>
                <a:spcPct val="105000"/>
              </a:lnSpc>
              <a:buNone/>
            </a:pPr>
            <a:r>
              <a:rPr lang="en-US" sz="1200" dirty="0">
                <a:solidFill>
                  <a:srgbClr val="1A1D26"/>
                </a:solidFill>
                <a:latin typeface="Calibri" pitchFamily="34" charset="0"/>
                <a:ea typeface="Calibri" pitchFamily="34" charset="-122"/>
                <a:cs typeface="Calibri" pitchFamily="34" charset="-120"/>
              </a:rPr>
              <a:t>Guthaben auf dem Girokonto, jederzeit verfügbar: Überweisung, Karte, Bezahl-App. Es entsteht in den Geschäftsbanken.</a:t>
            </a:r>
            <a:endParaRPr lang="en-US" sz="1200" dirty="0"/>
          </a:p>
        </p:txBody>
      </p:sp>
      <p:sp>
        <p:nvSpPr>
          <p:cNvPr id="29" name="Text 27"/>
          <p:cNvSpPr txBox="1"/>
          <p:nvPr/>
        </p:nvSpPr>
        <p:spPr>
          <a:xfrm>
            <a:off x="6821424" y="5138928"/>
            <a:ext cx="4562856" cy="411480"/>
          </a:xfrm>
          <a:prstGeom prst="rect">
            <a:avLst/>
          </a:prstGeom>
          <a:noFill/>
          <a:ln/>
        </p:spPr>
        <p:txBody>
          <a:bodyPr wrap="square" lIns="0" tIns="0" rIns="0" bIns="0" rtlCol="0" anchor="t"/>
          <a:lstStyle/>
          <a:p>
            <a:pPr algn="l" indent="0" marL="0">
              <a:buNone/>
            </a:pPr>
            <a:r>
              <a:rPr lang="en-US" sz="1250" b="1" dirty="0">
                <a:solidFill>
                  <a:srgbClr val="10224E"/>
                </a:solidFill>
                <a:latin typeface="Calibri" pitchFamily="34" charset="0"/>
                <a:ea typeface="Calibri" pitchFamily="34" charset="-122"/>
                <a:cs typeface="Calibri" pitchFamily="34" charset="-120"/>
              </a:rPr>
              <a:t>Der weitaus größte Teil der Geldmenge im Euroraum ist Buchgeld – nicht Bargeld.</a:t>
            </a:r>
            <a:endParaRPr lang="en-US" sz="1250" dirty="0"/>
          </a:p>
        </p:txBody>
      </p:sp>
      <p:sp>
        <p:nvSpPr>
          <p:cNvPr id="30" name="Text 28"/>
          <p:cNvSpPr txBox="1"/>
          <p:nvPr/>
        </p:nvSpPr>
        <p:spPr>
          <a:xfrm>
            <a:off x="566928" y="6364224"/>
            <a:ext cx="5486400" cy="256032"/>
          </a:xfrm>
          <a:prstGeom prst="rect">
            <a:avLst/>
          </a:prstGeom>
          <a:noFill/>
          <a:ln/>
        </p:spPr>
        <p:txBody>
          <a:bodyPr wrap="square" lIns="0" tIns="0" rIns="0" bIns="0" rtlCol="0" anchor="t"/>
          <a:lstStyle/>
          <a:p>
            <a:pPr algn="l" indent="0" marL="0">
              <a:buNone/>
            </a:pPr>
            <a:r>
              <a:rPr lang="en-US" sz="950" dirty="0">
                <a:solidFill>
                  <a:srgbClr val="5A6274"/>
                </a:solidFill>
                <a:latin typeface="Calibri" pitchFamily="34" charset="0"/>
                <a:ea typeface="Calibri" pitchFamily="34" charset="-122"/>
                <a:cs typeface="Calibri" pitchFamily="34" charset="-120"/>
              </a:rPr>
              <a:t>Die Geldpolitik der EZB</a:t>
            </a:r>
            <a:endParaRPr lang="en-US" sz="950" dirty="0"/>
          </a:p>
        </p:txBody>
      </p:sp>
      <p:sp>
        <p:nvSpPr>
          <p:cNvPr id="31" name="Text 29"/>
          <p:cNvSpPr txBox="1"/>
          <p:nvPr/>
        </p:nvSpPr>
        <p:spPr>
          <a:xfrm>
            <a:off x="7967167" y="6364224"/>
            <a:ext cx="3657600" cy="256032"/>
          </a:xfrm>
          <a:prstGeom prst="rect">
            <a:avLst/>
          </a:prstGeom>
          <a:noFill/>
          <a:ln/>
        </p:spPr>
        <p:txBody>
          <a:bodyPr wrap="square" lIns="0" tIns="0" rIns="0" bIns="0" rtlCol="0" anchor="t"/>
          <a:lstStyle/>
          <a:p>
            <a:pPr algn="r" indent="0" marL="0">
              <a:buNone/>
            </a:pPr>
            <a:r>
              <a:rPr lang="en-US" sz="950" dirty="0">
                <a:solidFill>
                  <a:srgbClr val="5A6274"/>
                </a:solidFill>
                <a:latin typeface="Calibri" pitchFamily="34" charset="0"/>
                <a:ea typeface="Calibri" pitchFamily="34" charset="-122"/>
                <a:cs typeface="Calibri" pitchFamily="34" charset="-120"/>
              </a:rPr>
              <a:t>Folie 2 von 17</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algn="l" indent="0" marL="0">
              <a:buNone/>
            </a:pPr>
            <a:r>
              <a:rPr lang="en-US" sz="1100" b="1" spc="140" kern="0" dirty="0">
                <a:solidFill>
                  <a:srgbClr val="9A6F00"/>
                </a:solidFill>
                <a:latin typeface="Calibri" pitchFamily="34" charset="0"/>
                <a:ea typeface="Calibri" pitchFamily="34" charset="-122"/>
                <a:cs typeface="Calibri" pitchFamily="34" charset="-120"/>
              </a:rPr>
              <a:t>TEIL 1 · GRUNDLAGEN</a:t>
            </a:r>
            <a:endParaRPr lang="en-US" sz="1100" dirty="0"/>
          </a:p>
        </p:txBody>
      </p:sp>
      <p:sp>
        <p:nvSpPr>
          <p:cNvPr id="3" name="Text 1"/>
          <p:cNvSpPr txBox="1"/>
          <p:nvPr/>
        </p:nvSpPr>
        <p:spPr>
          <a:xfrm>
            <a:off x="566928" y="566928"/>
            <a:ext cx="11057839" cy="676656"/>
          </a:xfrm>
          <a:prstGeom prst="rect">
            <a:avLst/>
          </a:prstGeom>
          <a:noFill/>
          <a:ln/>
        </p:spPr>
        <p:txBody>
          <a:bodyPr wrap="square" lIns="0" tIns="0" rIns="0" bIns="0" rtlCol="0" anchor="ctr"/>
          <a:lstStyle/>
          <a:p>
            <a:pPr algn="l" indent="0" marL="0">
              <a:buNone/>
            </a:pPr>
            <a:r>
              <a:rPr lang="en-US" sz="3000" b="1" dirty="0">
                <a:solidFill>
                  <a:srgbClr val="10224E"/>
                </a:solidFill>
                <a:latin typeface="Cambria" pitchFamily="34" charset="0"/>
                <a:ea typeface="Cambria" pitchFamily="34" charset="-122"/>
                <a:cs typeface="Cambria" pitchFamily="34" charset="-120"/>
              </a:rPr>
              <a:t>Wer schafft das Geld?</a:t>
            </a:r>
            <a:endParaRPr lang="en-US" sz="3000" dirty="0"/>
          </a:p>
        </p:txBody>
      </p:sp>
      <p:sp>
        <p:nvSpPr>
          <p:cNvPr id="4" name="Shape 2"/>
          <p:cNvSpPr/>
          <p:nvPr/>
        </p:nvSpPr>
        <p:spPr>
          <a:xfrm>
            <a:off x="566928" y="1627632"/>
            <a:ext cx="2578608" cy="2011680"/>
          </a:xfrm>
          <a:prstGeom prst="roundRect">
            <a:avLst>
              <a:gd name="adj" fmla="val 3636"/>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5" name="Shape 3"/>
          <p:cNvSpPr/>
          <p:nvPr/>
        </p:nvSpPr>
        <p:spPr>
          <a:xfrm>
            <a:off x="731520" y="1792224"/>
            <a:ext cx="420624" cy="420624"/>
          </a:xfrm>
          <a:prstGeom prst="ellipse">
            <a:avLst/>
          </a:prstGeom>
          <a:solidFill>
            <a:srgbClr val="FFC72C"/>
          </a:solidFill>
          <a:ln w="12700">
            <a:solidFill>
              <a:srgbClr val="FFC72C"/>
            </a:solidFill>
            <a:prstDash val="solid"/>
          </a:ln>
        </p:spPr>
      </p:sp>
      <p:sp>
        <p:nvSpPr>
          <p:cNvPr id="6" name="Text 4"/>
          <p:cNvSpPr txBox="1"/>
          <p:nvPr/>
        </p:nvSpPr>
        <p:spPr>
          <a:xfrm>
            <a:off x="731520" y="1792224"/>
            <a:ext cx="420624" cy="420624"/>
          </a:xfrm>
          <a:prstGeom prst="rect">
            <a:avLst/>
          </a:prstGeom>
          <a:noFill/>
          <a:ln/>
        </p:spPr>
        <p:txBody>
          <a:bodyPr wrap="square" lIns="0" tIns="0" rIns="0" bIns="0" rtlCol="0" anchor="ctr"/>
          <a:lstStyle/>
          <a:p>
            <a:pPr algn="ctr" indent="0" marL="0">
              <a:buNone/>
            </a:pPr>
            <a:r>
              <a:rPr lang="en-US" sz="1400" b="1" dirty="0">
                <a:solidFill>
                  <a:srgbClr val="10224E"/>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731520" y="2267712"/>
            <a:ext cx="2249424" cy="548640"/>
          </a:xfrm>
          <a:prstGeom prst="rect">
            <a:avLst/>
          </a:prstGeom>
          <a:noFill/>
          <a:ln/>
        </p:spPr>
        <p:txBody>
          <a:bodyPr wrap="square" lIns="0" tIns="0" rIns="0" bIns="0" rtlCol="0" anchor="t"/>
          <a:lstStyle/>
          <a:p>
            <a:pPr algn="l" indent="0" marL="0">
              <a:buNone/>
            </a:pPr>
            <a:r>
              <a:rPr lang="en-US" sz="1350" b="1" dirty="0">
                <a:solidFill>
                  <a:srgbClr val="10224E"/>
                </a:solidFill>
                <a:latin typeface="Calibri" pitchFamily="34" charset="0"/>
                <a:ea typeface="Calibri" pitchFamily="34" charset="-122"/>
                <a:cs typeface="Calibri" pitchFamily="34" charset="-120"/>
              </a:rPr>
              <a:t>EZB schafft die Basis</a:t>
            </a:r>
            <a:endParaRPr lang="en-US" sz="1350" dirty="0"/>
          </a:p>
        </p:txBody>
      </p:sp>
      <p:sp>
        <p:nvSpPr>
          <p:cNvPr id="8" name="Text 6"/>
          <p:cNvSpPr txBox="1"/>
          <p:nvPr/>
        </p:nvSpPr>
        <p:spPr>
          <a:xfrm>
            <a:off x="731520" y="2834640"/>
            <a:ext cx="2249424" cy="731520"/>
          </a:xfrm>
          <a:prstGeom prst="rect">
            <a:avLst/>
          </a:prstGeom>
          <a:noFill/>
          <a:ln/>
        </p:spPr>
        <p:txBody>
          <a:bodyPr wrap="square" lIns="0" tIns="0" rIns="0" bIns="0" rtlCol="0" anchor="t"/>
          <a:lstStyle/>
          <a:p>
            <a:pPr algn="l" indent="0" marL="0">
              <a:lnSpc>
                <a:spcPct val="105000"/>
              </a:lnSpc>
              <a:buNone/>
            </a:pPr>
            <a:r>
              <a:rPr lang="en-US" sz="1150" dirty="0">
                <a:solidFill>
                  <a:srgbClr val="1A1D26"/>
                </a:solidFill>
                <a:latin typeface="Calibri" pitchFamily="34" charset="0"/>
                <a:ea typeface="Calibri" pitchFamily="34" charset="-122"/>
                <a:cs typeface="Calibri" pitchFamily="34" charset="-120"/>
              </a:rPr>
              <a:t>Sie gibt Zentralbankgeld aus: Bargeld und Guthaben der Banken bei der Notenbank.</a:t>
            </a:r>
            <a:endParaRPr lang="en-US" sz="1150" dirty="0"/>
          </a:p>
        </p:txBody>
      </p:sp>
      <p:sp>
        <p:nvSpPr>
          <p:cNvPr id="9" name="Text 7"/>
          <p:cNvSpPr txBox="1"/>
          <p:nvPr/>
        </p:nvSpPr>
        <p:spPr>
          <a:xfrm>
            <a:off x="3099816" y="2432304"/>
            <a:ext cx="320040" cy="411480"/>
          </a:xfrm>
          <a:prstGeom prst="rect">
            <a:avLst/>
          </a:prstGeom>
          <a:noFill/>
          <a:ln/>
        </p:spPr>
        <p:txBody>
          <a:bodyPr wrap="square" lIns="0" tIns="0" rIns="0" bIns="0" rtlCol="0" anchor="ctr"/>
          <a:lstStyle/>
          <a:p>
            <a:pPr algn="ctr" indent="0" marL="0">
              <a:buNone/>
            </a:pPr>
            <a:r>
              <a:rPr lang="en-US" sz="2200" b="1" dirty="0">
                <a:solidFill>
                  <a:srgbClr val="FFC72C"/>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374136" y="1627632"/>
            <a:ext cx="2578608" cy="2011680"/>
          </a:xfrm>
          <a:prstGeom prst="roundRect">
            <a:avLst>
              <a:gd name="adj" fmla="val 3636"/>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1" name="Shape 9"/>
          <p:cNvSpPr/>
          <p:nvPr/>
        </p:nvSpPr>
        <p:spPr>
          <a:xfrm>
            <a:off x="3538728" y="1792224"/>
            <a:ext cx="420624" cy="420624"/>
          </a:xfrm>
          <a:prstGeom prst="ellipse">
            <a:avLst/>
          </a:prstGeom>
          <a:solidFill>
            <a:srgbClr val="FFC72C"/>
          </a:solidFill>
          <a:ln w="12700">
            <a:solidFill>
              <a:srgbClr val="FFC72C"/>
            </a:solidFill>
            <a:prstDash val="solid"/>
          </a:ln>
        </p:spPr>
      </p:sp>
      <p:sp>
        <p:nvSpPr>
          <p:cNvPr id="12" name="Text 10"/>
          <p:cNvSpPr txBox="1"/>
          <p:nvPr/>
        </p:nvSpPr>
        <p:spPr>
          <a:xfrm>
            <a:off x="3538728" y="1792224"/>
            <a:ext cx="420624" cy="420624"/>
          </a:xfrm>
          <a:prstGeom prst="rect">
            <a:avLst/>
          </a:prstGeom>
          <a:noFill/>
          <a:ln/>
        </p:spPr>
        <p:txBody>
          <a:bodyPr wrap="square" lIns="0" tIns="0" rIns="0" bIns="0" rtlCol="0" anchor="ctr"/>
          <a:lstStyle/>
          <a:p>
            <a:pPr algn="ctr" indent="0" marL="0">
              <a:buNone/>
            </a:pPr>
            <a:r>
              <a:rPr lang="en-US" sz="1400" b="1" dirty="0">
                <a:solidFill>
                  <a:srgbClr val="10224E"/>
                </a:solidFill>
                <a:latin typeface="Cambria" pitchFamily="34" charset="0"/>
                <a:ea typeface="Cambria" pitchFamily="34" charset="-122"/>
                <a:cs typeface="Cambria" pitchFamily="34" charset="-120"/>
              </a:rPr>
              <a:t>2</a:t>
            </a:r>
            <a:endParaRPr lang="en-US" sz="1400" dirty="0"/>
          </a:p>
        </p:txBody>
      </p:sp>
      <p:sp>
        <p:nvSpPr>
          <p:cNvPr id="13" name="Text 11"/>
          <p:cNvSpPr txBox="1"/>
          <p:nvPr/>
        </p:nvSpPr>
        <p:spPr>
          <a:xfrm>
            <a:off x="3538728" y="2267712"/>
            <a:ext cx="2249424" cy="548640"/>
          </a:xfrm>
          <a:prstGeom prst="rect">
            <a:avLst/>
          </a:prstGeom>
          <a:noFill/>
          <a:ln/>
        </p:spPr>
        <p:txBody>
          <a:bodyPr wrap="square" lIns="0" tIns="0" rIns="0" bIns="0" rtlCol="0" anchor="t"/>
          <a:lstStyle/>
          <a:p>
            <a:pPr algn="l" indent="0" marL="0">
              <a:buNone/>
            </a:pPr>
            <a:r>
              <a:rPr lang="en-US" sz="1350" b="1" dirty="0">
                <a:solidFill>
                  <a:srgbClr val="10224E"/>
                </a:solidFill>
                <a:latin typeface="Calibri" pitchFamily="34" charset="0"/>
                <a:ea typeface="Calibri" pitchFamily="34" charset="-122"/>
                <a:cs typeface="Calibri" pitchFamily="34" charset="-120"/>
              </a:rPr>
              <a:t>Banken leihen sich Geld</a:t>
            </a:r>
            <a:endParaRPr lang="en-US" sz="1350" dirty="0"/>
          </a:p>
        </p:txBody>
      </p:sp>
      <p:sp>
        <p:nvSpPr>
          <p:cNvPr id="14" name="Text 12"/>
          <p:cNvSpPr txBox="1"/>
          <p:nvPr/>
        </p:nvSpPr>
        <p:spPr>
          <a:xfrm>
            <a:off x="3538728" y="2834640"/>
            <a:ext cx="2249424" cy="731520"/>
          </a:xfrm>
          <a:prstGeom prst="rect">
            <a:avLst/>
          </a:prstGeom>
          <a:noFill/>
          <a:ln/>
        </p:spPr>
        <p:txBody>
          <a:bodyPr wrap="square" lIns="0" tIns="0" rIns="0" bIns="0" rtlCol="0" anchor="t"/>
          <a:lstStyle/>
          <a:p>
            <a:pPr algn="l" indent="0" marL="0">
              <a:lnSpc>
                <a:spcPct val="105000"/>
              </a:lnSpc>
              <a:buNone/>
            </a:pPr>
            <a:r>
              <a:rPr lang="en-US" sz="1150" dirty="0">
                <a:solidFill>
                  <a:srgbClr val="1A1D26"/>
                </a:solidFill>
                <a:latin typeface="Calibri" pitchFamily="34" charset="0"/>
                <a:ea typeface="Calibri" pitchFamily="34" charset="-122"/>
                <a:cs typeface="Calibri" pitchFamily="34" charset="-120"/>
              </a:rPr>
              <a:t>Gegen Sicherheiten und gegen Zins holen sie sich Zentralbankgeld bei der EZB.</a:t>
            </a:r>
            <a:endParaRPr lang="en-US" sz="1150" dirty="0"/>
          </a:p>
        </p:txBody>
      </p:sp>
      <p:sp>
        <p:nvSpPr>
          <p:cNvPr id="15" name="Text 13"/>
          <p:cNvSpPr txBox="1"/>
          <p:nvPr/>
        </p:nvSpPr>
        <p:spPr>
          <a:xfrm>
            <a:off x="5907024" y="2432304"/>
            <a:ext cx="320040" cy="411480"/>
          </a:xfrm>
          <a:prstGeom prst="rect">
            <a:avLst/>
          </a:prstGeom>
          <a:noFill/>
          <a:ln/>
        </p:spPr>
        <p:txBody>
          <a:bodyPr wrap="square" lIns="0" tIns="0" rIns="0" bIns="0" rtlCol="0" anchor="ctr"/>
          <a:lstStyle/>
          <a:p>
            <a:pPr algn="ctr" indent="0" marL="0">
              <a:buNone/>
            </a:pPr>
            <a:r>
              <a:rPr lang="en-US" sz="2200" b="1" dirty="0">
                <a:solidFill>
                  <a:srgbClr val="FFC72C"/>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6181344" y="1627632"/>
            <a:ext cx="2578608" cy="2011680"/>
          </a:xfrm>
          <a:prstGeom prst="roundRect">
            <a:avLst>
              <a:gd name="adj" fmla="val 3636"/>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7" name="Shape 15"/>
          <p:cNvSpPr/>
          <p:nvPr/>
        </p:nvSpPr>
        <p:spPr>
          <a:xfrm>
            <a:off x="6345936" y="1792224"/>
            <a:ext cx="420624" cy="420624"/>
          </a:xfrm>
          <a:prstGeom prst="ellipse">
            <a:avLst/>
          </a:prstGeom>
          <a:solidFill>
            <a:srgbClr val="FFC72C"/>
          </a:solidFill>
          <a:ln w="12700">
            <a:solidFill>
              <a:srgbClr val="FFC72C"/>
            </a:solidFill>
            <a:prstDash val="solid"/>
          </a:ln>
        </p:spPr>
      </p:sp>
      <p:sp>
        <p:nvSpPr>
          <p:cNvPr id="18" name="Text 16"/>
          <p:cNvSpPr txBox="1"/>
          <p:nvPr/>
        </p:nvSpPr>
        <p:spPr>
          <a:xfrm>
            <a:off x="6345936" y="1792224"/>
            <a:ext cx="420624" cy="420624"/>
          </a:xfrm>
          <a:prstGeom prst="rect">
            <a:avLst/>
          </a:prstGeom>
          <a:noFill/>
          <a:ln/>
        </p:spPr>
        <p:txBody>
          <a:bodyPr wrap="square" lIns="0" tIns="0" rIns="0" bIns="0" rtlCol="0" anchor="ctr"/>
          <a:lstStyle/>
          <a:p>
            <a:pPr algn="ctr" indent="0" marL="0">
              <a:buNone/>
            </a:pPr>
            <a:r>
              <a:rPr lang="en-US" sz="1400" b="1" dirty="0">
                <a:solidFill>
                  <a:srgbClr val="10224E"/>
                </a:solidFill>
                <a:latin typeface="Cambria" pitchFamily="34" charset="0"/>
                <a:ea typeface="Cambria" pitchFamily="34" charset="-122"/>
                <a:cs typeface="Cambria" pitchFamily="34" charset="-120"/>
              </a:rPr>
              <a:t>3</a:t>
            </a:r>
            <a:endParaRPr lang="en-US" sz="1400" dirty="0"/>
          </a:p>
        </p:txBody>
      </p:sp>
      <p:sp>
        <p:nvSpPr>
          <p:cNvPr id="19" name="Text 17"/>
          <p:cNvSpPr txBox="1"/>
          <p:nvPr/>
        </p:nvSpPr>
        <p:spPr>
          <a:xfrm>
            <a:off x="6345936" y="2267712"/>
            <a:ext cx="2249424" cy="548640"/>
          </a:xfrm>
          <a:prstGeom prst="rect">
            <a:avLst/>
          </a:prstGeom>
          <a:noFill/>
          <a:ln/>
        </p:spPr>
        <p:txBody>
          <a:bodyPr wrap="square" lIns="0" tIns="0" rIns="0" bIns="0" rtlCol="0" anchor="t"/>
          <a:lstStyle/>
          <a:p>
            <a:pPr algn="l" indent="0" marL="0">
              <a:buNone/>
            </a:pPr>
            <a:r>
              <a:rPr lang="en-US" sz="1350" b="1" dirty="0">
                <a:solidFill>
                  <a:srgbClr val="10224E"/>
                </a:solidFill>
                <a:latin typeface="Calibri" pitchFamily="34" charset="0"/>
                <a:ea typeface="Calibri" pitchFamily="34" charset="-122"/>
                <a:cs typeface="Calibri" pitchFamily="34" charset="-120"/>
              </a:rPr>
              <a:t>Banken vergeben Kredite</a:t>
            </a:r>
            <a:endParaRPr lang="en-US" sz="1350" dirty="0"/>
          </a:p>
        </p:txBody>
      </p:sp>
      <p:sp>
        <p:nvSpPr>
          <p:cNvPr id="20" name="Text 18"/>
          <p:cNvSpPr txBox="1"/>
          <p:nvPr/>
        </p:nvSpPr>
        <p:spPr>
          <a:xfrm>
            <a:off x="6345936" y="2834640"/>
            <a:ext cx="2249424" cy="731520"/>
          </a:xfrm>
          <a:prstGeom prst="rect">
            <a:avLst/>
          </a:prstGeom>
          <a:noFill/>
          <a:ln/>
        </p:spPr>
        <p:txBody>
          <a:bodyPr wrap="square" lIns="0" tIns="0" rIns="0" bIns="0" rtlCol="0" anchor="t"/>
          <a:lstStyle/>
          <a:p>
            <a:pPr algn="l" indent="0" marL="0">
              <a:lnSpc>
                <a:spcPct val="105000"/>
              </a:lnSpc>
              <a:buNone/>
            </a:pPr>
            <a:r>
              <a:rPr lang="en-US" sz="1150" dirty="0">
                <a:solidFill>
                  <a:srgbClr val="1A1D26"/>
                </a:solidFill>
                <a:latin typeface="Calibri" pitchFamily="34" charset="0"/>
                <a:ea typeface="Calibri" pitchFamily="34" charset="-122"/>
                <a:cs typeface="Calibri" pitchFamily="34" charset="-120"/>
              </a:rPr>
              <a:t>Der Betrag wird dem Konto gutgeschrieben – dabei entsteht neues Buchgeld.</a:t>
            </a:r>
            <a:endParaRPr lang="en-US" sz="1150" dirty="0"/>
          </a:p>
        </p:txBody>
      </p:sp>
      <p:sp>
        <p:nvSpPr>
          <p:cNvPr id="21" name="Text 19"/>
          <p:cNvSpPr txBox="1"/>
          <p:nvPr/>
        </p:nvSpPr>
        <p:spPr>
          <a:xfrm>
            <a:off x="8714232" y="2432304"/>
            <a:ext cx="320040" cy="411480"/>
          </a:xfrm>
          <a:prstGeom prst="rect">
            <a:avLst/>
          </a:prstGeom>
          <a:noFill/>
          <a:ln/>
        </p:spPr>
        <p:txBody>
          <a:bodyPr wrap="square" lIns="0" tIns="0" rIns="0" bIns="0" rtlCol="0" anchor="ctr"/>
          <a:lstStyle/>
          <a:p>
            <a:pPr algn="ctr" indent="0" marL="0">
              <a:buNone/>
            </a:pPr>
            <a:r>
              <a:rPr lang="en-US" sz="2200" b="1" dirty="0">
                <a:solidFill>
                  <a:srgbClr val="FFC72C"/>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8988552" y="1627632"/>
            <a:ext cx="2578608" cy="2011680"/>
          </a:xfrm>
          <a:prstGeom prst="roundRect">
            <a:avLst>
              <a:gd name="adj" fmla="val 3636"/>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23" name="Shape 21"/>
          <p:cNvSpPr/>
          <p:nvPr/>
        </p:nvSpPr>
        <p:spPr>
          <a:xfrm>
            <a:off x="9153144" y="1792224"/>
            <a:ext cx="420624" cy="420624"/>
          </a:xfrm>
          <a:prstGeom prst="ellipse">
            <a:avLst/>
          </a:prstGeom>
          <a:solidFill>
            <a:srgbClr val="FFC72C"/>
          </a:solidFill>
          <a:ln w="12700">
            <a:solidFill>
              <a:srgbClr val="FFC72C"/>
            </a:solidFill>
            <a:prstDash val="solid"/>
          </a:ln>
        </p:spPr>
      </p:sp>
      <p:sp>
        <p:nvSpPr>
          <p:cNvPr id="24" name="Text 22"/>
          <p:cNvSpPr txBox="1"/>
          <p:nvPr/>
        </p:nvSpPr>
        <p:spPr>
          <a:xfrm>
            <a:off x="9153144" y="1792224"/>
            <a:ext cx="420624" cy="420624"/>
          </a:xfrm>
          <a:prstGeom prst="rect">
            <a:avLst/>
          </a:prstGeom>
          <a:noFill/>
          <a:ln/>
        </p:spPr>
        <p:txBody>
          <a:bodyPr wrap="square" lIns="0" tIns="0" rIns="0" bIns="0" rtlCol="0" anchor="ctr"/>
          <a:lstStyle/>
          <a:p>
            <a:pPr algn="ctr" indent="0" marL="0">
              <a:buNone/>
            </a:pPr>
            <a:r>
              <a:rPr lang="en-US" sz="1400" b="1" dirty="0">
                <a:solidFill>
                  <a:srgbClr val="10224E"/>
                </a:solidFill>
                <a:latin typeface="Cambria" pitchFamily="34" charset="0"/>
                <a:ea typeface="Cambria" pitchFamily="34" charset="-122"/>
                <a:cs typeface="Cambria" pitchFamily="34" charset="-120"/>
              </a:rPr>
              <a:t>4</a:t>
            </a:r>
            <a:endParaRPr lang="en-US" sz="1400" dirty="0"/>
          </a:p>
        </p:txBody>
      </p:sp>
      <p:sp>
        <p:nvSpPr>
          <p:cNvPr id="25" name="Text 23"/>
          <p:cNvSpPr txBox="1"/>
          <p:nvPr/>
        </p:nvSpPr>
        <p:spPr>
          <a:xfrm>
            <a:off x="9153144" y="2267712"/>
            <a:ext cx="2249424" cy="548640"/>
          </a:xfrm>
          <a:prstGeom prst="rect">
            <a:avLst/>
          </a:prstGeom>
          <a:noFill/>
          <a:ln/>
        </p:spPr>
        <p:txBody>
          <a:bodyPr wrap="square" lIns="0" tIns="0" rIns="0" bIns="0" rtlCol="0" anchor="t"/>
          <a:lstStyle/>
          <a:p>
            <a:pPr algn="l" indent="0" marL="0">
              <a:buNone/>
            </a:pPr>
            <a:r>
              <a:rPr lang="en-US" sz="1350" b="1" dirty="0">
                <a:solidFill>
                  <a:srgbClr val="10224E"/>
                </a:solidFill>
                <a:latin typeface="Calibri" pitchFamily="34" charset="0"/>
                <a:ea typeface="Calibri" pitchFamily="34" charset="-122"/>
                <a:cs typeface="Calibri" pitchFamily="34" charset="-120"/>
              </a:rPr>
              <a:t>Die Geldmenge wächst</a:t>
            </a:r>
            <a:endParaRPr lang="en-US" sz="1350" dirty="0"/>
          </a:p>
        </p:txBody>
      </p:sp>
      <p:sp>
        <p:nvSpPr>
          <p:cNvPr id="26" name="Text 24"/>
          <p:cNvSpPr txBox="1"/>
          <p:nvPr/>
        </p:nvSpPr>
        <p:spPr>
          <a:xfrm>
            <a:off x="9153144" y="2834640"/>
            <a:ext cx="2249424" cy="731520"/>
          </a:xfrm>
          <a:prstGeom prst="rect">
            <a:avLst/>
          </a:prstGeom>
          <a:noFill/>
          <a:ln/>
        </p:spPr>
        <p:txBody>
          <a:bodyPr wrap="square" lIns="0" tIns="0" rIns="0" bIns="0" rtlCol="0" anchor="t"/>
          <a:lstStyle/>
          <a:p>
            <a:pPr algn="l" indent="0" marL="0">
              <a:lnSpc>
                <a:spcPct val="105000"/>
              </a:lnSpc>
              <a:buNone/>
            </a:pPr>
            <a:r>
              <a:rPr lang="en-US" sz="1150" dirty="0">
                <a:solidFill>
                  <a:srgbClr val="1A1D26"/>
                </a:solidFill>
                <a:latin typeface="Calibri" pitchFamily="34" charset="0"/>
                <a:ea typeface="Calibri" pitchFamily="34" charset="-122"/>
                <a:cs typeface="Calibri" pitchFamily="34" charset="-120"/>
              </a:rPr>
              <a:t>Über viele Runden entsteht aus der Basis ein Vielfaches an Geldmenge.</a:t>
            </a:r>
            <a:endParaRPr lang="en-US" sz="1150" dirty="0"/>
          </a:p>
        </p:txBody>
      </p:sp>
      <p:sp>
        <p:nvSpPr>
          <p:cNvPr id="27" name="Shape 25"/>
          <p:cNvSpPr/>
          <p:nvPr/>
        </p:nvSpPr>
        <p:spPr>
          <a:xfrm>
            <a:off x="566928" y="3794760"/>
            <a:ext cx="5394960" cy="1417320"/>
          </a:xfrm>
          <a:prstGeom prst="roundRect">
            <a:avLst>
              <a:gd name="adj" fmla="val 5161"/>
            </a:avLst>
          </a:prstGeom>
          <a:solidFill>
            <a:srgbClr val="10224E"/>
          </a:solidFill>
          <a:ln w="12700">
            <a:solidFill>
              <a:srgbClr val="10224E"/>
            </a:solidFill>
            <a:prstDash val="solid"/>
          </a:ln>
          <a:effectLst>
            <a:outerShdw sx="100000" sy="100000" kx="0" ky="0" algn="bl" rotWithShape="0" blurRad="88900" dist="12700" dir="5400000">
              <a:srgbClr val="8A96AD">
                <a:alpha val="22000"/>
              </a:srgbClr>
            </a:outerShdw>
          </a:effectLst>
        </p:spPr>
      </p:sp>
      <p:sp>
        <p:nvSpPr>
          <p:cNvPr id="28" name="Text 26"/>
          <p:cNvSpPr txBox="1"/>
          <p:nvPr/>
        </p:nvSpPr>
        <p:spPr>
          <a:xfrm>
            <a:off x="859536" y="3931920"/>
            <a:ext cx="4846320" cy="566928"/>
          </a:xfrm>
          <a:prstGeom prst="rect">
            <a:avLst/>
          </a:prstGeom>
          <a:noFill/>
          <a:ln/>
        </p:spPr>
        <p:txBody>
          <a:bodyPr wrap="square" lIns="0" tIns="0" rIns="0" bIns="0" rtlCol="0" anchor="t"/>
          <a:lstStyle/>
          <a:p>
            <a:pPr algn="l" indent="0" marL="0">
              <a:buNone/>
            </a:pPr>
            <a:r>
              <a:rPr lang="en-US" sz="3800" b="1" dirty="0">
                <a:solidFill>
                  <a:srgbClr val="FFC72C"/>
                </a:solidFill>
                <a:latin typeface="Cambria" pitchFamily="34" charset="0"/>
                <a:ea typeface="Cambria" pitchFamily="34" charset="-122"/>
                <a:cs typeface="Cambria" pitchFamily="34" charset="-120"/>
              </a:rPr>
              <a:t>325.000 €</a:t>
            </a:r>
            <a:endParaRPr lang="en-US" sz="3800" dirty="0"/>
          </a:p>
        </p:txBody>
      </p:sp>
      <p:sp>
        <p:nvSpPr>
          <p:cNvPr id="29" name="Text 27"/>
          <p:cNvSpPr txBox="1"/>
          <p:nvPr/>
        </p:nvSpPr>
        <p:spPr>
          <a:xfrm>
            <a:off x="859536" y="4517136"/>
            <a:ext cx="4846320" cy="621792"/>
          </a:xfrm>
          <a:prstGeom prst="rect">
            <a:avLst/>
          </a:prstGeom>
          <a:noFill/>
          <a:ln/>
        </p:spPr>
        <p:txBody>
          <a:bodyPr wrap="square" lIns="0" tIns="0" rIns="0" bIns="0" rtlCol="0" anchor="t"/>
          <a:lstStyle/>
          <a:p>
            <a:pPr algn="l" indent="0" marL="0">
              <a:lnSpc>
                <a:spcPct val="105000"/>
              </a:lnSpc>
              <a:buNone/>
            </a:pPr>
            <a:r>
              <a:rPr lang="en-US" sz="1200" dirty="0">
                <a:solidFill>
                  <a:srgbClr val="C9D5EE"/>
                </a:solidFill>
                <a:latin typeface="Calibri" pitchFamily="34" charset="0"/>
                <a:ea typeface="Calibri" pitchFamily="34" charset="-122"/>
                <a:cs typeface="Calibri" pitchFamily="34" charset="-120"/>
              </a:rPr>
              <a:t>Geldmenge, die im Rechenbeispiel des Skripts aus 100.000 € Zentralbankgeld entstehen kann – bei 30 % Bargeldquote und 10 % Mindestreserve.</a:t>
            </a:r>
            <a:endParaRPr lang="en-US" sz="1200" dirty="0"/>
          </a:p>
        </p:txBody>
      </p:sp>
      <p:sp>
        <p:nvSpPr>
          <p:cNvPr id="30" name="Shape 28"/>
          <p:cNvSpPr/>
          <p:nvPr/>
        </p:nvSpPr>
        <p:spPr>
          <a:xfrm>
            <a:off x="6227064" y="3794760"/>
            <a:ext cx="5394960" cy="1417320"/>
          </a:xfrm>
          <a:prstGeom prst="roundRect">
            <a:avLst>
              <a:gd name="adj" fmla="val 5161"/>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31" name="Text 29"/>
          <p:cNvSpPr txBox="1"/>
          <p:nvPr/>
        </p:nvSpPr>
        <p:spPr>
          <a:xfrm>
            <a:off x="6519672" y="3931920"/>
            <a:ext cx="4846320" cy="274320"/>
          </a:xfrm>
          <a:prstGeom prst="rect">
            <a:avLst/>
          </a:prstGeom>
          <a:noFill/>
          <a:ln/>
        </p:spPr>
        <p:txBody>
          <a:bodyPr wrap="square" lIns="0" tIns="0" rIns="0" bIns="0" rtlCol="0" anchor="t"/>
          <a:lstStyle/>
          <a:p>
            <a:pPr algn="l" indent="0" marL="0">
              <a:buNone/>
            </a:pPr>
            <a:r>
              <a:rPr lang="en-US" sz="1500" b="1" dirty="0">
                <a:solidFill>
                  <a:srgbClr val="10224E"/>
                </a:solidFill>
                <a:latin typeface="Cambria" pitchFamily="34" charset="0"/>
                <a:ea typeface="Cambria" pitchFamily="34" charset="-122"/>
                <a:cs typeface="Cambria" pitchFamily="34" charset="-120"/>
              </a:rPr>
              <a:t>Merke</a:t>
            </a:r>
            <a:endParaRPr lang="en-US" sz="1500" dirty="0"/>
          </a:p>
        </p:txBody>
      </p:sp>
      <p:sp>
        <p:nvSpPr>
          <p:cNvPr id="32" name="Text 30"/>
          <p:cNvSpPr txBox="1"/>
          <p:nvPr/>
        </p:nvSpPr>
        <p:spPr>
          <a:xfrm>
            <a:off x="6519672" y="4242816"/>
            <a:ext cx="4846320" cy="868680"/>
          </a:xfrm>
          <a:prstGeom prst="rect">
            <a:avLst/>
          </a:prstGeom>
          <a:noFill/>
          <a:ln/>
        </p:spPr>
        <p:txBody>
          <a:bodyPr wrap="square" lIns="0" tIns="0" rIns="0" bIns="0" rtlCol="0" anchor="t"/>
          <a:lstStyle/>
          <a:p>
            <a:pPr algn="l" indent="0" marL="0">
              <a:lnSpc>
                <a:spcPct val="108000"/>
              </a:lnSpc>
              <a:buNone/>
            </a:pPr>
            <a:r>
              <a:rPr lang="en-US" sz="1250" dirty="0">
                <a:solidFill>
                  <a:srgbClr val="1A1D26"/>
                </a:solidFill>
                <a:latin typeface="Calibri" pitchFamily="34" charset="0"/>
                <a:ea typeface="Calibri" pitchFamily="34" charset="-122"/>
                <a:cs typeface="Calibri" pitchFamily="34" charset="-120"/>
              </a:rPr>
              <a:t>Die EZB steuert nur die Geldbasis. Wie viel Geld am Ende wirklich umläuft, hängt auch vom Verhalten der Banken (Kreditvergabe) und der Kunden (Bargeldhaltung, Kreditnachfrage) ab.</a:t>
            </a:r>
            <a:endParaRPr lang="en-US" sz="1250" dirty="0"/>
          </a:p>
        </p:txBody>
      </p:sp>
      <p:sp>
        <p:nvSpPr>
          <p:cNvPr id="33" name="Text 31"/>
          <p:cNvSpPr txBox="1"/>
          <p:nvPr/>
        </p:nvSpPr>
        <p:spPr>
          <a:xfrm>
            <a:off x="566928" y="5358384"/>
            <a:ext cx="11057839" cy="292608"/>
          </a:xfrm>
          <a:prstGeom prst="rect">
            <a:avLst/>
          </a:prstGeom>
          <a:noFill/>
          <a:ln/>
        </p:spPr>
        <p:txBody>
          <a:bodyPr wrap="square" lIns="0" tIns="0" rIns="0" bIns="0" rtlCol="0" anchor="t"/>
          <a:lstStyle/>
          <a:p>
            <a:pPr algn="l" indent="0" marL="0">
              <a:buNone/>
            </a:pPr>
            <a:r>
              <a:rPr lang="en-US" sz="1050" i="1" dirty="0">
                <a:solidFill>
                  <a:srgbClr val="5A6274"/>
                </a:solidFill>
                <a:latin typeface="Calibri" pitchFamily="34" charset="0"/>
                <a:ea typeface="Calibri" pitchFamily="34" charset="-122"/>
                <a:cs typeface="Calibri" pitchFamily="34" charset="-120"/>
              </a:rPr>
              <a:t>Vereinfachte Darstellung des Geldschöpfungsprozesses; Geldschöpfungsmultiplikator m = (1 + c) / (c + r).</a:t>
            </a:r>
            <a:endParaRPr lang="en-US" sz="1050" dirty="0"/>
          </a:p>
        </p:txBody>
      </p:sp>
      <p:sp>
        <p:nvSpPr>
          <p:cNvPr id="34" name="Text 32"/>
          <p:cNvSpPr txBox="1"/>
          <p:nvPr/>
        </p:nvSpPr>
        <p:spPr>
          <a:xfrm>
            <a:off x="566928" y="6364224"/>
            <a:ext cx="5486400" cy="256032"/>
          </a:xfrm>
          <a:prstGeom prst="rect">
            <a:avLst/>
          </a:prstGeom>
          <a:noFill/>
          <a:ln/>
        </p:spPr>
        <p:txBody>
          <a:bodyPr wrap="square" lIns="0" tIns="0" rIns="0" bIns="0" rtlCol="0" anchor="t"/>
          <a:lstStyle/>
          <a:p>
            <a:pPr algn="l" indent="0" marL="0">
              <a:buNone/>
            </a:pPr>
            <a:r>
              <a:rPr lang="en-US" sz="950" dirty="0">
                <a:solidFill>
                  <a:srgbClr val="5A6274"/>
                </a:solidFill>
                <a:latin typeface="Calibri" pitchFamily="34" charset="0"/>
                <a:ea typeface="Calibri" pitchFamily="34" charset="-122"/>
                <a:cs typeface="Calibri" pitchFamily="34" charset="-120"/>
              </a:rPr>
              <a:t>Die Geldpolitik der EZB</a:t>
            </a:r>
            <a:endParaRPr lang="en-US" sz="950" dirty="0"/>
          </a:p>
        </p:txBody>
      </p:sp>
      <p:sp>
        <p:nvSpPr>
          <p:cNvPr id="35" name="Text 33"/>
          <p:cNvSpPr txBox="1"/>
          <p:nvPr/>
        </p:nvSpPr>
        <p:spPr>
          <a:xfrm>
            <a:off x="7967167" y="6364224"/>
            <a:ext cx="3657600" cy="256032"/>
          </a:xfrm>
          <a:prstGeom prst="rect">
            <a:avLst/>
          </a:prstGeom>
          <a:noFill/>
          <a:ln/>
        </p:spPr>
        <p:txBody>
          <a:bodyPr wrap="square" lIns="0" tIns="0" rIns="0" bIns="0" rtlCol="0" anchor="t"/>
          <a:lstStyle/>
          <a:p>
            <a:pPr algn="r" indent="0" marL="0">
              <a:buNone/>
            </a:pPr>
            <a:r>
              <a:rPr lang="en-US" sz="950" dirty="0">
                <a:solidFill>
                  <a:srgbClr val="5A6274"/>
                </a:solidFill>
                <a:latin typeface="Calibri" pitchFamily="34" charset="0"/>
                <a:ea typeface="Calibri" pitchFamily="34" charset="-122"/>
                <a:cs typeface="Calibri" pitchFamily="34" charset="-120"/>
              </a:rPr>
              <a:t>Folie 3 von 17</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algn="l" indent="0" marL="0">
              <a:buNone/>
            </a:pPr>
            <a:r>
              <a:rPr lang="en-US" sz="1100" b="1" spc="140" kern="0" dirty="0">
                <a:solidFill>
                  <a:srgbClr val="9A6F00"/>
                </a:solidFill>
                <a:latin typeface="Calibri" pitchFamily="34" charset="0"/>
                <a:ea typeface="Calibri" pitchFamily="34" charset="-122"/>
                <a:cs typeface="Calibri" pitchFamily="34" charset="-120"/>
              </a:rPr>
              <a:t>TEIL 1 · GRUNDLAGEN</a:t>
            </a:r>
            <a:endParaRPr lang="en-US" sz="1100" dirty="0"/>
          </a:p>
        </p:txBody>
      </p:sp>
      <p:sp>
        <p:nvSpPr>
          <p:cNvPr id="3" name="Text 1"/>
          <p:cNvSpPr txBox="1"/>
          <p:nvPr/>
        </p:nvSpPr>
        <p:spPr>
          <a:xfrm>
            <a:off x="566928" y="566928"/>
            <a:ext cx="11057839" cy="676656"/>
          </a:xfrm>
          <a:prstGeom prst="rect">
            <a:avLst/>
          </a:prstGeom>
          <a:noFill/>
          <a:ln/>
        </p:spPr>
        <p:txBody>
          <a:bodyPr wrap="square" lIns="0" tIns="0" rIns="0" bIns="0" rtlCol="0" anchor="ctr"/>
          <a:lstStyle/>
          <a:p>
            <a:pPr algn="l" indent="0" marL="0">
              <a:buNone/>
            </a:pPr>
            <a:r>
              <a:rPr lang="en-US" sz="3000" b="1" dirty="0">
                <a:solidFill>
                  <a:srgbClr val="10224E"/>
                </a:solidFill>
                <a:latin typeface="Cambria" pitchFamily="34" charset="0"/>
                <a:ea typeface="Cambria" pitchFamily="34" charset="-122"/>
                <a:cs typeface="Cambria" pitchFamily="34" charset="-120"/>
              </a:rPr>
              <a:t>Die EZB: Aufbau und Auftrag</a:t>
            </a:r>
            <a:endParaRPr lang="en-US" sz="3000" dirty="0"/>
          </a:p>
        </p:txBody>
      </p:sp>
      <p:sp>
        <p:nvSpPr>
          <p:cNvPr id="4" name="Shape 2"/>
          <p:cNvSpPr/>
          <p:nvPr/>
        </p:nvSpPr>
        <p:spPr>
          <a:xfrm>
            <a:off x="566928" y="1389888"/>
            <a:ext cx="6675120" cy="1481328"/>
          </a:xfrm>
          <a:prstGeom prst="roundRect">
            <a:avLst>
              <a:gd name="adj" fmla="val 4938"/>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5" name="Shape 3"/>
          <p:cNvSpPr/>
          <p:nvPr/>
        </p:nvSpPr>
        <p:spPr>
          <a:xfrm>
            <a:off x="804672" y="1609344"/>
            <a:ext cx="457200" cy="457200"/>
          </a:xfrm>
          <a:prstGeom prst="ellipse">
            <a:avLst/>
          </a:prstGeom>
          <a:solidFill>
            <a:srgbClr val="FFC72C"/>
          </a:solidFill>
          <a:ln w="12700">
            <a:solidFill>
              <a:srgbClr val="FFC72C"/>
            </a:solidFill>
            <a:prstDash val="solid"/>
          </a:ln>
        </p:spPr>
      </p:sp>
      <p:sp>
        <p:nvSpPr>
          <p:cNvPr id="6" name="Text 4"/>
          <p:cNvSpPr txBox="1"/>
          <p:nvPr/>
        </p:nvSpPr>
        <p:spPr>
          <a:xfrm>
            <a:off x="804672" y="1609344"/>
            <a:ext cx="457200" cy="457200"/>
          </a:xfrm>
          <a:prstGeom prst="rect">
            <a:avLst/>
          </a:prstGeom>
          <a:noFill/>
          <a:ln/>
        </p:spPr>
        <p:txBody>
          <a:bodyPr wrap="square" lIns="0" tIns="0" rIns="0" bIns="0" rtlCol="0" anchor="ctr"/>
          <a:lstStyle/>
          <a:p>
            <a:pPr algn="ctr" indent="0" marL="0">
              <a:buNone/>
            </a:pPr>
            <a:r>
              <a:rPr lang="en-US" sz="1500" b="1" dirty="0">
                <a:solidFill>
                  <a:srgbClr val="10224E"/>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408176" y="1554480"/>
            <a:ext cx="5577840" cy="292608"/>
          </a:xfrm>
          <a:prstGeom prst="rect">
            <a:avLst/>
          </a:prstGeom>
          <a:noFill/>
          <a:ln/>
        </p:spPr>
        <p:txBody>
          <a:bodyPr wrap="square" lIns="0" tIns="0" rIns="0" bIns="0" rtlCol="0" anchor="t"/>
          <a:lstStyle/>
          <a:p>
            <a:pPr algn="l" indent="0" marL="0">
              <a:buNone/>
            </a:pPr>
            <a:r>
              <a:rPr lang="en-US" sz="1500" b="1" dirty="0">
                <a:solidFill>
                  <a:srgbClr val="10224E"/>
                </a:solidFill>
                <a:latin typeface="Cambria" pitchFamily="34" charset="0"/>
                <a:ea typeface="Cambria" pitchFamily="34" charset="-122"/>
                <a:cs typeface="Cambria" pitchFamily="34" charset="-120"/>
              </a:rPr>
              <a:t>EZB-Rat</a:t>
            </a:r>
            <a:endParaRPr lang="en-US" sz="1500" dirty="0"/>
          </a:p>
        </p:txBody>
      </p:sp>
      <p:sp>
        <p:nvSpPr>
          <p:cNvPr id="8" name="Text 6"/>
          <p:cNvSpPr txBox="1"/>
          <p:nvPr/>
        </p:nvSpPr>
        <p:spPr>
          <a:xfrm>
            <a:off x="1408176" y="1865376"/>
            <a:ext cx="5577840" cy="914400"/>
          </a:xfrm>
          <a:prstGeom prst="rect">
            <a:avLst/>
          </a:prstGeom>
          <a:noFill/>
          <a:ln/>
        </p:spPr>
        <p:txBody>
          <a:bodyPr wrap="square" lIns="0" tIns="0" rIns="0" bIns="0" rtlCol="0" anchor="t"/>
          <a:lstStyle/>
          <a:p>
            <a:pPr algn="l" indent="0" marL="0">
              <a:lnSpc>
                <a:spcPct val="106000"/>
              </a:lnSpc>
              <a:buNone/>
            </a:pPr>
            <a:r>
              <a:rPr lang="en-US" sz="1200" dirty="0">
                <a:solidFill>
                  <a:srgbClr val="1A1D26"/>
                </a:solidFill>
                <a:latin typeface="Calibri" pitchFamily="34" charset="0"/>
                <a:ea typeface="Calibri" pitchFamily="34" charset="-122"/>
                <a:cs typeface="Calibri" pitchFamily="34" charset="-120"/>
              </a:rPr>
              <a:t>Oberstes geldpolitisches Gremium: das Direktorium und die Präsidentinnen und Präsidenten der nationalen Zentralbanken des Euroraums. Er beschließt die Leitzinsen – in der Regel alle sechs Wochen.</a:t>
            </a:r>
            <a:endParaRPr lang="en-US" sz="1200" dirty="0"/>
          </a:p>
        </p:txBody>
      </p:sp>
      <p:sp>
        <p:nvSpPr>
          <p:cNvPr id="9" name="Shape 7"/>
          <p:cNvSpPr/>
          <p:nvPr/>
        </p:nvSpPr>
        <p:spPr>
          <a:xfrm>
            <a:off x="566928" y="2980944"/>
            <a:ext cx="6675120" cy="1133856"/>
          </a:xfrm>
          <a:prstGeom prst="roundRect">
            <a:avLst>
              <a:gd name="adj" fmla="val 6452"/>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0" name="Shape 8"/>
          <p:cNvSpPr/>
          <p:nvPr/>
        </p:nvSpPr>
        <p:spPr>
          <a:xfrm>
            <a:off x="804672" y="3200400"/>
            <a:ext cx="457200" cy="457200"/>
          </a:xfrm>
          <a:prstGeom prst="ellipse">
            <a:avLst/>
          </a:prstGeom>
          <a:solidFill>
            <a:srgbClr val="FFC72C"/>
          </a:solidFill>
          <a:ln w="12700">
            <a:solidFill>
              <a:srgbClr val="FFC72C"/>
            </a:solidFill>
            <a:prstDash val="solid"/>
          </a:ln>
        </p:spPr>
      </p:sp>
      <p:sp>
        <p:nvSpPr>
          <p:cNvPr id="11" name="Text 9"/>
          <p:cNvSpPr txBox="1"/>
          <p:nvPr/>
        </p:nvSpPr>
        <p:spPr>
          <a:xfrm>
            <a:off x="804672" y="3200400"/>
            <a:ext cx="457200" cy="457200"/>
          </a:xfrm>
          <a:prstGeom prst="rect">
            <a:avLst/>
          </a:prstGeom>
          <a:noFill/>
          <a:ln/>
        </p:spPr>
        <p:txBody>
          <a:bodyPr wrap="square" lIns="0" tIns="0" rIns="0" bIns="0" rtlCol="0" anchor="ctr"/>
          <a:lstStyle/>
          <a:p>
            <a:pPr algn="ctr" indent="0" marL="0">
              <a:buNone/>
            </a:pPr>
            <a:r>
              <a:rPr lang="en-US" sz="1500" b="1" dirty="0">
                <a:solidFill>
                  <a:srgbClr val="10224E"/>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1408176" y="3145536"/>
            <a:ext cx="5577840" cy="292608"/>
          </a:xfrm>
          <a:prstGeom prst="rect">
            <a:avLst/>
          </a:prstGeom>
          <a:noFill/>
          <a:ln/>
        </p:spPr>
        <p:txBody>
          <a:bodyPr wrap="square" lIns="0" tIns="0" rIns="0" bIns="0" rtlCol="0" anchor="t"/>
          <a:lstStyle/>
          <a:p>
            <a:pPr algn="l" indent="0" marL="0">
              <a:buNone/>
            </a:pPr>
            <a:r>
              <a:rPr lang="en-US" sz="1500" b="1" dirty="0">
                <a:solidFill>
                  <a:srgbClr val="10224E"/>
                </a:solidFill>
                <a:latin typeface="Cambria" pitchFamily="34" charset="0"/>
                <a:ea typeface="Cambria" pitchFamily="34" charset="-122"/>
                <a:cs typeface="Cambria" pitchFamily="34" charset="-120"/>
              </a:rPr>
              <a:t>Direktorium</a:t>
            </a:r>
            <a:endParaRPr lang="en-US" sz="1500" dirty="0"/>
          </a:p>
        </p:txBody>
      </p:sp>
      <p:sp>
        <p:nvSpPr>
          <p:cNvPr id="13" name="Text 11"/>
          <p:cNvSpPr txBox="1"/>
          <p:nvPr/>
        </p:nvSpPr>
        <p:spPr>
          <a:xfrm>
            <a:off x="1408176" y="3456432"/>
            <a:ext cx="5577840" cy="566928"/>
          </a:xfrm>
          <a:prstGeom prst="rect">
            <a:avLst/>
          </a:prstGeom>
          <a:noFill/>
          <a:ln/>
        </p:spPr>
        <p:txBody>
          <a:bodyPr wrap="square" lIns="0" tIns="0" rIns="0" bIns="0" rtlCol="0" anchor="t"/>
          <a:lstStyle/>
          <a:p>
            <a:pPr algn="l" indent="0" marL="0">
              <a:lnSpc>
                <a:spcPct val="106000"/>
              </a:lnSpc>
              <a:buNone/>
            </a:pPr>
            <a:r>
              <a:rPr lang="en-US" sz="1200" dirty="0">
                <a:solidFill>
                  <a:srgbClr val="1A1D26"/>
                </a:solidFill>
                <a:latin typeface="Calibri" pitchFamily="34" charset="0"/>
                <a:ea typeface="Calibri" pitchFamily="34" charset="-122"/>
                <a:cs typeface="Calibri" pitchFamily="34" charset="-120"/>
              </a:rPr>
              <a:t>Präsident/in, Vizepräsident/in und vier weitere Mitglieder. Es führt die Beschlüsse des EZB-Rats im Tagesgeschäft aus.</a:t>
            </a:r>
            <a:endParaRPr lang="en-US" sz="1200" dirty="0"/>
          </a:p>
        </p:txBody>
      </p:sp>
      <p:sp>
        <p:nvSpPr>
          <p:cNvPr id="14" name="Shape 12"/>
          <p:cNvSpPr/>
          <p:nvPr/>
        </p:nvSpPr>
        <p:spPr>
          <a:xfrm>
            <a:off x="566928" y="4224528"/>
            <a:ext cx="6675120" cy="1133856"/>
          </a:xfrm>
          <a:prstGeom prst="roundRect">
            <a:avLst>
              <a:gd name="adj" fmla="val 6452"/>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5" name="Shape 13"/>
          <p:cNvSpPr/>
          <p:nvPr/>
        </p:nvSpPr>
        <p:spPr>
          <a:xfrm>
            <a:off x="804672" y="4443984"/>
            <a:ext cx="457200" cy="457200"/>
          </a:xfrm>
          <a:prstGeom prst="ellipse">
            <a:avLst/>
          </a:prstGeom>
          <a:solidFill>
            <a:srgbClr val="FFC72C"/>
          </a:solidFill>
          <a:ln w="12700">
            <a:solidFill>
              <a:srgbClr val="FFC72C"/>
            </a:solidFill>
            <a:prstDash val="solid"/>
          </a:ln>
        </p:spPr>
      </p:sp>
      <p:sp>
        <p:nvSpPr>
          <p:cNvPr id="16" name="Text 14"/>
          <p:cNvSpPr txBox="1"/>
          <p:nvPr/>
        </p:nvSpPr>
        <p:spPr>
          <a:xfrm>
            <a:off x="804672" y="4443984"/>
            <a:ext cx="457200" cy="457200"/>
          </a:xfrm>
          <a:prstGeom prst="rect">
            <a:avLst/>
          </a:prstGeom>
          <a:noFill/>
          <a:ln/>
        </p:spPr>
        <p:txBody>
          <a:bodyPr wrap="square" lIns="0" tIns="0" rIns="0" bIns="0" rtlCol="0" anchor="ctr"/>
          <a:lstStyle/>
          <a:p>
            <a:pPr algn="ctr" indent="0" marL="0">
              <a:buNone/>
            </a:pPr>
            <a:r>
              <a:rPr lang="en-US" sz="1500" b="1" dirty="0">
                <a:solidFill>
                  <a:srgbClr val="10224E"/>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1408176" y="4389120"/>
            <a:ext cx="5577840" cy="292608"/>
          </a:xfrm>
          <a:prstGeom prst="rect">
            <a:avLst/>
          </a:prstGeom>
          <a:noFill/>
          <a:ln/>
        </p:spPr>
        <p:txBody>
          <a:bodyPr wrap="square" lIns="0" tIns="0" rIns="0" bIns="0" rtlCol="0" anchor="t"/>
          <a:lstStyle/>
          <a:p>
            <a:pPr algn="l" indent="0" marL="0">
              <a:buNone/>
            </a:pPr>
            <a:r>
              <a:rPr lang="en-US" sz="1500" b="1" dirty="0">
                <a:solidFill>
                  <a:srgbClr val="10224E"/>
                </a:solidFill>
                <a:latin typeface="Cambria" pitchFamily="34" charset="0"/>
                <a:ea typeface="Cambria" pitchFamily="34" charset="-122"/>
                <a:cs typeface="Cambria" pitchFamily="34" charset="-120"/>
              </a:rPr>
              <a:t>Nationale Zentralbanken</a:t>
            </a:r>
            <a:endParaRPr lang="en-US" sz="1500" dirty="0"/>
          </a:p>
        </p:txBody>
      </p:sp>
      <p:sp>
        <p:nvSpPr>
          <p:cNvPr id="18" name="Text 16"/>
          <p:cNvSpPr txBox="1"/>
          <p:nvPr/>
        </p:nvSpPr>
        <p:spPr>
          <a:xfrm>
            <a:off x="1408176" y="4700016"/>
            <a:ext cx="5577840" cy="566928"/>
          </a:xfrm>
          <a:prstGeom prst="rect">
            <a:avLst/>
          </a:prstGeom>
          <a:noFill/>
          <a:ln/>
        </p:spPr>
        <p:txBody>
          <a:bodyPr wrap="square" lIns="0" tIns="0" rIns="0" bIns="0" rtlCol="0" anchor="t"/>
          <a:lstStyle/>
          <a:p>
            <a:pPr algn="l" indent="0" marL="0">
              <a:lnSpc>
                <a:spcPct val="106000"/>
              </a:lnSpc>
              <a:buNone/>
            </a:pPr>
            <a:r>
              <a:rPr lang="en-US" sz="1200" dirty="0">
                <a:solidFill>
                  <a:srgbClr val="1A1D26"/>
                </a:solidFill>
                <a:latin typeface="Calibri" pitchFamily="34" charset="0"/>
                <a:ea typeface="Calibri" pitchFamily="34" charset="-122"/>
                <a:cs typeface="Calibri" pitchFamily="34" charset="-120"/>
              </a:rPr>
              <a:t>Zum Beispiel die Deutsche Bundesbank. Sie setzen die Geldpolitik vor Ort um und sind integraler Teil des Systems.</a:t>
            </a:r>
            <a:endParaRPr lang="en-US" sz="1200" dirty="0"/>
          </a:p>
        </p:txBody>
      </p:sp>
      <p:sp>
        <p:nvSpPr>
          <p:cNvPr id="19" name="Shape 17"/>
          <p:cNvSpPr/>
          <p:nvPr/>
        </p:nvSpPr>
        <p:spPr>
          <a:xfrm>
            <a:off x="7452360" y="1389888"/>
            <a:ext cx="4169664" cy="3968496"/>
          </a:xfrm>
          <a:prstGeom prst="roundRect">
            <a:avLst>
              <a:gd name="adj" fmla="val 1843"/>
            </a:avLst>
          </a:prstGeom>
          <a:solidFill>
            <a:srgbClr val="10224E"/>
          </a:solidFill>
          <a:ln w="12700">
            <a:solidFill>
              <a:srgbClr val="10224E"/>
            </a:solidFill>
            <a:prstDash val="solid"/>
          </a:ln>
          <a:effectLst>
            <a:outerShdw sx="100000" sy="100000" kx="0" ky="0" algn="bl" rotWithShape="0" blurRad="88900" dist="12700" dir="5400000">
              <a:srgbClr val="8A96AD">
                <a:alpha val="22000"/>
              </a:srgbClr>
            </a:outerShdw>
          </a:effectLst>
        </p:spPr>
      </p:sp>
      <p:sp>
        <p:nvSpPr>
          <p:cNvPr id="20" name="Text 18"/>
          <p:cNvSpPr txBox="1"/>
          <p:nvPr/>
        </p:nvSpPr>
        <p:spPr>
          <a:xfrm>
            <a:off x="7726680" y="1609344"/>
            <a:ext cx="3621024" cy="566928"/>
          </a:xfrm>
          <a:prstGeom prst="rect">
            <a:avLst/>
          </a:prstGeom>
          <a:noFill/>
          <a:ln/>
        </p:spPr>
        <p:txBody>
          <a:bodyPr wrap="square" lIns="0" tIns="0" rIns="0" bIns="0" rtlCol="0" anchor="t"/>
          <a:lstStyle/>
          <a:p>
            <a:pPr algn="l" indent="0" marL="0">
              <a:buNone/>
            </a:pPr>
            <a:r>
              <a:rPr lang="en-US" sz="1550" b="1" dirty="0">
                <a:solidFill>
                  <a:srgbClr val="FFC72C"/>
                </a:solidFill>
                <a:latin typeface="Cambria" pitchFamily="34" charset="0"/>
                <a:ea typeface="Cambria" pitchFamily="34" charset="-122"/>
                <a:cs typeface="Cambria" pitchFamily="34" charset="-120"/>
              </a:rPr>
              <a:t>Unabhängig – und trotzdem gebunden</a:t>
            </a:r>
            <a:endParaRPr lang="en-US" sz="1550" dirty="0"/>
          </a:p>
        </p:txBody>
      </p:sp>
      <p:sp>
        <p:nvSpPr>
          <p:cNvPr id="21" name="Text 19"/>
          <p:cNvSpPr txBox="1"/>
          <p:nvPr/>
        </p:nvSpPr>
        <p:spPr>
          <a:xfrm>
            <a:off x="7726680" y="2249424"/>
            <a:ext cx="3621024" cy="2999232"/>
          </a:xfrm>
          <a:prstGeom prst="rect">
            <a:avLst/>
          </a:prstGeom>
          <a:noFill/>
          <a:ln/>
        </p:spPr>
        <p:txBody>
          <a:bodyPr wrap="square" lIns="0" tIns="0" rIns="0" bIns="0" rtlCol="0" anchor="t"/>
          <a:lstStyle/>
          <a:p>
            <a:pPr algn="l" marL="177800" indent="-177800">
              <a:lnSpc>
                <a:spcPct val="110000"/>
              </a:lnSpc>
              <a:spcAft>
                <a:spcPts val="500"/>
              </a:spcAft>
              <a:buSzPct val="100000"/>
              <a:buChar char="•"/>
            </a:pPr>
            <a:r>
              <a:rPr lang="en-US" sz="1250" dirty="0">
                <a:solidFill>
                  <a:srgbClr val="C9D5EE"/>
                </a:solidFill>
                <a:latin typeface="Calibri" pitchFamily="34" charset="0"/>
                <a:ea typeface="Calibri" pitchFamily="34" charset="-122"/>
                <a:cs typeface="Calibri" pitchFamily="34" charset="-120"/>
              </a:rPr>
              <a:t>Die EZB darf keine Weisungen von Regierungen annehmen (Art. 130 AEUV).</a:t>
            </a:r>
            <a:endParaRPr lang="en-US" sz="1250" dirty="0"/>
          </a:p>
          <a:p>
            <a:pPr algn="l" marL="177800" indent="-177800">
              <a:lnSpc>
                <a:spcPct val="110000"/>
              </a:lnSpc>
              <a:spcAft>
                <a:spcPts val="500"/>
              </a:spcAft>
              <a:buSzPct val="100000"/>
              <a:buChar char="•"/>
            </a:pPr>
            <a:r>
              <a:rPr lang="en-US" sz="1250" dirty="0">
                <a:solidFill>
                  <a:srgbClr val="C9D5EE"/>
                </a:solidFill>
                <a:latin typeface="Calibri" pitchFamily="34" charset="0"/>
                <a:ea typeface="Calibri" pitchFamily="34" charset="-122"/>
                <a:cs typeface="Calibri" pitchFamily="34" charset="-120"/>
              </a:rPr>
              <a:t>Ihr Ziel steht im EU-Vertrag – es hängt nicht von Wahlergebnissen ab.</a:t>
            </a:r>
            <a:endParaRPr lang="en-US" sz="1250" dirty="0"/>
          </a:p>
          <a:p>
            <a:pPr algn="l" marL="177800" indent="-177800">
              <a:lnSpc>
                <a:spcPct val="110000"/>
              </a:lnSpc>
              <a:spcAft>
                <a:spcPts val="500"/>
              </a:spcAft>
              <a:buSzPct val="100000"/>
              <a:buChar char="•"/>
            </a:pPr>
            <a:r>
              <a:rPr lang="en-US" sz="1250" dirty="0">
                <a:solidFill>
                  <a:srgbClr val="C9D5EE"/>
                </a:solidFill>
                <a:latin typeface="Calibri" pitchFamily="34" charset="0"/>
                <a:ea typeface="Calibri" pitchFamily="34" charset="-122"/>
                <a:cs typeface="Calibri" pitchFamily="34" charset="-120"/>
              </a:rPr>
              <a:t>Sie muss sich gegenüber dem Europäischen Parlament und der Öffentlichkeit erklären.</a:t>
            </a:r>
            <a:endParaRPr lang="en-US" sz="1250" dirty="0"/>
          </a:p>
          <a:p>
            <a:pPr algn="l" marL="177800" indent="-177800">
              <a:lnSpc>
                <a:spcPct val="110000"/>
              </a:lnSpc>
              <a:spcAft>
                <a:spcPts val="500"/>
              </a:spcAft>
              <a:buSzPct val="100000"/>
              <a:buChar char="•"/>
            </a:pPr>
            <a:r>
              <a:rPr lang="en-US" sz="1250" dirty="0">
                <a:solidFill>
                  <a:srgbClr val="C9D5EE"/>
                </a:solidFill>
                <a:latin typeface="Calibri" pitchFamily="34" charset="0"/>
                <a:ea typeface="Calibri" pitchFamily="34" charset="-122"/>
                <a:cs typeface="Calibri" pitchFamily="34" charset="-120"/>
              </a:rPr>
              <a:t>Warum? Regierungen könnten versucht sein, kurz vor Wahlen billiges Geld zu fordern – auf Kosten stabiler Preise.</a:t>
            </a:r>
            <a:endParaRPr lang="en-US" sz="1250" dirty="0"/>
          </a:p>
        </p:txBody>
      </p:sp>
      <p:sp>
        <p:nvSpPr>
          <p:cNvPr id="22" name="Shape 20"/>
          <p:cNvSpPr/>
          <p:nvPr/>
        </p:nvSpPr>
        <p:spPr>
          <a:xfrm>
            <a:off x="566928" y="5486400"/>
            <a:ext cx="11057839" cy="566928"/>
          </a:xfrm>
          <a:prstGeom prst="roundRect">
            <a:avLst>
              <a:gd name="adj" fmla="val 12903"/>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23" name="Text 21"/>
          <p:cNvSpPr txBox="1"/>
          <p:nvPr/>
        </p:nvSpPr>
        <p:spPr>
          <a:xfrm>
            <a:off x="886968" y="5486400"/>
            <a:ext cx="10417759" cy="566928"/>
          </a:xfrm>
          <a:prstGeom prst="rect">
            <a:avLst/>
          </a:prstGeom>
          <a:noFill/>
          <a:ln/>
        </p:spPr>
        <p:txBody>
          <a:bodyPr wrap="square" lIns="0" tIns="0" rIns="0" bIns="0" rtlCol="0" anchor="ctr"/>
          <a:lstStyle/>
          <a:p>
            <a:pPr algn="l" indent="0" marL="0">
              <a:buNone/>
            </a:pPr>
            <a:r>
              <a:rPr lang="en-US" sz="1300" b="1" dirty="0">
                <a:solidFill>
                  <a:srgbClr val="10224E"/>
                </a:solidFill>
                <a:latin typeface="Calibri" pitchFamily="34" charset="0"/>
                <a:ea typeface="Calibri" pitchFamily="34" charset="-122"/>
                <a:cs typeface="Calibri" pitchFamily="34" charset="-120"/>
              </a:rPr>
              <a:t>Eurosystem</a:t>
            </a:r>
            <a:pPr algn="l" indent="0" marL="0">
              <a:buNone/>
            </a:pPr>
            <a:r>
              <a:rPr lang="en-US" sz="1300" dirty="0">
                <a:solidFill>
                  <a:srgbClr val="1A1D26"/>
                </a:solidFill>
                <a:latin typeface="Calibri" pitchFamily="34" charset="0"/>
                <a:ea typeface="Calibri" pitchFamily="34" charset="-122"/>
                <a:cs typeface="Calibri" pitchFamily="34" charset="-120"/>
              </a:rPr>
              <a:t> = EZB + die nationalen Zentralbanken der Euro-Länder.   •   </a:t>
            </a:r>
            <a:pPr algn="l" indent="0" marL="0">
              <a:buNone/>
            </a:pPr>
            <a:r>
              <a:rPr lang="en-US" sz="1300" b="1" dirty="0">
                <a:solidFill>
                  <a:srgbClr val="10224E"/>
                </a:solidFill>
                <a:latin typeface="Calibri" pitchFamily="34" charset="0"/>
                <a:ea typeface="Calibri" pitchFamily="34" charset="-122"/>
                <a:cs typeface="Calibri" pitchFamily="34" charset="-120"/>
              </a:rPr>
              <a:t>ESZB</a:t>
            </a:r>
            <a:pPr algn="l" indent="0" marL="0">
              <a:buNone/>
            </a:pPr>
            <a:r>
              <a:rPr lang="en-US" sz="1300" dirty="0">
                <a:solidFill>
                  <a:srgbClr val="1A1D26"/>
                </a:solidFill>
                <a:latin typeface="Calibri" pitchFamily="34" charset="0"/>
                <a:ea typeface="Calibri" pitchFamily="34" charset="-122"/>
                <a:cs typeface="Calibri" pitchFamily="34" charset="-120"/>
              </a:rPr>
              <a:t> = EZB + die Zentralbanken aller EU-Staaten.</a:t>
            </a:r>
            <a:endParaRPr lang="en-US" sz="1300" dirty="0"/>
          </a:p>
        </p:txBody>
      </p:sp>
      <p:sp>
        <p:nvSpPr>
          <p:cNvPr id="24" name="Text 22"/>
          <p:cNvSpPr txBox="1"/>
          <p:nvPr/>
        </p:nvSpPr>
        <p:spPr>
          <a:xfrm>
            <a:off x="566928" y="6364224"/>
            <a:ext cx="5486400" cy="256032"/>
          </a:xfrm>
          <a:prstGeom prst="rect">
            <a:avLst/>
          </a:prstGeom>
          <a:noFill/>
          <a:ln/>
        </p:spPr>
        <p:txBody>
          <a:bodyPr wrap="square" lIns="0" tIns="0" rIns="0" bIns="0" rtlCol="0" anchor="t"/>
          <a:lstStyle/>
          <a:p>
            <a:pPr algn="l" indent="0" marL="0">
              <a:buNone/>
            </a:pPr>
            <a:r>
              <a:rPr lang="en-US" sz="950" dirty="0">
                <a:solidFill>
                  <a:srgbClr val="5A6274"/>
                </a:solidFill>
                <a:latin typeface="Calibri" pitchFamily="34" charset="0"/>
                <a:ea typeface="Calibri" pitchFamily="34" charset="-122"/>
                <a:cs typeface="Calibri" pitchFamily="34" charset="-120"/>
              </a:rPr>
              <a:t>Die Geldpolitik der EZB</a:t>
            </a:r>
            <a:endParaRPr lang="en-US" sz="950" dirty="0"/>
          </a:p>
        </p:txBody>
      </p:sp>
      <p:sp>
        <p:nvSpPr>
          <p:cNvPr id="25" name="Text 23"/>
          <p:cNvSpPr txBox="1"/>
          <p:nvPr/>
        </p:nvSpPr>
        <p:spPr>
          <a:xfrm>
            <a:off x="7967167" y="6364224"/>
            <a:ext cx="3657600" cy="256032"/>
          </a:xfrm>
          <a:prstGeom prst="rect">
            <a:avLst/>
          </a:prstGeom>
          <a:noFill/>
          <a:ln/>
        </p:spPr>
        <p:txBody>
          <a:bodyPr wrap="square" lIns="0" tIns="0" rIns="0" bIns="0" rtlCol="0" anchor="t"/>
          <a:lstStyle/>
          <a:p>
            <a:pPr algn="r" indent="0" marL="0">
              <a:buNone/>
            </a:pPr>
            <a:r>
              <a:rPr lang="en-US" sz="950" dirty="0">
                <a:solidFill>
                  <a:srgbClr val="5A6274"/>
                </a:solidFill>
                <a:latin typeface="Calibri" pitchFamily="34" charset="0"/>
                <a:ea typeface="Calibri" pitchFamily="34" charset="-122"/>
                <a:cs typeface="Calibri" pitchFamily="34" charset="-120"/>
              </a:rPr>
              <a:t>Folie 4 von 17</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algn="l" indent="0" marL="0">
              <a:buNone/>
            </a:pPr>
            <a:r>
              <a:rPr lang="en-US" sz="1100" b="1" spc="140" kern="0" dirty="0">
                <a:solidFill>
                  <a:srgbClr val="9A6F00"/>
                </a:solidFill>
                <a:latin typeface="Calibri" pitchFamily="34" charset="0"/>
                <a:ea typeface="Calibri" pitchFamily="34" charset="-122"/>
                <a:cs typeface="Calibri" pitchFamily="34" charset="-120"/>
              </a:rPr>
              <a:t>TEIL 1 · GRUNDLAGEN</a:t>
            </a:r>
            <a:endParaRPr lang="en-US" sz="1100" dirty="0"/>
          </a:p>
        </p:txBody>
      </p:sp>
      <p:sp>
        <p:nvSpPr>
          <p:cNvPr id="3" name="Text 1"/>
          <p:cNvSpPr txBox="1"/>
          <p:nvPr/>
        </p:nvSpPr>
        <p:spPr>
          <a:xfrm>
            <a:off x="566928" y="566928"/>
            <a:ext cx="11057839" cy="676656"/>
          </a:xfrm>
          <a:prstGeom prst="rect">
            <a:avLst/>
          </a:prstGeom>
          <a:noFill/>
          <a:ln/>
        </p:spPr>
        <p:txBody>
          <a:bodyPr wrap="square" lIns="0" tIns="0" rIns="0" bIns="0" rtlCol="0" anchor="ctr"/>
          <a:lstStyle/>
          <a:p>
            <a:pPr algn="l" indent="0" marL="0">
              <a:buNone/>
            </a:pPr>
            <a:r>
              <a:rPr lang="en-US" sz="3000" b="1" dirty="0">
                <a:solidFill>
                  <a:srgbClr val="10224E"/>
                </a:solidFill>
                <a:latin typeface="Cambria" pitchFamily="34" charset="0"/>
                <a:ea typeface="Cambria" pitchFamily="34" charset="-122"/>
                <a:cs typeface="Cambria" pitchFamily="34" charset="-120"/>
              </a:rPr>
              <a:t>Das Ziel: Preisstabilität</a:t>
            </a:r>
            <a:endParaRPr lang="en-US" sz="3000" dirty="0"/>
          </a:p>
        </p:txBody>
      </p:sp>
      <p:sp>
        <p:nvSpPr>
          <p:cNvPr id="4" name="Shape 2"/>
          <p:cNvSpPr/>
          <p:nvPr/>
        </p:nvSpPr>
        <p:spPr>
          <a:xfrm>
            <a:off x="566928" y="1389888"/>
            <a:ext cx="3840480" cy="3127248"/>
          </a:xfrm>
          <a:prstGeom prst="roundRect">
            <a:avLst>
              <a:gd name="adj" fmla="val 2339"/>
            </a:avLst>
          </a:prstGeom>
          <a:solidFill>
            <a:srgbClr val="10224E"/>
          </a:solidFill>
          <a:ln w="12700">
            <a:solidFill>
              <a:srgbClr val="10224E"/>
            </a:solidFill>
            <a:prstDash val="solid"/>
          </a:ln>
          <a:effectLst>
            <a:outerShdw sx="100000" sy="100000" kx="0" ky="0" algn="bl" rotWithShape="0" blurRad="88900" dist="12700" dir="5400000">
              <a:srgbClr val="8A96AD">
                <a:alpha val="22000"/>
              </a:srgbClr>
            </a:outerShdw>
          </a:effectLst>
        </p:spPr>
      </p:sp>
      <p:sp>
        <p:nvSpPr>
          <p:cNvPr id="5" name="Text 3"/>
          <p:cNvSpPr txBox="1"/>
          <p:nvPr/>
        </p:nvSpPr>
        <p:spPr>
          <a:xfrm>
            <a:off x="859536" y="1627632"/>
            <a:ext cx="3255264" cy="960120"/>
          </a:xfrm>
          <a:prstGeom prst="rect">
            <a:avLst/>
          </a:prstGeom>
          <a:noFill/>
          <a:ln/>
        </p:spPr>
        <p:txBody>
          <a:bodyPr wrap="square" lIns="0" tIns="0" rIns="0" bIns="0" rtlCol="0" anchor="ctr"/>
          <a:lstStyle/>
          <a:p>
            <a:pPr algn="l" indent="0" marL="0">
              <a:buNone/>
            </a:pPr>
            <a:r>
              <a:rPr lang="en-US" sz="6200" b="1" dirty="0">
                <a:solidFill>
                  <a:srgbClr val="FFC72C"/>
                </a:solidFill>
                <a:latin typeface="Cambria" pitchFamily="34" charset="0"/>
                <a:ea typeface="Cambria" pitchFamily="34" charset="-122"/>
                <a:cs typeface="Cambria" pitchFamily="34" charset="-120"/>
              </a:rPr>
              <a:t>2 %</a:t>
            </a:r>
            <a:endParaRPr lang="en-US" sz="6200" dirty="0"/>
          </a:p>
        </p:txBody>
      </p:sp>
      <p:sp>
        <p:nvSpPr>
          <p:cNvPr id="6" name="Text 4"/>
          <p:cNvSpPr txBox="1"/>
          <p:nvPr/>
        </p:nvSpPr>
        <p:spPr>
          <a:xfrm>
            <a:off x="859536" y="2670048"/>
            <a:ext cx="3255264" cy="822960"/>
          </a:xfrm>
          <a:prstGeom prst="rect">
            <a:avLst/>
          </a:prstGeom>
          <a:noFill/>
          <a:ln/>
        </p:spPr>
        <p:txBody>
          <a:bodyPr wrap="square" lIns="0" tIns="0" rIns="0" bIns="0" rtlCol="0" anchor="t"/>
          <a:lstStyle/>
          <a:p>
            <a:pPr algn="l" indent="0" marL="0">
              <a:lnSpc>
                <a:spcPct val="108000"/>
              </a:lnSpc>
              <a:buNone/>
            </a:pPr>
            <a:r>
              <a:rPr lang="en-US" sz="1250" dirty="0">
                <a:solidFill>
                  <a:srgbClr val="FFFFFF"/>
                </a:solidFill>
                <a:latin typeface="Calibri" pitchFamily="34" charset="0"/>
                <a:ea typeface="Calibri" pitchFamily="34" charset="-122"/>
                <a:cs typeface="Calibri" pitchFamily="34" charset="-120"/>
              </a:rPr>
              <a:t>symmetrisches Inflationsziel für den Euroraum – mittelfristig, gemessen am harmonisierten Verbraucherpreisindex (HVPI).</a:t>
            </a:r>
            <a:endParaRPr lang="en-US" sz="1250" dirty="0"/>
          </a:p>
        </p:txBody>
      </p:sp>
      <p:sp>
        <p:nvSpPr>
          <p:cNvPr id="7" name="Text 5"/>
          <p:cNvSpPr txBox="1"/>
          <p:nvPr/>
        </p:nvSpPr>
        <p:spPr>
          <a:xfrm>
            <a:off x="859536" y="3584448"/>
            <a:ext cx="3255264" cy="777240"/>
          </a:xfrm>
          <a:prstGeom prst="rect">
            <a:avLst/>
          </a:prstGeom>
          <a:noFill/>
          <a:ln/>
        </p:spPr>
        <p:txBody>
          <a:bodyPr wrap="square" lIns="0" tIns="0" rIns="0" bIns="0" rtlCol="0" anchor="t"/>
          <a:lstStyle/>
          <a:p>
            <a:pPr algn="l" indent="0" marL="0">
              <a:lnSpc>
                <a:spcPct val="105000"/>
              </a:lnSpc>
              <a:buNone/>
            </a:pPr>
            <a:r>
              <a:rPr lang="en-US" sz="1150" i="1" dirty="0">
                <a:solidFill>
                  <a:srgbClr val="C9D5EE"/>
                </a:solidFill>
                <a:latin typeface="Calibri" pitchFamily="34" charset="0"/>
                <a:ea typeface="Calibri" pitchFamily="34" charset="-122"/>
                <a:cs typeface="Calibri" pitchFamily="34" charset="-120"/>
              </a:rPr>
              <a:t>Symmetrisch heißt: Abweichungen nach oben und nach unten sind gleich unerwünscht.</a:t>
            </a:r>
            <a:endParaRPr lang="en-US" sz="1150" dirty="0"/>
          </a:p>
        </p:txBody>
      </p:sp>
      <p:sp>
        <p:nvSpPr>
          <p:cNvPr id="8" name="Shape 6"/>
          <p:cNvSpPr/>
          <p:nvPr/>
        </p:nvSpPr>
        <p:spPr>
          <a:xfrm>
            <a:off x="566928" y="4645152"/>
            <a:ext cx="3840480" cy="1207008"/>
          </a:xfrm>
          <a:prstGeom prst="roundRect">
            <a:avLst>
              <a:gd name="adj" fmla="val 6061"/>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9" name="Text 7"/>
          <p:cNvSpPr txBox="1"/>
          <p:nvPr/>
        </p:nvSpPr>
        <p:spPr>
          <a:xfrm>
            <a:off x="841248" y="4791456"/>
            <a:ext cx="3291840" cy="274320"/>
          </a:xfrm>
          <a:prstGeom prst="rect">
            <a:avLst/>
          </a:prstGeom>
          <a:noFill/>
          <a:ln/>
        </p:spPr>
        <p:txBody>
          <a:bodyPr wrap="square" lIns="0" tIns="0" rIns="0" bIns="0" rtlCol="0" anchor="t"/>
          <a:lstStyle/>
          <a:p>
            <a:pPr algn="l" indent="0" marL="0">
              <a:buNone/>
            </a:pPr>
            <a:r>
              <a:rPr lang="en-US" sz="1450" b="1" dirty="0">
                <a:solidFill>
                  <a:srgbClr val="10224E"/>
                </a:solidFill>
                <a:latin typeface="Cambria" pitchFamily="34" charset="0"/>
                <a:ea typeface="Cambria" pitchFamily="34" charset="-122"/>
                <a:cs typeface="Cambria" pitchFamily="34" charset="-120"/>
              </a:rPr>
              <a:t>Konkret heißt das</a:t>
            </a:r>
            <a:endParaRPr lang="en-US" sz="1450" dirty="0"/>
          </a:p>
        </p:txBody>
      </p:sp>
      <p:sp>
        <p:nvSpPr>
          <p:cNvPr id="10" name="Text 8"/>
          <p:cNvSpPr txBox="1"/>
          <p:nvPr/>
        </p:nvSpPr>
        <p:spPr>
          <a:xfrm>
            <a:off x="841248" y="5102352"/>
            <a:ext cx="3291840" cy="658368"/>
          </a:xfrm>
          <a:prstGeom prst="rect">
            <a:avLst/>
          </a:prstGeom>
          <a:noFill/>
          <a:ln/>
        </p:spPr>
        <p:txBody>
          <a:bodyPr wrap="square" lIns="0" tIns="0" rIns="0" bIns="0" rtlCol="0" anchor="t"/>
          <a:lstStyle/>
          <a:p>
            <a:pPr algn="l" indent="0" marL="0">
              <a:lnSpc>
                <a:spcPct val="108000"/>
              </a:lnSpc>
              <a:buNone/>
            </a:pPr>
            <a:r>
              <a:rPr lang="en-US" sz="1250" dirty="0">
                <a:solidFill>
                  <a:srgbClr val="1A1D26"/>
                </a:solidFill>
                <a:latin typeface="Calibri" pitchFamily="34" charset="0"/>
                <a:ea typeface="Calibri" pitchFamily="34" charset="-122"/>
                <a:cs typeface="Calibri" pitchFamily="34" charset="-120"/>
              </a:rPr>
              <a:t>Ein Warenkorb, der heute 100 € kostet, darf in einem Jahr rund 102 € kosten – nicht 108 €.</a:t>
            </a:r>
            <a:endParaRPr lang="en-US" sz="1250" dirty="0"/>
          </a:p>
        </p:txBody>
      </p:sp>
      <p:sp>
        <p:nvSpPr>
          <p:cNvPr id="11" name="Shape 9"/>
          <p:cNvSpPr/>
          <p:nvPr/>
        </p:nvSpPr>
        <p:spPr>
          <a:xfrm>
            <a:off x="4663440" y="1389888"/>
            <a:ext cx="6958584" cy="2176272"/>
          </a:xfrm>
          <a:prstGeom prst="roundRect">
            <a:avLst>
              <a:gd name="adj" fmla="val 3361"/>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2" name="Text 10"/>
          <p:cNvSpPr txBox="1"/>
          <p:nvPr/>
        </p:nvSpPr>
        <p:spPr>
          <a:xfrm>
            <a:off x="4956048" y="1572768"/>
            <a:ext cx="6373368" cy="292608"/>
          </a:xfrm>
          <a:prstGeom prst="rect">
            <a:avLst/>
          </a:prstGeom>
          <a:noFill/>
          <a:ln/>
        </p:spPr>
        <p:txBody>
          <a:bodyPr wrap="square" lIns="0" tIns="0" rIns="0" bIns="0" rtlCol="0" anchor="t"/>
          <a:lstStyle/>
          <a:p>
            <a:pPr algn="l" indent="0" marL="0">
              <a:buNone/>
            </a:pPr>
            <a:r>
              <a:rPr lang="en-US" sz="1550" b="1" dirty="0">
                <a:solidFill>
                  <a:srgbClr val="10224E"/>
                </a:solidFill>
                <a:latin typeface="Cambria" pitchFamily="34" charset="0"/>
                <a:ea typeface="Cambria" pitchFamily="34" charset="-122"/>
                <a:cs typeface="Cambria" pitchFamily="34" charset="-120"/>
              </a:rPr>
              <a:t>Warum nicht 0 % Inflation?</a:t>
            </a:r>
            <a:endParaRPr lang="en-US" sz="1550" dirty="0"/>
          </a:p>
        </p:txBody>
      </p:sp>
      <p:sp>
        <p:nvSpPr>
          <p:cNvPr id="13" name="Text 11"/>
          <p:cNvSpPr txBox="1"/>
          <p:nvPr/>
        </p:nvSpPr>
        <p:spPr>
          <a:xfrm>
            <a:off x="4956048" y="1956816"/>
            <a:ext cx="6373368" cy="1463040"/>
          </a:xfrm>
          <a:prstGeom prst="rect">
            <a:avLst/>
          </a:prstGeom>
          <a:noFill/>
          <a:ln/>
        </p:spPr>
        <p:txBody>
          <a:bodyPr wrap="square" lIns="0" tIns="0" rIns="0" bIns="0" rtlCol="0" anchor="t"/>
          <a:lstStyle/>
          <a:p>
            <a:pPr algn="l" marL="177800" indent="-177800">
              <a:lnSpc>
                <a:spcPct val="108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Sicherheitsabstand zur Deflation: Fallende Preise lassen Käufe aufschieben – die Wirtschaft schrumpft.</a:t>
            </a:r>
            <a:endParaRPr lang="en-US" sz="1250" dirty="0"/>
          </a:p>
          <a:p>
            <a:pPr algn="l" marL="177800" indent="-177800">
              <a:lnSpc>
                <a:spcPct val="108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Der Preisindex misst leicht zu hoch, ein kleiner Puffer gleicht das aus.</a:t>
            </a:r>
            <a:endParaRPr lang="en-US" sz="1250" dirty="0"/>
          </a:p>
          <a:p>
            <a:pPr algn="l" marL="177800" indent="-177800">
              <a:lnSpc>
                <a:spcPct val="108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Nur wer nicht schon bei null steht, kann die Zinsen im Abschwung noch senken.</a:t>
            </a:r>
            <a:endParaRPr lang="en-US" sz="1250" dirty="0"/>
          </a:p>
        </p:txBody>
      </p:sp>
      <p:sp>
        <p:nvSpPr>
          <p:cNvPr id="14" name="Shape 12"/>
          <p:cNvSpPr/>
          <p:nvPr/>
        </p:nvSpPr>
        <p:spPr>
          <a:xfrm>
            <a:off x="4663440" y="3749040"/>
            <a:ext cx="6958584" cy="2103120"/>
          </a:xfrm>
          <a:prstGeom prst="roundRect">
            <a:avLst>
              <a:gd name="adj" fmla="val 3478"/>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5" name="Text 13"/>
          <p:cNvSpPr txBox="1"/>
          <p:nvPr/>
        </p:nvSpPr>
        <p:spPr>
          <a:xfrm>
            <a:off x="4956048" y="3931920"/>
            <a:ext cx="6373368" cy="292608"/>
          </a:xfrm>
          <a:prstGeom prst="rect">
            <a:avLst/>
          </a:prstGeom>
          <a:noFill/>
          <a:ln/>
        </p:spPr>
        <p:txBody>
          <a:bodyPr wrap="square" lIns="0" tIns="0" rIns="0" bIns="0" rtlCol="0" anchor="t"/>
          <a:lstStyle/>
          <a:p>
            <a:pPr algn="l" indent="0" marL="0">
              <a:buNone/>
            </a:pPr>
            <a:r>
              <a:rPr lang="en-US" sz="1550" b="1" dirty="0">
                <a:solidFill>
                  <a:srgbClr val="10224E"/>
                </a:solidFill>
                <a:latin typeface="Cambria" pitchFamily="34" charset="0"/>
                <a:ea typeface="Cambria" pitchFamily="34" charset="-122"/>
                <a:cs typeface="Cambria" pitchFamily="34" charset="-120"/>
              </a:rPr>
              <a:t>Vorrang und Nachrang (Art. 127 AEUV)</a:t>
            </a:r>
            <a:endParaRPr lang="en-US" sz="1550" dirty="0"/>
          </a:p>
        </p:txBody>
      </p:sp>
      <p:sp>
        <p:nvSpPr>
          <p:cNvPr id="16" name="Text 14"/>
          <p:cNvSpPr txBox="1"/>
          <p:nvPr/>
        </p:nvSpPr>
        <p:spPr>
          <a:xfrm>
            <a:off x="4956048" y="4279392"/>
            <a:ext cx="6373368" cy="868680"/>
          </a:xfrm>
          <a:prstGeom prst="rect">
            <a:avLst/>
          </a:prstGeom>
          <a:noFill/>
          <a:ln/>
        </p:spPr>
        <p:txBody>
          <a:bodyPr wrap="square" lIns="0" tIns="0" rIns="0" bIns="0" rtlCol="0" anchor="t"/>
          <a:lstStyle/>
          <a:p>
            <a:pPr algn="l" indent="0" marL="0">
              <a:lnSpc>
                <a:spcPct val="108000"/>
              </a:lnSpc>
              <a:buNone/>
            </a:pPr>
            <a:r>
              <a:rPr lang="en-US" sz="1250" dirty="0">
                <a:solidFill>
                  <a:srgbClr val="1A1D26"/>
                </a:solidFill>
                <a:latin typeface="Calibri" pitchFamily="34" charset="0"/>
                <a:ea typeface="Calibri" pitchFamily="34" charset="-122"/>
                <a:cs typeface="Calibri" pitchFamily="34" charset="-120"/>
              </a:rPr>
              <a:t>Vorrangiges Ziel ist die Preisstabilität. Nur soweit dieses Ziel nicht beeinträchtigt wird, unterstützt die EZB die allgemeine Wirtschaftspolitik der EU – also Wachstum, hohe Beschäftigung und sozialen Zusammenhalt.</a:t>
            </a:r>
            <a:endParaRPr lang="en-US" sz="1250" dirty="0"/>
          </a:p>
        </p:txBody>
      </p:sp>
      <p:sp>
        <p:nvSpPr>
          <p:cNvPr id="17" name="Text 15"/>
          <p:cNvSpPr txBox="1"/>
          <p:nvPr/>
        </p:nvSpPr>
        <p:spPr>
          <a:xfrm>
            <a:off x="4956048" y="5138928"/>
            <a:ext cx="6373368" cy="566928"/>
          </a:xfrm>
          <a:prstGeom prst="rect">
            <a:avLst/>
          </a:prstGeom>
          <a:noFill/>
          <a:ln/>
        </p:spPr>
        <p:txBody>
          <a:bodyPr wrap="square" lIns="0" tIns="0" rIns="0" bIns="0" rtlCol="0" anchor="t"/>
          <a:lstStyle/>
          <a:p>
            <a:pPr algn="l" indent="0" marL="0">
              <a:lnSpc>
                <a:spcPct val="105000"/>
              </a:lnSpc>
              <a:buNone/>
            </a:pPr>
            <a:r>
              <a:rPr lang="en-US" sz="1150" i="1" dirty="0">
                <a:solidFill>
                  <a:srgbClr val="5A6274"/>
                </a:solidFill>
                <a:latin typeface="Calibri" pitchFamily="34" charset="0"/>
                <a:ea typeface="Calibri" pitchFamily="34" charset="-122"/>
                <a:cs typeface="Calibri" pitchFamily="34" charset="-120"/>
              </a:rPr>
              <a:t>Diese klare Rangfolge ist eine bewusste Entscheidung: Die US-Notenbank Fed verfolgt stabile Preise und hohe Beschäftigung dagegen gleichrangig.</a:t>
            </a:r>
            <a:endParaRPr lang="en-US" sz="1150" dirty="0"/>
          </a:p>
        </p:txBody>
      </p:sp>
      <p:sp>
        <p:nvSpPr>
          <p:cNvPr id="18" name="Text 16"/>
          <p:cNvSpPr txBox="1"/>
          <p:nvPr/>
        </p:nvSpPr>
        <p:spPr>
          <a:xfrm>
            <a:off x="566928" y="6364224"/>
            <a:ext cx="5486400" cy="256032"/>
          </a:xfrm>
          <a:prstGeom prst="rect">
            <a:avLst/>
          </a:prstGeom>
          <a:noFill/>
          <a:ln/>
        </p:spPr>
        <p:txBody>
          <a:bodyPr wrap="square" lIns="0" tIns="0" rIns="0" bIns="0" rtlCol="0" anchor="t"/>
          <a:lstStyle/>
          <a:p>
            <a:pPr algn="l" indent="0" marL="0">
              <a:buNone/>
            </a:pPr>
            <a:r>
              <a:rPr lang="en-US" sz="950" dirty="0">
                <a:solidFill>
                  <a:srgbClr val="5A6274"/>
                </a:solidFill>
                <a:latin typeface="Calibri" pitchFamily="34" charset="0"/>
                <a:ea typeface="Calibri" pitchFamily="34" charset="-122"/>
                <a:cs typeface="Calibri" pitchFamily="34" charset="-120"/>
              </a:rPr>
              <a:t>Die Geldpolitik der EZB</a:t>
            </a:r>
            <a:endParaRPr lang="en-US" sz="950" dirty="0"/>
          </a:p>
        </p:txBody>
      </p:sp>
      <p:sp>
        <p:nvSpPr>
          <p:cNvPr id="19" name="Text 17"/>
          <p:cNvSpPr txBox="1"/>
          <p:nvPr/>
        </p:nvSpPr>
        <p:spPr>
          <a:xfrm>
            <a:off x="7967167" y="6364224"/>
            <a:ext cx="3657600" cy="256032"/>
          </a:xfrm>
          <a:prstGeom prst="rect">
            <a:avLst/>
          </a:prstGeom>
          <a:noFill/>
          <a:ln/>
        </p:spPr>
        <p:txBody>
          <a:bodyPr wrap="square" lIns="0" tIns="0" rIns="0" bIns="0" rtlCol="0" anchor="t"/>
          <a:lstStyle/>
          <a:p>
            <a:pPr algn="r" indent="0" marL="0">
              <a:buNone/>
            </a:pPr>
            <a:r>
              <a:rPr lang="en-US" sz="950" dirty="0">
                <a:solidFill>
                  <a:srgbClr val="5A6274"/>
                </a:solidFill>
                <a:latin typeface="Calibri" pitchFamily="34" charset="0"/>
                <a:ea typeface="Calibri" pitchFamily="34" charset="-122"/>
                <a:cs typeface="Calibri" pitchFamily="34" charset="-120"/>
              </a:rPr>
              <a:t>Folie 5 von 17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algn="l" indent="0" marL="0">
              <a:buNone/>
            </a:pPr>
            <a:r>
              <a:rPr lang="en-US" sz="1100" b="1" spc="140" kern="0" dirty="0">
                <a:solidFill>
                  <a:srgbClr val="9A6F00"/>
                </a:solidFill>
                <a:latin typeface="Calibri" pitchFamily="34" charset="0"/>
                <a:ea typeface="Calibri" pitchFamily="34" charset="-122"/>
                <a:cs typeface="Calibri" pitchFamily="34" charset="-120"/>
              </a:rPr>
              <a:t>TEIL 2 · STRATEGIE UND INSTRUMENTE</a:t>
            </a:r>
            <a:endParaRPr lang="en-US" sz="1100" dirty="0"/>
          </a:p>
        </p:txBody>
      </p:sp>
      <p:sp>
        <p:nvSpPr>
          <p:cNvPr id="3" name="Text 1"/>
          <p:cNvSpPr txBox="1"/>
          <p:nvPr/>
        </p:nvSpPr>
        <p:spPr>
          <a:xfrm>
            <a:off x="566928" y="566928"/>
            <a:ext cx="11057839" cy="676656"/>
          </a:xfrm>
          <a:prstGeom prst="rect">
            <a:avLst/>
          </a:prstGeom>
          <a:noFill/>
          <a:ln/>
        </p:spPr>
        <p:txBody>
          <a:bodyPr wrap="square" lIns="0" tIns="0" rIns="0" bIns="0" rtlCol="0" anchor="ctr"/>
          <a:lstStyle/>
          <a:p>
            <a:pPr algn="l" indent="0" marL="0">
              <a:buNone/>
            </a:pPr>
            <a:r>
              <a:rPr lang="en-US" sz="3000" b="1" dirty="0">
                <a:solidFill>
                  <a:srgbClr val="10224E"/>
                </a:solidFill>
                <a:latin typeface="Cambria" pitchFamily="34" charset="0"/>
                <a:ea typeface="Cambria" pitchFamily="34" charset="-122"/>
                <a:cs typeface="Cambria" pitchFamily="34" charset="-120"/>
              </a:rPr>
              <a:t>Die Strategie: Wie die EZB entscheidet</a:t>
            </a:r>
            <a:endParaRPr lang="en-US" sz="3000" dirty="0"/>
          </a:p>
        </p:txBody>
      </p:sp>
      <p:sp>
        <p:nvSpPr>
          <p:cNvPr id="4" name="Shape 2"/>
          <p:cNvSpPr/>
          <p:nvPr/>
        </p:nvSpPr>
        <p:spPr>
          <a:xfrm>
            <a:off x="566928" y="1389888"/>
            <a:ext cx="11057839" cy="731520"/>
          </a:xfrm>
          <a:prstGeom prst="roundRect">
            <a:avLst>
              <a:gd name="adj" fmla="val 10000"/>
            </a:avLst>
          </a:prstGeom>
          <a:solidFill>
            <a:srgbClr val="10224E"/>
          </a:solidFill>
          <a:ln w="12700">
            <a:solidFill>
              <a:srgbClr val="10224E"/>
            </a:solidFill>
            <a:prstDash val="solid"/>
          </a:ln>
          <a:effectLst>
            <a:outerShdw sx="100000" sy="100000" kx="0" ky="0" algn="bl" rotWithShape="0" blurRad="88900" dist="12700" dir="5400000">
              <a:srgbClr val="8A96AD">
                <a:alpha val="22000"/>
              </a:srgbClr>
            </a:outerShdw>
          </a:effectLst>
        </p:spPr>
      </p:sp>
      <p:sp>
        <p:nvSpPr>
          <p:cNvPr id="5" name="Text 3"/>
          <p:cNvSpPr txBox="1"/>
          <p:nvPr/>
        </p:nvSpPr>
        <p:spPr>
          <a:xfrm>
            <a:off x="886968" y="1389888"/>
            <a:ext cx="10417759" cy="731520"/>
          </a:xfrm>
          <a:prstGeom prst="rect">
            <a:avLst/>
          </a:prstGeom>
          <a:noFill/>
          <a:ln/>
        </p:spPr>
        <p:txBody>
          <a:bodyPr wrap="square" lIns="0" tIns="0" rIns="0" bIns="0" rtlCol="0" anchor="ctr"/>
          <a:lstStyle/>
          <a:p>
            <a:pPr algn="l" indent="0" marL="0">
              <a:buNone/>
            </a:pPr>
            <a:r>
              <a:rPr lang="en-US" sz="1600" b="1" dirty="0">
                <a:solidFill>
                  <a:srgbClr val="FFFFFF"/>
                </a:solidFill>
                <a:latin typeface="Cambria" pitchFamily="34" charset="0"/>
                <a:ea typeface="Cambria" pitchFamily="34" charset="-122"/>
                <a:cs typeface="Cambria" pitchFamily="34" charset="-120"/>
              </a:rPr>
              <a:t>Vorrangiges Ziel: Preisstabilität – rund 2 % Inflation auf mittlere Sicht</a:t>
            </a:r>
            <a:endParaRPr lang="en-US" sz="1600" dirty="0"/>
          </a:p>
        </p:txBody>
      </p:sp>
      <p:sp>
        <p:nvSpPr>
          <p:cNvPr id="6" name="Shape 4"/>
          <p:cNvSpPr/>
          <p:nvPr/>
        </p:nvSpPr>
        <p:spPr>
          <a:xfrm>
            <a:off x="566928" y="2377440"/>
            <a:ext cx="5413248" cy="2331720"/>
          </a:xfrm>
          <a:prstGeom prst="roundRect">
            <a:avLst>
              <a:gd name="adj" fmla="val 3137"/>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7" name="Shape 5"/>
          <p:cNvSpPr/>
          <p:nvPr/>
        </p:nvSpPr>
        <p:spPr>
          <a:xfrm>
            <a:off x="841248" y="2615184"/>
            <a:ext cx="493776" cy="493776"/>
          </a:xfrm>
          <a:prstGeom prst="ellipse">
            <a:avLst/>
          </a:prstGeom>
          <a:solidFill>
            <a:srgbClr val="FFC72C"/>
          </a:solidFill>
          <a:ln w="12700">
            <a:solidFill>
              <a:srgbClr val="FFC72C"/>
            </a:solidFill>
            <a:prstDash val="solid"/>
          </a:ln>
        </p:spPr>
      </p:sp>
      <p:sp>
        <p:nvSpPr>
          <p:cNvPr id="8" name="Text 6"/>
          <p:cNvSpPr txBox="1"/>
          <p:nvPr/>
        </p:nvSpPr>
        <p:spPr>
          <a:xfrm>
            <a:off x="841248" y="2615184"/>
            <a:ext cx="493776" cy="493776"/>
          </a:xfrm>
          <a:prstGeom prst="rect">
            <a:avLst/>
          </a:prstGeom>
          <a:noFill/>
          <a:ln/>
        </p:spPr>
        <p:txBody>
          <a:bodyPr wrap="square" lIns="0" tIns="0" rIns="0" bIns="0" rtlCol="0" anchor="ctr"/>
          <a:lstStyle/>
          <a:p>
            <a:pPr algn="ctr" indent="0" marL="0">
              <a:buNone/>
            </a:pPr>
            <a:r>
              <a:rPr lang="en-US" sz="1600" b="1" dirty="0">
                <a:solidFill>
                  <a:srgbClr val="10224E"/>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481328" y="2615184"/>
            <a:ext cx="4224528" cy="219456"/>
          </a:xfrm>
          <a:prstGeom prst="rect">
            <a:avLst/>
          </a:prstGeom>
          <a:noFill/>
          <a:ln/>
        </p:spPr>
        <p:txBody>
          <a:bodyPr wrap="square" lIns="0" tIns="0" rIns="0" bIns="0" rtlCol="0" anchor="t"/>
          <a:lstStyle/>
          <a:p>
            <a:pPr algn="l" indent="0" marL="0">
              <a:buNone/>
            </a:pPr>
            <a:r>
              <a:rPr lang="en-US" sz="1100" b="1" spc="120" kern="0" dirty="0">
                <a:solidFill>
                  <a:srgbClr val="9A6F00"/>
                </a:solidFill>
                <a:latin typeface="Calibri" pitchFamily="34" charset="0"/>
                <a:ea typeface="Calibri" pitchFamily="34" charset="-122"/>
                <a:cs typeface="Calibri" pitchFamily="34" charset="-120"/>
              </a:rPr>
              <a:t>Säule 1</a:t>
            </a:r>
            <a:endParaRPr lang="en-US" sz="1100" dirty="0"/>
          </a:p>
        </p:txBody>
      </p:sp>
      <p:sp>
        <p:nvSpPr>
          <p:cNvPr id="10" name="Text 8"/>
          <p:cNvSpPr txBox="1"/>
          <p:nvPr/>
        </p:nvSpPr>
        <p:spPr>
          <a:xfrm>
            <a:off x="1481328" y="2834640"/>
            <a:ext cx="4224528" cy="292608"/>
          </a:xfrm>
          <a:prstGeom prst="rect">
            <a:avLst/>
          </a:prstGeom>
          <a:noFill/>
          <a:ln/>
        </p:spPr>
        <p:txBody>
          <a:bodyPr wrap="square" lIns="0" tIns="0" rIns="0" bIns="0" rtlCol="0" anchor="t"/>
          <a:lstStyle/>
          <a:p>
            <a:pPr algn="l" indent="0" marL="0">
              <a:buNone/>
            </a:pPr>
            <a:r>
              <a:rPr lang="en-US" sz="1550" b="1" dirty="0">
                <a:solidFill>
                  <a:srgbClr val="10224E"/>
                </a:solidFill>
                <a:latin typeface="Cambria" pitchFamily="34" charset="0"/>
                <a:ea typeface="Cambria" pitchFamily="34" charset="-122"/>
                <a:cs typeface="Cambria" pitchFamily="34" charset="-120"/>
              </a:rPr>
              <a:t>Wirtschaftliche Analyse</a:t>
            </a:r>
            <a:endParaRPr lang="en-US" sz="1550" dirty="0"/>
          </a:p>
        </p:txBody>
      </p:sp>
      <p:sp>
        <p:nvSpPr>
          <p:cNvPr id="11" name="Text 9"/>
          <p:cNvSpPr txBox="1"/>
          <p:nvPr/>
        </p:nvSpPr>
        <p:spPr>
          <a:xfrm>
            <a:off x="877824" y="3337560"/>
            <a:ext cx="4791456" cy="868680"/>
          </a:xfrm>
          <a:prstGeom prst="rect">
            <a:avLst/>
          </a:prstGeom>
          <a:noFill/>
          <a:ln/>
        </p:spPr>
        <p:txBody>
          <a:bodyPr wrap="square" lIns="0" tIns="0" rIns="0" bIns="0" rtlCol="0" anchor="t"/>
          <a:lstStyle/>
          <a:p>
            <a:pPr algn="l" marL="177800" indent="-177800">
              <a:lnSpc>
                <a:spcPct val="105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Konjunktur, Aufträge und Arbeitsmarkt</a:t>
            </a:r>
            <a:endParaRPr lang="en-US" sz="1250" dirty="0"/>
          </a:p>
          <a:p>
            <a:pPr algn="l" marL="177800" indent="-177800">
              <a:lnSpc>
                <a:spcPct val="105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Löhne, Gewinne und Unternehmenskosten</a:t>
            </a:r>
            <a:endParaRPr lang="en-US" sz="1250" dirty="0"/>
          </a:p>
          <a:p>
            <a:pPr algn="l" marL="177800" indent="-177800">
              <a:lnSpc>
                <a:spcPct val="105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Energie- und Rohstoffpreise, Wechselkurs</a:t>
            </a:r>
            <a:endParaRPr lang="en-US" sz="1250" dirty="0"/>
          </a:p>
        </p:txBody>
      </p:sp>
      <p:sp>
        <p:nvSpPr>
          <p:cNvPr id="12" name="Text 10"/>
          <p:cNvSpPr txBox="1"/>
          <p:nvPr/>
        </p:nvSpPr>
        <p:spPr>
          <a:xfrm>
            <a:off x="877824" y="4224528"/>
            <a:ext cx="4791456" cy="384048"/>
          </a:xfrm>
          <a:prstGeom prst="rect">
            <a:avLst/>
          </a:prstGeom>
          <a:noFill/>
          <a:ln/>
        </p:spPr>
        <p:txBody>
          <a:bodyPr wrap="square" lIns="0" tIns="0" rIns="0" bIns="0" rtlCol="0" anchor="t"/>
          <a:lstStyle/>
          <a:p>
            <a:pPr algn="l" indent="0" marL="0">
              <a:buNone/>
            </a:pPr>
            <a:r>
              <a:rPr lang="en-US" sz="1150" i="1" dirty="0">
                <a:solidFill>
                  <a:srgbClr val="5A6274"/>
                </a:solidFill>
                <a:latin typeface="Calibri" pitchFamily="34" charset="0"/>
                <a:ea typeface="Calibri" pitchFamily="34" charset="-122"/>
                <a:cs typeface="Calibri" pitchFamily="34" charset="-120"/>
              </a:rPr>
              <a:t>Blick vor allem auf kurz- und mittelfristige Risiken für die Preise.</a:t>
            </a:r>
            <a:endParaRPr lang="en-US" sz="1150" dirty="0"/>
          </a:p>
        </p:txBody>
      </p:sp>
      <p:sp>
        <p:nvSpPr>
          <p:cNvPr id="13" name="Shape 11"/>
          <p:cNvSpPr/>
          <p:nvPr/>
        </p:nvSpPr>
        <p:spPr>
          <a:xfrm>
            <a:off x="6208776" y="2377440"/>
            <a:ext cx="5413248" cy="2331720"/>
          </a:xfrm>
          <a:prstGeom prst="roundRect">
            <a:avLst>
              <a:gd name="adj" fmla="val 3137"/>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4" name="Shape 12"/>
          <p:cNvSpPr/>
          <p:nvPr/>
        </p:nvSpPr>
        <p:spPr>
          <a:xfrm>
            <a:off x="6483096" y="2615184"/>
            <a:ext cx="493776" cy="493776"/>
          </a:xfrm>
          <a:prstGeom prst="ellipse">
            <a:avLst/>
          </a:prstGeom>
          <a:solidFill>
            <a:srgbClr val="FFC72C"/>
          </a:solidFill>
          <a:ln w="12700">
            <a:solidFill>
              <a:srgbClr val="FFC72C"/>
            </a:solidFill>
            <a:prstDash val="solid"/>
          </a:ln>
        </p:spPr>
      </p:sp>
      <p:sp>
        <p:nvSpPr>
          <p:cNvPr id="15" name="Text 13"/>
          <p:cNvSpPr txBox="1"/>
          <p:nvPr/>
        </p:nvSpPr>
        <p:spPr>
          <a:xfrm>
            <a:off x="6483096" y="2615184"/>
            <a:ext cx="493776" cy="493776"/>
          </a:xfrm>
          <a:prstGeom prst="rect">
            <a:avLst/>
          </a:prstGeom>
          <a:noFill/>
          <a:ln/>
        </p:spPr>
        <p:txBody>
          <a:bodyPr wrap="square" lIns="0" tIns="0" rIns="0" bIns="0" rtlCol="0" anchor="ctr"/>
          <a:lstStyle/>
          <a:p>
            <a:pPr algn="ctr" indent="0" marL="0">
              <a:buNone/>
            </a:pPr>
            <a:r>
              <a:rPr lang="en-US" sz="1600" b="1" dirty="0">
                <a:solidFill>
                  <a:srgbClr val="10224E"/>
                </a:solidFill>
                <a:latin typeface="Cambria" pitchFamily="34" charset="0"/>
                <a:ea typeface="Cambria" pitchFamily="34" charset="-122"/>
                <a:cs typeface="Cambria" pitchFamily="34" charset="-120"/>
              </a:rPr>
              <a:t>2</a:t>
            </a:r>
            <a:endParaRPr lang="en-US" sz="1600" dirty="0"/>
          </a:p>
        </p:txBody>
      </p:sp>
      <p:sp>
        <p:nvSpPr>
          <p:cNvPr id="16" name="Text 14"/>
          <p:cNvSpPr txBox="1"/>
          <p:nvPr/>
        </p:nvSpPr>
        <p:spPr>
          <a:xfrm>
            <a:off x="7123176" y="2615184"/>
            <a:ext cx="4224528" cy="219456"/>
          </a:xfrm>
          <a:prstGeom prst="rect">
            <a:avLst/>
          </a:prstGeom>
          <a:noFill/>
          <a:ln/>
        </p:spPr>
        <p:txBody>
          <a:bodyPr wrap="square" lIns="0" tIns="0" rIns="0" bIns="0" rtlCol="0" anchor="t"/>
          <a:lstStyle/>
          <a:p>
            <a:pPr algn="l" indent="0" marL="0">
              <a:buNone/>
            </a:pPr>
            <a:r>
              <a:rPr lang="en-US" sz="1100" b="1" spc="120" kern="0" dirty="0">
                <a:solidFill>
                  <a:srgbClr val="9A6F00"/>
                </a:solidFill>
                <a:latin typeface="Calibri" pitchFamily="34" charset="0"/>
                <a:ea typeface="Calibri" pitchFamily="34" charset="-122"/>
                <a:cs typeface="Calibri" pitchFamily="34" charset="-120"/>
              </a:rPr>
              <a:t>Säule 2</a:t>
            </a:r>
            <a:endParaRPr lang="en-US" sz="1100" dirty="0"/>
          </a:p>
        </p:txBody>
      </p:sp>
      <p:sp>
        <p:nvSpPr>
          <p:cNvPr id="17" name="Text 15"/>
          <p:cNvSpPr txBox="1"/>
          <p:nvPr/>
        </p:nvSpPr>
        <p:spPr>
          <a:xfrm>
            <a:off x="7123176" y="2834640"/>
            <a:ext cx="4224528" cy="292608"/>
          </a:xfrm>
          <a:prstGeom prst="rect">
            <a:avLst/>
          </a:prstGeom>
          <a:noFill/>
          <a:ln/>
        </p:spPr>
        <p:txBody>
          <a:bodyPr wrap="square" lIns="0" tIns="0" rIns="0" bIns="0" rtlCol="0" anchor="t"/>
          <a:lstStyle/>
          <a:p>
            <a:pPr algn="l" indent="0" marL="0">
              <a:buNone/>
            </a:pPr>
            <a:r>
              <a:rPr lang="en-US" sz="1550" b="1" dirty="0">
                <a:solidFill>
                  <a:srgbClr val="10224E"/>
                </a:solidFill>
                <a:latin typeface="Cambria" pitchFamily="34" charset="0"/>
                <a:ea typeface="Cambria" pitchFamily="34" charset="-122"/>
                <a:cs typeface="Cambria" pitchFamily="34" charset="-120"/>
              </a:rPr>
              <a:t>Monetäre und finanzielle Analyse</a:t>
            </a:r>
            <a:endParaRPr lang="en-US" sz="1550" dirty="0"/>
          </a:p>
        </p:txBody>
      </p:sp>
      <p:sp>
        <p:nvSpPr>
          <p:cNvPr id="18" name="Text 16"/>
          <p:cNvSpPr txBox="1"/>
          <p:nvPr/>
        </p:nvSpPr>
        <p:spPr>
          <a:xfrm>
            <a:off x="6519672" y="3337560"/>
            <a:ext cx="4791456" cy="868680"/>
          </a:xfrm>
          <a:prstGeom prst="rect">
            <a:avLst/>
          </a:prstGeom>
          <a:noFill/>
          <a:ln/>
        </p:spPr>
        <p:txBody>
          <a:bodyPr wrap="square" lIns="0" tIns="0" rIns="0" bIns="0" rtlCol="0" anchor="t"/>
          <a:lstStyle/>
          <a:p>
            <a:pPr algn="l" marL="177800" indent="-177800">
              <a:lnSpc>
                <a:spcPct val="105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Entwicklung der Geldmengen M1, M2 und M3</a:t>
            </a:r>
            <a:endParaRPr lang="en-US" sz="1250" dirty="0"/>
          </a:p>
          <a:p>
            <a:pPr algn="l" marL="177800" indent="-177800">
              <a:lnSpc>
                <a:spcPct val="105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Kreditvergabe der Geschäftsbanken</a:t>
            </a:r>
            <a:endParaRPr lang="en-US" sz="1250" dirty="0"/>
          </a:p>
          <a:p>
            <a:pPr algn="l" marL="177800" indent="-177800">
              <a:lnSpc>
                <a:spcPct val="105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Lage an den Finanz- und Immobilienmärkten</a:t>
            </a:r>
            <a:endParaRPr lang="en-US" sz="1250" dirty="0"/>
          </a:p>
        </p:txBody>
      </p:sp>
      <p:sp>
        <p:nvSpPr>
          <p:cNvPr id="19" name="Text 17"/>
          <p:cNvSpPr txBox="1"/>
          <p:nvPr/>
        </p:nvSpPr>
        <p:spPr>
          <a:xfrm>
            <a:off x="6519672" y="4224528"/>
            <a:ext cx="4791456" cy="384048"/>
          </a:xfrm>
          <a:prstGeom prst="rect">
            <a:avLst/>
          </a:prstGeom>
          <a:noFill/>
          <a:ln/>
        </p:spPr>
        <p:txBody>
          <a:bodyPr wrap="square" lIns="0" tIns="0" rIns="0" bIns="0" rtlCol="0" anchor="t"/>
          <a:lstStyle/>
          <a:p>
            <a:pPr algn="l" indent="0" marL="0">
              <a:buNone/>
            </a:pPr>
            <a:r>
              <a:rPr lang="en-US" sz="1150" i="1" dirty="0">
                <a:solidFill>
                  <a:srgbClr val="5A6274"/>
                </a:solidFill>
                <a:latin typeface="Calibri" pitchFamily="34" charset="0"/>
                <a:ea typeface="Calibri" pitchFamily="34" charset="-122"/>
                <a:cs typeface="Calibri" pitchFamily="34" charset="-120"/>
              </a:rPr>
              <a:t>Blick vor allem auf längerfristige Inflationsrisiken.</a:t>
            </a:r>
            <a:endParaRPr lang="en-US" sz="1150" dirty="0"/>
          </a:p>
        </p:txBody>
      </p:sp>
      <p:sp>
        <p:nvSpPr>
          <p:cNvPr id="20" name="Text 18"/>
          <p:cNvSpPr txBox="1"/>
          <p:nvPr/>
        </p:nvSpPr>
        <p:spPr>
          <a:xfrm>
            <a:off x="3044952" y="4773168"/>
            <a:ext cx="457200" cy="256032"/>
          </a:xfrm>
          <a:prstGeom prst="rect">
            <a:avLst/>
          </a:prstGeom>
          <a:noFill/>
          <a:ln/>
        </p:spPr>
        <p:txBody>
          <a:bodyPr wrap="square" lIns="0" tIns="0" rIns="0" bIns="0" rtlCol="0" anchor="t"/>
          <a:lstStyle/>
          <a:p>
            <a:pPr algn="ctr" indent="0" marL="0">
              <a:buNone/>
            </a:pPr>
            <a:r>
              <a:rPr lang="en-US" sz="1400" dirty="0">
                <a:solidFill>
                  <a:srgbClr val="FFC72C"/>
                </a:solidFill>
                <a:latin typeface="Calibri" pitchFamily="34" charset="0"/>
                <a:ea typeface="Calibri" pitchFamily="34" charset="-122"/>
                <a:cs typeface="Calibri" pitchFamily="34" charset="-120"/>
              </a:rPr>
              <a:t>▼</a:t>
            </a:r>
            <a:endParaRPr lang="en-US" sz="1400" dirty="0"/>
          </a:p>
        </p:txBody>
      </p:sp>
      <p:sp>
        <p:nvSpPr>
          <p:cNvPr id="21" name="Text 19"/>
          <p:cNvSpPr txBox="1"/>
          <p:nvPr/>
        </p:nvSpPr>
        <p:spPr>
          <a:xfrm>
            <a:off x="8686800" y="4773168"/>
            <a:ext cx="457200" cy="256032"/>
          </a:xfrm>
          <a:prstGeom prst="rect">
            <a:avLst/>
          </a:prstGeom>
          <a:noFill/>
          <a:ln/>
        </p:spPr>
        <p:txBody>
          <a:bodyPr wrap="square" lIns="0" tIns="0" rIns="0" bIns="0" rtlCol="0" anchor="t"/>
          <a:lstStyle/>
          <a:p>
            <a:pPr algn="ctr" indent="0" marL="0">
              <a:buNone/>
            </a:pPr>
            <a:r>
              <a:rPr lang="en-US" sz="1400" dirty="0">
                <a:solidFill>
                  <a:srgbClr val="FFC72C"/>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566928" y="5074920"/>
            <a:ext cx="11057839" cy="914400"/>
          </a:xfrm>
          <a:prstGeom prst="roundRect">
            <a:avLst>
              <a:gd name="adj" fmla="val 8000"/>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23" name="Text 21"/>
          <p:cNvSpPr txBox="1"/>
          <p:nvPr/>
        </p:nvSpPr>
        <p:spPr>
          <a:xfrm>
            <a:off x="886968" y="5193792"/>
            <a:ext cx="10417759" cy="310896"/>
          </a:xfrm>
          <a:prstGeom prst="rect">
            <a:avLst/>
          </a:prstGeom>
          <a:noFill/>
          <a:ln/>
        </p:spPr>
        <p:txBody>
          <a:bodyPr wrap="square" lIns="0" tIns="0" rIns="0" bIns="0" rtlCol="0" anchor="t"/>
          <a:lstStyle/>
          <a:p>
            <a:pPr algn="l" indent="0" marL="0">
              <a:buNone/>
            </a:pPr>
            <a:r>
              <a:rPr lang="en-US" sz="1500" b="1" dirty="0">
                <a:solidFill>
                  <a:srgbClr val="10224E"/>
                </a:solidFill>
                <a:latin typeface="Cambria" pitchFamily="34" charset="0"/>
                <a:ea typeface="Cambria" pitchFamily="34" charset="-122"/>
                <a:cs typeface="Cambria" pitchFamily="34" charset="-120"/>
              </a:rPr>
              <a:t>Gesamtbeurteilung im EZB-Rat → Entscheidung über die Leitzinsen</a:t>
            </a:r>
            <a:endParaRPr lang="en-US" sz="1500" dirty="0"/>
          </a:p>
        </p:txBody>
      </p:sp>
      <p:sp>
        <p:nvSpPr>
          <p:cNvPr id="24" name="Text 22"/>
          <p:cNvSpPr txBox="1"/>
          <p:nvPr/>
        </p:nvSpPr>
        <p:spPr>
          <a:xfrm>
            <a:off x="886968" y="5504688"/>
            <a:ext cx="10417759" cy="384048"/>
          </a:xfrm>
          <a:prstGeom prst="rect">
            <a:avLst/>
          </a:prstGeom>
          <a:noFill/>
          <a:ln/>
        </p:spPr>
        <p:txBody>
          <a:bodyPr wrap="square" lIns="0" tIns="0" rIns="0" bIns="0" rtlCol="0" anchor="t"/>
          <a:lstStyle/>
          <a:p>
            <a:pPr algn="l" indent="0" marL="0">
              <a:buNone/>
            </a:pPr>
            <a:r>
              <a:rPr lang="en-US" sz="1250" dirty="0">
                <a:solidFill>
                  <a:srgbClr val="1A1D26"/>
                </a:solidFill>
                <a:latin typeface="Calibri" pitchFamily="34" charset="0"/>
                <a:ea typeface="Calibri" pitchFamily="34" charset="-122"/>
                <a:cs typeface="Calibri" pitchFamily="34" charset="-120"/>
              </a:rPr>
              <a:t>Entschieden wird datenabhängig von Sitzung zu Sitzung. Maßstab ist nicht der Preis von heute, sondern die erwartete Inflation in ein bis zwei Jahren.</a:t>
            </a:r>
            <a:endParaRPr lang="en-US" sz="1250" dirty="0"/>
          </a:p>
        </p:txBody>
      </p:sp>
      <p:sp>
        <p:nvSpPr>
          <p:cNvPr id="25" name="Text 23"/>
          <p:cNvSpPr txBox="1"/>
          <p:nvPr/>
        </p:nvSpPr>
        <p:spPr>
          <a:xfrm>
            <a:off x="566928" y="6364224"/>
            <a:ext cx="5486400" cy="256032"/>
          </a:xfrm>
          <a:prstGeom prst="rect">
            <a:avLst/>
          </a:prstGeom>
          <a:noFill/>
          <a:ln/>
        </p:spPr>
        <p:txBody>
          <a:bodyPr wrap="square" lIns="0" tIns="0" rIns="0" bIns="0" rtlCol="0" anchor="t"/>
          <a:lstStyle/>
          <a:p>
            <a:pPr algn="l" indent="0" marL="0">
              <a:buNone/>
            </a:pPr>
            <a:r>
              <a:rPr lang="en-US" sz="950" dirty="0">
                <a:solidFill>
                  <a:srgbClr val="5A6274"/>
                </a:solidFill>
                <a:latin typeface="Calibri" pitchFamily="34" charset="0"/>
                <a:ea typeface="Calibri" pitchFamily="34" charset="-122"/>
                <a:cs typeface="Calibri" pitchFamily="34" charset="-120"/>
              </a:rPr>
              <a:t>Die Geldpolitik der EZB</a:t>
            </a:r>
            <a:endParaRPr lang="en-US" sz="950" dirty="0"/>
          </a:p>
        </p:txBody>
      </p:sp>
      <p:sp>
        <p:nvSpPr>
          <p:cNvPr id="26" name="Text 24"/>
          <p:cNvSpPr txBox="1"/>
          <p:nvPr/>
        </p:nvSpPr>
        <p:spPr>
          <a:xfrm>
            <a:off x="7967167" y="6364224"/>
            <a:ext cx="3657600" cy="256032"/>
          </a:xfrm>
          <a:prstGeom prst="rect">
            <a:avLst/>
          </a:prstGeom>
          <a:noFill/>
          <a:ln/>
        </p:spPr>
        <p:txBody>
          <a:bodyPr wrap="square" lIns="0" tIns="0" rIns="0" bIns="0" rtlCol="0" anchor="t"/>
          <a:lstStyle/>
          <a:p>
            <a:pPr algn="r" indent="0" marL="0">
              <a:buNone/>
            </a:pPr>
            <a:r>
              <a:rPr lang="en-US" sz="950" dirty="0">
                <a:solidFill>
                  <a:srgbClr val="5A6274"/>
                </a:solidFill>
                <a:latin typeface="Calibri" pitchFamily="34" charset="0"/>
                <a:ea typeface="Calibri" pitchFamily="34" charset="-122"/>
                <a:cs typeface="Calibri" pitchFamily="34" charset="-120"/>
              </a:rPr>
              <a:t>Folie 6 von 17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algn="l" indent="0" marL="0">
              <a:buNone/>
            </a:pPr>
            <a:r>
              <a:rPr lang="en-US" sz="1100" b="1" spc="140" kern="0" dirty="0">
                <a:solidFill>
                  <a:srgbClr val="9A6F00"/>
                </a:solidFill>
                <a:latin typeface="Calibri" pitchFamily="34" charset="0"/>
                <a:ea typeface="Calibri" pitchFamily="34" charset="-122"/>
                <a:cs typeface="Calibri" pitchFamily="34" charset="-120"/>
              </a:rPr>
              <a:t>TEIL 2 · STRATEGIE UND INSTRUMENTE</a:t>
            </a:r>
            <a:endParaRPr lang="en-US" sz="1100" dirty="0"/>
          </a:p>
        </p:txBody>
      </p:sp>
      <p:sp>
        <p:nvSpPr>
          <p:cNvPr id="3" name="Text 1"/>
          <p:cNvSpPr txBox="1"/>
          <p:nvPr/>
        </p:nvSpPr>
        <p:spPr>
          <a:xfrm>
            <a:off x="566928" y="566928"/>
            <a:ext cx="11057839" cy="676656"/>
          </a:xfrm>
          <a:prstGeom prst="rect">
            <a:avLst/>
          </a:prstGeom>
          <a:noFill/>
          <a:ln/>
        </p:spPr>
        <p:txBody>
          <a:bodyPr wrap="square" lIns="0" tIns="0" rIns="0" bIns="0" rtlCol="0" anchor="ctr"/>
          <a:lstStyle/>
          <a:p>
            <a:pPr algn="l" indent="0" marL="0">
              <a:buNone/>
            </a:pPr>
            <a:r>
              <a:rPr lang="en-US" sz="3000" b="1" dirty="0">
                <a:solidFill>
                  <a:srgbClr val="10224E"/>
                </a:solidFill>
                <a:latin typeface="Cambria" pitchFamily="34" charset="0"/>
                <a:ea typeface="Cambria" pitchFamily="34" charset="-122"/>
                <a:cs typeface="Cambria" pitchFamily="34" charset="-120"/>
              </a:rPr>
              <a:t>Der Werkzeugkasten der EZB</a:t>
            </a:r>
            <a:endParaRPr lang="en-US" sz="3000" dirty="0"/>
          </a:p>
        </p:txBody>
      </p:sp>
      <p:sp>
        <p:nvSpPr>
          <p:cNvPr id="4" name="Text 2"/>
          <p:cNvSpPr txBox="1"/>
          <p:nvPr/>
        </p:nvSpPr>
        <p:spPr>
          <a:xfrm>
            <a:off x="566928" y="1298448"/>
            <a:ext cx="11057839" cy="384048"/>
          </a:xfrm>
          <a:prstGeom prst="rect">
            <a:avLst/>
          </a:prstGeom>
          <a:noFill/>
          <a:ln/>
        </p:spPr>
        <p:txBody>
          <a:bodyPr wrap="square" lIns="0" tIns="0" rIns="0" bIns="0" rtlCol="0" anchor="t"/>
          <a:lstStyle/>
          <a:p>
            <a:pPr algn="l" indent="0" marL="0">
              <a:buNone/>
            </a:pPr>
            <a:r>
              <a:rPr lang="en-US" sz="1450" dirty="0">
                <a:solidFill>
                  <a:srgbClr val="5A6274"/>
                </a:solidFill>
                <a:latin typeface="Calibri" pitchFamily="34" charset="0"/>
                <a:ea typeface="Calibri" pitchFamily="34" charset="-122"/>
                <a:cs typeface="Calibri" pitchFamily="34" charset="-120"/>
              </a:rPr>
              <a:t>Die EZB kann Geld teurer oder billiger machen – und die Menge an Zentralbankgeld steuern. Dafür hat sie drei klassische Instrumente:</a:t>
            </a:r>
            <a:endParaRPr lang="en-US" sz="1450" dirty="0"/>
          </a:p>
        </p:txBody>
      </p:sp>
      <p:sp>
        <p:nvSpPr>
          <p:cNvPr id="5" name="Shape 3"/>
          <p:cNvSpPr/>
          <p:nvPr/>
        </p:nvSpPr>
        <p:spPr>
          <a:xfrm>
            <a:off x="566928" y="1874520"/>
            <a:ext cx="3502152" cy="2788920"/>
          </a:xfrm>
          <a:prstGeom prst="roundRect">
            <a:avLst>
              <a:gd name="adj" fmla="val 2623"/>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6" name="Shape 4"/>
          <p:cNvSpPr/>
          <p:nvPr/>
        </p:nvSpPr>
        <p:spPr>
          <a:xfrm>
            <a:off x="859536" y="2167128"/>
            <a:ext cx="640080" cy="640080"/>
          </a:xfrm>
          <a:prstGeom prst="ellipse">
            <a:avLst/>
          </a:prstGeom>
          <a:solidFill>
            <a:srgbClr val="FFC72C"/>
          </a:solidFill>
          <a:ln w="12700">
            <a:solidFill>
              <a:srgbClr val="FFC72C"/>
            </a:solidFill>
            <a:prstDash val="solid"/>
          </a:ln>
        </p:spPr>
      </p:sp>
      <p:sp>
        <p:nvSpPr>
          <p:cNvPr id="7" name="Text 5"/>
          <p:cNvSpPr txBox="1"/>
          <p:nvPr/>
        </p:nvSpPr>
        <p:spPr>
          <a:xfrm>
            <a:off x="859536" y="2167128"/>
            <a:ext cx="640080" cy="640080"/>
          </a:xfrm>
          <a:prstGeom prst="rect">
            <a:avLst/>
          </a:prstGeom>
          <a:noFill/>
          <a:ln/>
        </p:spPr>
        <p:txBody>
          <a:bodyPr wrap="square" lIns="0" tIns="0" rIns="0" bIns="0" rtlCol="0" anchor="ctr"/>
          <a:lstStyle/>
          <a:p>
            <a:pPr algn="ctr" indent="0" marL="0">
              <a:buNone/>
            </a:pPr>
            <a:r>
              <a:rPr lang="en-US" sz="2200" b="1" dirty="0">
                <a:solidFill>
                  <a:srgbClr val="10224E"/>
                </a:solidFill>
                <a:latin typeface="Cambria" pitchFamily="34" charset="0"/>
                <a:ea typeface="Cambria" pitchFamily="34" charset="-122"/>
                <a:cs typeface="Cambria" pitchFamily="34" charset="-120"/>
              </a:rPr>
              <a:t>1</a:t>
            </a:r>
            <a:endParaRPr lang="en-US" sz="2200" dirty="0"/>
          </a:p>
        </p:txBody>
      </p:sp>
      <p:sp>
        <p:nvSpPr>
          <p:cNvPr id="8" name="Text 6"/>
          <p:cNvSpPr txBox="1"/>
          <p:nvPr/>
        </p:nvSpPr>
        <p:spPr>
          <a:xfrm>
            <a:off x="859536" y="2971800"/>
            <a:ext cx="2916936" cy="365760"/>
          </a:xfrm>
          <a:prstGeom prst="rect">
            <a:avLst/>
          </a:prstGeom>
          <a:noFill/>
          <a:ln/>
        </p:spPr>
        <p:txBody>
          <a:bodyPr wrap="square" lIns="0" tIns="0" rIns="0" bIns="0" rtlCol="0" anchor="t"/>
          <a:lstStyle/>
          <a:p>
            <a:pPr algn="l" indent="0" marL="0">
              <a:buNone/>
            </a:pPr>
            <a:r>
              <a:rPr lang="en-US" sz="1650" b="1" dirty="0">
                <a:solidFill>
                  <a:srgbClr val="10224E"/>
                </a:solidFill>
                <a:latin typeface="Cambria" pitchFamily="34" charset="0"/>
                <a:ea typeface="Cambria" pitchFamily="34" charset="-122"/>
                <a:cs typeface="Cambria" pitchFamily="34" charset="-120"/>
              </a:rPr>
              <a:t>Leitzinsen</a:t>
            </a:r>
            <a:endParaRPr lang="en-US" sz="1650" dirty="0"/>
          </a:p>
        </p:txBody>
      </p:sp>
      <p:sp>
        <p:nvSpPr>
          <p:cNvPr id="9" name="Text 7"/>
          <p:cNvSpPr txBox="1"/>
          <p:nvPr/>
        </p:nvSpPr>
        <p:spPr>
          <a:xfrm>
            <a:off x="859536" y="3355848"/>
            <a:ext cx="2916936" cy="256032"/>
          </a:xfrm>
          <a:prstGeom prst="rect">
            <a:avLst/>
          </a:prstGeom>
          <a:noFill/>
          <a:ln/>
        </p:spPr>
        <p:txBody>
          <a:bodyPr wrap="square" lIns="0" tIns="0" rIns="0" bIns="0" rtlCol="0" anchor="t"/>
          <a:lstStyle/>
          <a:p>
            <a:pPr algn="l" indent="0" marL="0">
              <a:buNone/>
            </a:pPr>
            <a:r>
              <a:rPr lang="en-US" sz="1200" i="1" dirty="0">
                <a:solidFill>
                  <a:srgbClr val="9A6F00"/>
                </a:solidFill>
                <a:latin typeface="Calibri" pitchFamily="34" charset="0"/>
                <a:ea typeface="Calibri" pitchFamily="34" charset="-122"/>
                <a:cs typeface="Calibri" pitchFamily="34" charset="-120"/>
              </a:rPr>
              <a:t>Der Preis des Geldes</a:t>
            </a:r>
            <a:endParaRPr lang="en-US" sz="1200" dirty="0"/>
          </a:p>
        </p:txBody>
      </p:sp>
      <p:sp>
        <p:nvSpPr>
          <p:cNvPr id="10" name="Text 8"/>
          <p:cNvSpPr txBox="1"/>
          <p:nvPr/>
        </p:nvSpPr>
        <p:spPr>
          <a:xfrm>
            <a:off x="859536" y="3685032"/>
            <a:ext cx="2916936" cy="841248"/>
          </a:xfrm>
          <a:prstGeom prst="rect">
            <a:avLst/>
          </a:prstGeom>
          <a:noFill/>
          <a:ln/>
        </p:spPr>
        <p:txBody>
          <a:bodyPr wrap="square" lIns="0" tIns="0" rIns="0" bIns="0" rtlCol="0" anchor="t"/>
          <a:lstStyle/>
          <a:p>
            <a:pPr algn="l" indent="0" marL="0">
              <a:lnSpc>
                <a:spcPct val="108000"/>
              </a:lnSpc>
              <a:buNone/>
            </a:pPr>
            <a:r>
              <a:rPr lang="en-US" sz="1250" dirty="0">
                <a:solidFill>
                  <a:srgbClr val="1A1D26"/>
                </a:solidFill>
                <a:latin typeface="Calibri" pitchFamily="34" charset="0"/>
                <a:ea typeface="Calibri" pitchFamily="34" charset="-122"/>
                <a:cs typeface="Calibri" pitchFamily="34" charset="-120"/>
              </a:rPr>
              <a:t>Die EZB legt fest, zu welchem Zins sich Banken Geld leihen oder Geld anlegen können. Das wichtigste und schnellste Instrument.</a:t>
            </a:r>
            <a:endParaRPr lang="en-US" sz="1250" dirty="0"/>
          </a:p>
        </p:txBody>
      </p:sp>
      <p:sp>
        <p:nvSpPr>
          <p:cNvPr id="11" name="Shape 9"/>
          <p:cNvSpPr/>
          <p:nvPr/>
        </p:nvSpPr>
        <p:spPr>
          <a:xfrm>
            <a:off x="4343400" y="1874520"/>
            <a:ext cx="3502152" cy="2788920"/>
          </a:xfrm>
          <a:prstGeom prst="roundRect">
            <a:avLst>
              <a:gd name="adj" fmla="val 2623"/>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2" name="Shape 10"/>
          <p:cNvSpPr/>
          <p:nvPr/>
        </p:nvSpPr>
        <p:spPr>
          <a:xfrm>
            <a:off x="4636008" y="2167128"/>
            <a:ext cx="640080" cy="640080"/>
          </a:xfrm>
          <a:prstGeom prst="ellipse">
            <a:avLst/>
          </a:prstGeom>
          <a:solidFill>
            <a:srgbClr val="FFC72C"/>
          </a:solidFill>
          <a:ln w="12700">
            <a:solidFill>
              <a:srgbClr val="FFC72C"/>
            </a:solidFill>
            <a:prstDash val="solid"/>
          </a:ln>
        </p:spPr>
      </p:sp>
      <p:sp>
        <p:nvSpPr>
          <p:cNvPr id="13" name="Text 11"/>
          <p:cNvSpPr txBox="1"/>
          <p:nvPr/>
        </p:nvSpPr>
        <p:spPr>
          <a:xfrm>
            <a:off x="4636008" y="2167128"/>
            <a:ext cx="640080" cy="640080"/>
          </a:xfrm>
          <a:prstGeom prst="rect">
            <a:avLst/>
          </a:prstGeom>
          <a:noFill/>
          <a:ln/>
        </p:spPr>
        <p:txBody>
          <a:bodyPr wrap="square" lIns="0" tIns="0" rIns="0" bIns="0" rtlCol="0" anchor="ctr"/>
          <a:lstStyle/>
          <a:p>
            <a:pPr algn="ctr" indent="0" marL="0">
              <a:buNone/>
            </a:pPr>
            <a:r>
              <a:rPr lang="en-US" sz="2200" b="1" dirty="0">
                <a:solidFill>
                  <a:srgbClr val="10224E"/>
                </a:solidFill>
                <a:latin typeface="Cambria" pitchFamily="34" charset="0"/>
                <a:ea typeface="Cambria" pitchFamily="34" charset="-122"/>
                <a:cs typeface="Cambria" pitchFamily="34" charset="-120"/>
              </a:rPr>
              <a:t>2</a:t>
            </a:r>
            <a:endParaRPr lang="en-US" sz="2200" dirty="0"/>
          </a:p>
        </p:txBody>
      </p:sp>
      <p:sp>
        <p:nvSpPr>
          <p:cNvPr id="14" name="Text 12"/>
          <p:cNvSpPr txBox="1"/>
          <p:nvPr/>
        </p:nvSpPr>
        <p:spPr>
          <a:xfrm>
            <a:off x="4636008" y="2971800"/>
            <a:ext cx="2916936" cy="365760"/>
          </a:xfrm>
          <a:prstGeom prst="rect">
            <a:avLst/>
          </a:prstGeom>
          <a:noFill/>
          <a:ln/>
        </p:spPr>
        <p:txBody>
          <a:bodyPr wrap="square" lIns="0" tIns="0" rIns="0" bIns="0" rtlCol="0" anchor="t"/>
          <a:lstStyle/>
          <a:p>
            <a:pPr algn="l" indent="0" marL="0">
              <a:buNone/>
            </a:pPr>
            <a:r>
              <a:rPr lang="en-US" sz="1650" b="1" dirty="0">
                <a:solidFill>
                  <a:srgbClr val="10224E"/>
                </a:solidFill>
                <a:latin typeface="Cambria" pitchFamily="34" charset="0"/>
                <a:ea typeface="Cambria" pitchFamily="34" charset="-122"/>
                <a:cs typeface="Cambria" pitchFamily="34" charset="-120"/>
              </a:rPr>
              <a:t>Offenmarktgeschäfte</a:t>
            </a:r>
            <a:endParaRPr lang="en-US" sz="1650" dirty="0"/>
          </a:p>
        </p:txBody>
      </p:sp>
      <p:sp>
        <p:nvSpPr>
          <p:cNvPr id="15" name="Text 13"/>
          <p:cNvSpPr txBox="1"/>
          <p:nvPr/>
        </p:nvSpPr>
        <p:spPr>
          <a:xfrm>
            <a:off x="4636008" y="3355848"/>
            <a:ext cx="2916936" cy="256032"/>
          </a:xfrm>
          <a:prstGeom prst="rect">
            <a:avLst/>
          </a:prstGeom>
          <a:noFill/>
          <a:ln/>
        </p:spPr>
        <p:txBody>
          <a:bodyPr wrap="square" lIns="0" tIns="0" rIns="0" bIns="0" rtlCol="0" anchor="t"/>
          <a:lstStyle/>
          <a:p>
            <a:pPr algn="l" indent="0" marL="0">
              <a:buNone/>
            </a:pPr>
            <a:r>
              <a:rPr lang="en-US" sz="1200" i="1" dirty="0">
                <a:solidFill>
                  <a:srgbClr val="9A6F00"/>
                </a:solidFill>
                <a:latin typeface="Calibri" pitchFamily="34" charset="0"/>
                <a:ea typeface="Calibri" pitchFamily="34" charset="-122"/>
                <a:cs typeface="Calibri" pitchFamily="34" charset="-120"/>
              </a:rPr>
              <a:t>Die Menge des Geldes</a:t>
            </a:r>
            <a:endParaRPr lang="en-US" sz="1200" dirty="0"/>
          </a:p>
        </p:txBody>
      </p:sp>
      <p:sp>
        <p:nvSpPr>
          <p:cNvPr id="16" name="Text 14"/>
          <p:cNvSpPr txBox="1"/>
          <p:nvPr/>
        </p:nvSpPr>
        <p:spPr>
          <a:xfrm>
            <a:off x="4636008" y="3685032"/>
            <a:ext cx="2916936" cy="841248"/>
          </a:xfrm>
          <a:prstGeom prst="rect">
            <a:avLst/>
          </a:prstGeom>
          <a:noFill/>
          <a:ln/>
        </p:spPr>
        <p:txBody>
          <a:bodyPr wrap="square" lIns="0" tIns="0" rIns="0" bIns="0" rtlCol="0" anchor="t"/>
          <a:lstStyle/>
          <a:p>
            <a:pPr algn="l" indent="0" marL="0">
              <a:lnSpc>
                <a:spcPct val="108000"/>
              </a:lnSpc>
              <a:buNone/>
            </a:pPr>
            <a:r>
              <a:rPr lang="en-US" sz="1250" dirty="0">
                <a:solidFill>
                  <a:srgbClr val="1A1D26"/>
                </a:solidFill>
                <a:latin typeface="Calibri" pitchFamily="34" charset="0"/>
                <a:ea typeface="Calibri" pitchFamily="34" charset="-122"/>
                <a:cs typeface="Calibri" pitchFamily="34" charset="-120"/>
              </a:rPr>
              <a:t>Über befristete Refinanzierungsgeschäfte gegen Sicherheiten versorgt die EZB die Banken mit Zentralbankgeld.</a:t>
            </a:r>
            <a:endParaRPr lang="en-US" sz="1250" dirty="0"/>
          </a:p>
        </p:txBody>
      </p:sp>
      <p:sp>
        <p:nvSpPr>
          <p:cNvPr id="17" name="Shape 15"/>
          <p:cNvSpPr/>
          <p:nvPr/>
        </p:nvSpPr>
        <p:spPr>
          <a:xfrm>
            <a:off x="8119872" y="1874520"/>
            <a:ext cx="3502152" cy="2788920"/>
          </a:xfrm>
          <a:prstGeom prst="roundRect">
            <a:avLst>
              <a:gd name="adj" fmla="val 2623"/>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8" name="Shape 16"/>
          <p:cNvSpPr/>
          <p:nvPr/>
        </p:nvSpPr>
        <p:spPr>
          <a:xfrm>
            <a:off x="8412480" y="2167128"/>
            <a:ext cx="640080" cy="640080"/>
          </a:xfrm>
          <a:prstGeom prst="ellipse">
            <a:avLst/>
          </a:prstGeom>
          <a:solidFill>
            <a:srgbClr val="FFC72C"/>
          </a:solidFill>
          <a:ln w="12700">
            <a:solidFill>
              <a:srgbClr val="FFC72C"/>
            </a:solidFill>
            <a:prstDash val="solid"/>
          </a:ln>
        </p:spPr>
      </p:sp>
      <p:sp>
        <p:nvSpPr>
          <p:cNvPr id="19" name="Text 17"/>
          <p:cNvSpPr txBox="1"/>
          <p:nvPr/>
        </p:nvSpPr>
        <p:spPr>
          <a:xfrm>
            <a:off x="8412480" y="2167128"/>
            <a:ext cx="640080" cy="640080"/>
          </a:xfrm>
          <a:prstGeom prst="rect">
            <a:avLst/>
          </a:prstGeom>
          <a:noFill/>
          <a:ln/>
        </p:spPr>
        <p:txBody>
          <a:bodyPr wrap="square" lIns="0" tIns="0" rIns="0" bIns="0" rtlCol="0" anchor="ctr"/>
          <a:lstStyle/>
          <a:p>
            <a:pPr algn="ctr" indent="0" marL="0">
              <a:buNone/>
            </a:pPr>
            <a:r>
              <a:rPr lang="en-US" sz="2200" b="1" dirty="0">
                <a:solidFill>
                  <a:srgbClr val="10224E"/>
                </a:solidFill>
                <a:latin typeface="Cambria" pitchFamily="34" charset="0"/>
                <a:ea typeface="Cambria" pitchFamily="34" charset="-122"/>
                <a:cs typeface="Cambria" pitchFamily="34" charset="-120"/>
              </a:rPr>
              <a:t>3</a:t>
            </a:r>
            <a:endParaRPr lang="en-US" sz="2200" dirty="0"/>
          </a:p>
        </p:txBody>
      </p:sp>
      <p:sp>
        <p:nvSpPr>
          <p:cNvPr id="20" name="Text 18"/>
          <p:cNvSpPr txBox="1"/>
          <p:nvPr/>
        </p:nvSpPr>
        <p:spPr>
          <a:xfrm>
            <a:off x="8412480" y="2971800"/>
            <a:ext cx="2916936" cy="365760"/>
          </a:xfrm>
          <a:prstGeom prst="rect">
            <a:avLst/>
          </a:prstGeom>
          <a:noFill/>
          <a:ln/>
        </p:spPr>
        <p:txBody>
          <a:bodyPr wrap="square" lIns="0" tIns="0" rIns="0" bIns="0" rtlCol="0" anchor="t"/>
          <a:lstStyle/>
          <a:p>
            <a:pPr algn="l" indent="0" marL="0">
              <a:buNone/>
            </a:pPr>
            <a:r>
              <a:rPr lang="en-US" sz="1650" b="1" dirty="0">
                <a:solidFill>
                  <a:srgbClr val="10224E"/>
                </a:solidFill>
                <a:latin typeface="Cambria" pitchFamily="34" charset="0"/>
                <a:ea typeface="Cambria" pitchFamily="34" charset="-122"/>
                <a:cs typeface="Cambria" pitchFamily="34" charset="-120"/>
              </a:rPr>
              <a:t>Mindestreserve</a:t>
            </a:r>
            <a:endParaRPr lang="en-US" sz="1650" dirty="0"/>
          </a:p>
        </p:txBody>
      </p:sp>
      <p:sp>
        <p:nvSpPr>
          <p:cNvPr id="21" name="Text 19"/>
          <p:cNvSpPr txBox="1"/>
          <p:nvPr/>
        </p:nvSpPr>
        <p:spPr>
          <a:xfrm>
            <a:off x="8412480" y="3355848"/>
            <a:ext cx="2916936" cy="256032"/>
          </a:xfrm>
          <a:prstGeom prst="rect">
            <a:avLst/>
          </a:prstGeom>
          <a:noFill/>
          <a:ln/>
        </p:spPr>
        <p:txBody>
          <a:bodyPr wrap="square" lIns="0" tIns="0" rIns="0" bIns="0" rtlCol="0" anchor="t"/>
          <a:lstStyle/>
          <a:p>
            <a:pPr algn="l" indent="0" marL="0">
              <a:buNone/>
            </a:pPr>
            <a:r>
              <a:rPr lang="en-US" sz="1200" i="1" dirty="0">
                <a:solidFill>
                  <a:srgbClr val="9A6F00"/>
                </a:solidFill>
                <a:latin typeface="Calibri" pitchFamily="34" charset="0"/>
                <a:ea typeface="Calibri" pitchFamily="34" charset="-122"/>
                <a:cs typeface="Calibri" pitchFamily="34" charset="-120"/>
              </a:rPr>
              <a:t>Die Bindung von Geld</a:t>
            </a:r>
            <a:endParaRPr lang="en-US" sz="1200" dirty="0"/>
          </a:p>
        </p:txBody>
      </p:sp>
      <p:sp>
        <p:nvSpPr>
          <p:cNvPr id="22" name="Text 20"/>
          <p:cNvSpPr txBox="1"/>
          <p:nvPr/>
        </p:nvSpPr>
        <p:spPr>
          <a:xfrm>
            <a:off x="8412480" y="3685032"/>
            <a:ext cx="2916936" cy="841248"/>
          </a:xfrm>
          <a:prstGeom prst="rect">
            <a:avLst/>
          </a:prstGeom>
          <a:noFill/>
          <a:ln/>
        </p:spPr>
        <p:txBody>
          <a:bodyPr wrap="square" lIns="0" tIns="0" rIns="0" bIns="0" rtlCol="0" anchor="t"/>
          <a:lstStyle/>
          <a:p>
            <a:pPr algn="l" indent="0" marL="0">
              <a:lnSpc>
                <a:spcPct val="108000"/>
              </a:lnSpc>
              <a:buNone/>
            </a:pPr>
            <a:r>
              <a:rPr lang="en-US" sz="1250" dirty="0">
                <a:solidFill>
                  <a:srgbClr val="1A1D26"/>
                </a:solidFill>
                <a:latin typeface="Calibri" pitchFamily="34" charset="0"/>
                <a:ea typeface="Calibri" pitchFamily="34" charset="-122"/>
                <a:cs typeface="Calibri" pitchFamily="34" charset="-120"/>
              </a:rPr>
              <a:t>Banken müssen einen Teil der Kundeneinlagen bei der Zentralbank halten. Das begrenzt ihren Spielraum für Kredite.</a:t>
            </a:r>
            <a:endParaRPr lang="en-US" sz="1250" dirty="0"/>
          </a:p>
        </p:txBody>
      </p:sp>
      <p:sp>
        <p:nvSpPr>
          <p:cNvPr id="23" name="Shape 21"/>
          <p:cNvSpPr/>
          <p:nvPr/>
        </p:nvSpPr>
        <p:spPr>
          <a:xfrm>
            <a:off x="566928" y="4892040"/>
            <a:ext cx="11057839" cy="960120"/>
          </a:xfrm>
          <a:prstGeom prst="roundRect">
            <a:avLst>
              <a:gd name="adj" fmla="val 7619"/>
            </a:avLst>
          </a:prstGeom>
          <a:solidFill>
            <a:srgbClr val="10224E"/>
          </a:solidFill>
          <a:ln w="12700">
            <a:solidFill>
              <a:srgbClr val="10224E"/>
            </a:solidFill>
            <a:prstDash val="solid"/>
          </a:ln>
          <a:effectLst>
            <a:outerShdw sx="100000" sy="100000" kx="0" ky="0" algn="bl" rotWithShape="0" blurRad="88900" dist="12700" dir="5400000">
              <a:srgbClr val="8A96AD">
                <a:alpha val="22000"/>
              </a:srgbClr>
            </a:outerShdw>
          </a:effectLst>
        </p:spPr>
      </p:sp>
      <p:sp>
        <p:nvSpPr>
          <p:cNvPr id="24" name="Text 22"/>
          <p:cNvSpPr txBox="1"/>
          <p:nvPr/>
        </p:nvSpPr>
        <p:spPr>
          <a:xfrm>
            <a:off x="886968" y="5010912"/>
            <a:ext cx="10417759" cy="274320"/>
          </a:xfrm>
          <a:prstGeom prst="rect">
            <a:avLst/>
          </a:prstGeom>
          <a:noFill/>
          <a:ln/>
        </p:spPr>
        <p:txBody>
          <a:bodyPr wrap="square" lIns="0" tIns="0" rIns="0" bIns="0" rtlCol="0" anchor="t"/>
          <a:lstStyle/>
          <a:p>
            <a:pPr algn="l" indent="0" marL="0">
              <a:buNone/>
            </a:pPr>
            <a:r>
              <a:rPr lang="en-US" sz="1400" b="1" dirty="0">
                <a:solidFill>
                  <a:srgbClr val="FFC72C"/>
                </a:solidFill>
                <a:latin typeface="Calibri" pitchFamily="34" charset="0"/>
                <a:ea typeface="Calibri" pitchFamily="34" charset="-122"/>
                <a:cs typeface="Calibri" pitchFamily="34" charset="-120"/>
              </a:rPr>
              <a:t>Dazu kommen unkonventionelle Instrumente</a:t>
            </a:r>
            <a:endParaRPr lang="en-US" sz="1400" dirty="0"/>
          </a:p>
        </p:txBody>
      </p:sp>
      <p:sp>
        <p:nvSpPr>
          <p:cNvPr id="25" name="Text 23"/>
          <p:cNvSpPr txBox="1"/>
          <p:nvPr/>
        </p:nvSpPr>
        <p:spPr>
          <a:xfrm>
            <a:off x="886968" y="5285232"/>
            <a:ext cx="10417759" cy="475488"/>
          </a:xfrm>
          <a:prstGeom prst="rect">
            <a:avLst/>
          </a:prstGeom>
          <a:noFill/>
          <a:ln/>
        </p:spPr>
        <p:txBody>
          <a:bodyPr wrap="square" lIns="0" tIns="0" rIns="0" bIns="0" rtlCol="0" anchor="t"/>
          <a:lstStyle/>
          <a:p>
            <a:pPr algn="l" indent="0" marL="0">
              <a:lnSpc>
                <a:spcPct val="105000"/>
              </a:lnSpc>
              <a:buNone/>
            </a:pPr>
            <a:r>
              <a:rPr lang="en-US" sz="1250" dirty="0">
                <a:solidFill>
                  <a:srgbClr val="C9D5EE"/>
                </a:solidFill>
                <a:latin typeface="Calibri" pitchFamily="34" charset="0"/>
                <a:ea typeface="Calibri" pitchFamily="34" charset="-122"/>
                <a:cs typeface="Calibri" pitchFamily="34" charset="-120"/>
              </a:rPr>
              <a:t>In Krisen kauft die EZB zusätzlich Anleihen von Staaten und Unternehmen oder vergibt sehr langfristige Kredite an Banken. So beeinflusst sie auch die langfristigen Zinsen – dort, wo der Leitzins allein nicht hinreicht.</a:t>
            </a:r>
            <a:endParaRPr lang="en-US" sz="1250" dirty="0"/>
          </a:p>
        </p:txBody>
      </p:sp>
      <p:sp>
        <p:nvSpPr>
          <p:cNvPr id="26" name="Text 24"/>
          <p:cNvSpPr txBox="1"/>
          <p:nvPr/>
        </p:nvSpPr>
        <p:spPr>
          <a:xfrm>
            <a:off x="566928" y="6364224"/>
            <a:ext cx="5486400" cy="256032"/>
          </a:xfrm>
          <a:prstGeom prst="rect">
            <a:avLst/>
          </a:prstGeom>
          <a:noFill/>
          <a:ln/>
        </p:spPr>
        <p:txBody>
          <a:bodyPr wrap="square" lIns="0" tIns="0" rIns="0" bIns="0" rtlCol="0" anchor="t"/>
          <a:lstStyle/>
          <a:p>
            <a:pPr algn="l" indent="0" marL="0">
              <a:buNone/>
            </a:pPr>
            <a:r>
              <a:rPr lang="en-US" sz="950" dirty="0">
                <a:solidFill>
                  <a:srgbClr val="5A6274"/>
                </a:solidFill>
                <a:latin typeface="Calibri" pitchFamily="34" charset="0"/>
                <a:ea typeface="Calibri" pitchFamily="34" charset="-122"/>
                <a:cs typeface="Calibri" pitchFamily="34" charset="-120"/>
              </a:rPr>
              <a:t>Die Geldpolitik der EZB</a:t>
            </a:r>
            <a:endParaRPr lang="en-US" sz="950" dirty="0"/>
          </a:p>
        </p:txBody>
      </p:sp>
      <p:sp>
        <p:nvSpPr>
          <p:cNvPr id="27" name="Text 25"/>
          <p:cNvSpPr txBox="1"/>
          <p:nvPr/>
        </p:nvSpPr>
        <p:spPr>
          <a:xfrm>
            <a:off x="7967167" y="6364224"/>
            <a:ext cx="3657600" cy="256032"/>
          </a:xfrm>
          <a:prstGeom prst="rect">
            <a:avLst/>
          </a:prstGeom>
          <a:noFill/>
          <a:ln/>
        </p:spPr>
        <p:txBody>
          <a:bodyPr wrap="square" lIns="0" tIns="0" rIns="0" bIns="0" rtlCol="0" anchor="t"/>
          <a:lstStyle/>
          <a:p>
            <a:pPr algn="r" indent="0" marL="0">
              <a:buNone/>
            </a:pPr>
            <a:r>
              <a:rPr lang="en-US" sz="950" dirty="0">
                <a:solidFill>
                  <a:srgbClr val="5A6274"/>
                </a:solidFill>
                <a:latin typeface="Calibri" pitchFamily="34" charset="0"/>
                <a:ea typeface="Calibri" pitchFamily="34" charset="-122"/>
                <a:cs typeface="Calibri" pitchFamily="34" charset="-120"/>
              </a:rPr>
              <a:t>Folie 7 von 17</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algn="l" indent="0" marL="0">
              <a:buNone/>
            </a:pPr>
            <a:r>
              <a:rPr lang="en-US" sz="1100" b="1" spc="140" kern="0" dirty="0">
                <a:solidFill>
                  <a:srgbClr val="9A6F00"/>
                </a:solidFill>
                <a:latin typeface="Calibri" pitchFamily="34" charset="0"/>
                <a:ea typeface="Calibri" pitchFamily="34" charset="-122"/>
                <a:cs typeface="Calibri" pitchFamily="34" charset="-120"/>
              </a:rPr>
              <a:t>INSTRUMENT 1</a:t>
            </a:r>
            <a:endParaRPr lang="en-US" sz="1100" dirty="0"/>
          </a:p>
        </p:txBody>
      </p:sp>
      <p:sp>
        <p:nvSpPr>
          <p:cNvPr id="3" name="Text 1"/>
          <p:cNvSpPr txBox="1"/>
          <p:nvPr/>
        </p:nvSpPr>
        <p:spPr>
          <a:xfrm>
            <a:off x="566928" y="566928"/>
            <a:ext cx="11057839" cy="676656"/>
          </a:xfrm>
          <a:prstGeom prst="rect">
            <a:avLst/>
          </a:prstGeom>
          <a:noFill/>
          <a:ln/>
        </p:spPr>
        <p:txBody>
          <a:bodyPr wrap="square" lIns="0" tIns="0" rIns="0" bIns="0" rtlCol="0" anchor="ctr"/>
          <a:lstStyle/>
          <a:p>
            <a:pPr algn="l" indent="0" marL="0">
              <a:buNone/>
            </a:pPr>
            <a:r>
              <a:rPr lang="en-US" sz="3000" b="1" dirty="0">
                <a:solidFill>
                  <a:srgbClr val="10224E"/>
                </a:solidFill>
                <a:latin typeface="Cambria" pitchFamily="34" charset="0"/>
                <a:ea typeface="Cambria" pitchFamily="34" charset="-122"/>
                <a:cs typeface="Cambria" pitchFamily="34" charset="-120"/>
              </a:rPr>
              <a:t>Die drei Leitzinsen und der Zinskanal</a:t>
            </a:r>
            <a:endParaRPr lang="en-US" sz="3000" dirty="0"/>
          </a:p>
        </p:txBody>
      </p:sp>
      <p:sp>
        <p:nvSpPr>
          <p:cNvPr id="4" name="Shape 2"/>
          <p:cNvSpPr/>
          <p:nvPr/>
        </p:nvSpPr>
        <p:spPr>
          <a:xfrm>
            <a:off x="566928" y="1389888"/>
            <a:ext cx="5486400" cy="4462272"/>
          </a:xfrm>
          <a:prstGeom prst="roundRect">
            <a:avLst>
              <a:gd name="adj" fmla="val 1639"/>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5" name="Shape 3"/>
          <p:cNvSpPr/>
          <p:nvPr/>
        </p:nvSpPr>
        <p:spPr>
          <a:xfrm>
            <a:off x="786384" y="1719072"/>
            <a:ext cx="5047488" cy="1097280"/>
          </a:xfrm>
          <a:prstGeom prst="roundRect">
            <a:avLst>
              <a:gd name="adj" fmla="val 6667"/>
            </a:avLst>
          </a:prstGeom>
          <a:solidFill>
            <a:srgbClr val="FFFFFF"/>
          </a:solidFill>
          <a:ln w="12700">
            <a:solidFill>
              <a:srgbClr val="D8E0EF"/>
            </a:solidFill>
            <a:prstDash val="solid"/>
          </a:ln>
        </p:spPr>
      </p:sp>
      <p:sp>
        <p:nvSpPr>
          <p:cNvPr id="6" name="Text 4"/>
          <p:cNvSpPr txBox="1"/>
          <p:nvPr/>
        </p:nvSpPr>
        <p:spPr>
          <a:xfrm>
            <a:off x="1024128" y="1865376"/>
            <a:ext cx="3584448" cy="310896"/>
          </a:xfrm>
          <a:prstGeom prst="rect">
            <a:avLst/>
          </a:prstGeom>
          <a:noFill/>
          <a:ln/>
        </p:spPr>
        <p:txBody>
          <a:bodyPr wrap="square" lIns="0" tIns="0" rIns="0" bIns="0" rtlCol="0" anchor="t"/>
          <a:lstStyle/>
          <a:p>
            <a:pPr algn="l" indent="0" marL="0">
              <a:buNone/>
            </a:pPr>
            <a:r>
              <a:rPr lang="en-US" sz="1350" b="1" dirty="0">
                <a:solidFill>
                  <a:srgbClr val="10224E"/>
                </a:solidFill>
                <a:latin typeface="Calibri" pitchFamily="34" charset="0"/>
                <a:ea typeface="Calibri" pitchFamily="34" charset="-122"/>
                <a:cs typeface="Calibri" pitchFamily="34" charset="-120"/>
              </a:rPr>
              <a:t>Spitzenrefinanzierungsfazilität</a:t>
            </a:r>
            <a:endParaRPr lang="en-US" sz="1350" dirty="0"/>
          </a:p>
        </p:txBody>
      </p:sp>
      <p:sp>
        <p:nvSpPr>
          <p:cNvPr id="7" name="Text 5"/>
          <p:cNvSpPr txBox="1"/>
          <p:nvPr/>
        </p:nvSpPr>
        <p:spPr>
          <a:xfrm>
            <a:off x="4416552" y="1828800"/>
            <a:ext cx="1188720" cy="384048"/>
          </a:xfrm>
          <a:prstGeom prst="rect">
            <a:avLst/>
          </a:prstGeom>
          <a:noFill/>
          <a:ln/>
        </p:spPr>
        <p:txBody>
          <a:bodyPr wrap="square" lIns="0" tIns="0" rIns="0" bIns="0" rtlCol="0" anchor="t"/>
          <a:lstStyle/>
          <a:p>
            <a:pPr algn="r" indent="0" marL="0">
              <a:buNone/>
            </a:pPr>
            <a:r>
              <a:rPr lang="en-US" sz="2000" b="1" dirty="0">
                <a:solidFill>
                  <a:srgbClr val="10224E"/>
                </a:solidFill>
                <a:latin typeface="Cambria" pitchFamily="34" charset="0"/>
                <a:ea typeface="Cambria" pitchFamily="34" charset="-122"/>
                <a:cs typeface="Cambria" pitchFamily="34" charset="-120"/>
              </a:rPr>
              <a:t>2,65 %</a:t>
            </a:r>
            <a:endParaRPr lang="en-US" sz="2000" dirty="0"/>
          </a:p>
        </p:txBody>
      </p:sp>
      <p:sp>
        <p:nvSpPr>
          <p:cNvPr id="8" name="Text 6"/>
          <p:cNvSpPr txBox="1"/>
          <p:nvPr/>
        </p:nvSpPr>
        <p:spPr>
          <a:xfrm>
            <a:off x="1024128" y="2212848"/>
            <a:ext cx="4572000" cy="512064"/>
          </a:xfrm>
          <a:prstGeom prst="rect">
            <a:avLst/>
          </a:prstGeom>
          <a:noFill/>
          <a:ln/>
        </p:spPr>
        <p:txBody>
          <a:bodyPr wrap="square" lIns="0" tIns="0" rIns="0" bIns="0" rtlCol="0" anchor="t"/>
          <a:lstStyle/>
          <a:p>
            <a:pPr algn="l" indent="0" marL="0">
              <a:lnSpc>
                <a:spcPct val="105000"/>
              </a:lnSpc>
              <a:buNone/>
            </a:pPr>
            <a:r>
              <a:rPr lang="en-US" sz="1150" dirty="0">
                <a:solidFill>
                  <a:srgbClr val="1A1D26"/>
                </a:solidFill>
                <a:latin typeface="Calibri" pitchFamily="34" charset="0"/>
                <a:ea typeface="Calibri" pitchFamily="34" charset="-122"/>
                <a:cs typeface="Calibri" pitchFamily="34" charset="-120"/>
              </a:rPr>
              <a:t>Obergrenze: Zu diesem Zins bekommen Banken über Nacht Geld von der Zentralbank.</a:t>
            </a:r>
            <a:endParaRPr lang="en-US" sz="1150" dirty="0"/>
          </a:p>
        </p:txBody>
      </p:sp>
      <p:sp>
        <p:nvSpPr>
          <p:cNvPr id="9" name="Shape 7"/>
          <p:cNvSpPr/>
          <p:nvPr/>
        </p:nvSpPr>
        <p:spPr>
          <a:xfrm>
            <a:off x="786384" y="2953512"/>
            <a:ext cx="5047488" cy="1097280"/>
          </a:xfrm>
          <a:prstGeom prst="roundRect">
            <a:avLst>
              <a:gd name="adj" fmla="val 6667"/>
            </a:avLst>
          </a:prstGeom>
          <a:solidFill>
            <a:srgbClr val="10224E"/>
          </a:solidFill>
          <a:ln w="12700">
            <a:solidFill>
              <a:srgbClr val="10224E"/>
            </a:solidFill>
            <a:prstDash val="solid"/>
          </a:ln>
          <a:effectLst>
            <a:outerShdw sx="100000" sy="100000" kx="0" ky="0" algn="bl" rotWithShape="0" blurRad="88900" dist="12700" dir="5400000">
              <a:srgbClr val="8A96AD">
                <a:alpha val="22000"/>
              </a:srgbClr>
            </a:outerShdw>
          </a:effectLst>
        </p:spPr>
      </p:sp>
      <p:sp>
        <p:nvSpPr>
          <p:cNvPr id="10" name="Text 8"/>
          <p:cNvSpPr txBox="1"/>
          <p:nvPr/>
        </p:nvSpPr>
        <p:spPr>
          <a:xfrm>
            <a:off x="1024128" y="3099816"/>
            <a:ext cx="3584448" cy="310896"/>
          </a:xfrm>
          <a:prstGeom prst="rect">
            <a:avLst/>
          </a:prstGeom>
          <a:noFill/>
          <a:ln/>
        </p:spPr>
        <p:txBody>
          <a:bodyPr wrap="square" lIns="0" tIns="0" rIns="0" bIns="0" rtlCol="0" anchor="t"/>
          <a:lstStyle/>
          <a:p>
            <a:pPr algn="l" indent="0" marL="0">
              <a:buNone/>
            </a:pPr>
            <a:r>
              <a:rPr lang="en-US" sz="1350" b="1" dirty="0">
                <a:solidFill>
                  <a:srgbClr val="FFFFFF"/>
                </a:solidFill>
                <a:latin typeface="Calibri" pitchFamily="34" charset="0"/>
                <a:ea typeface="Calibri" pitchFamily="34" charset="-122"/>
                <a:cs typeface="Calibri" pitchFamily="34" charset="-120"/>
              </a:rPr>
              <a:t>Hauptrefinanzierungssatz</a:t>
            </a:r>
            <a:endParaRPr lang="en-US" sz="1350" dirty="0"/>
          </a:p>
        </p:txBody>
      </p:sp>
      <p:sp>
        <p:nvSpPr>
          <p:cNvPr id="11" name="Text 9"/>
          <p:cNvSpPr txBox="1"/>
          <p:nvPr/>
        </p:nvSpPr>
        <p:spPr>
          <a:xfrm>
            <a:off x="4416552" y="3063240"/>
            <a:ext cx="1188720" cy="384048"/>
          </a:xfrm>
          <a:prstGeom prst="rect">
            <a:avLst/>
          </a:prstGeom>
          <a:noFill/>
          <a:ln/>
        </p:spPr>
        <p:txBody>
          <a:bodyPr wrap="square" lIns="0" tIns="0" rIns="0" bIns="0" rtlCol="0" anchor="t"/>
          <a:lstStyle/>
          <a:p>
            <a:pPr algn="r" indent="0" marL="0">
              <a:buNone/>
            </a:pPr>
            <a:r>
              <a:rPr lang="en-US" sz="2000" b="1" dirty="0">
                <a:solidFill>
                  <a:srgbClr val="FFC72C"/>
                </a:solidFill>
                <a:latin typeface="Cambria" pitchFamily="34" charset="0"/>
                <a:ea typeface="Cambria" pitchFamily="34" charset="-122"/>
                <a:cs typeface="Cambria" pitchFamily="34" charset="-120"/>
              </a:rPr>
              <a:t>2,40 %</a:t>
            </a:r>
            <a:endParaRPr lang="en-US" sz="2000" dirty="0"/>
          </a:p>
        </p:txBody>
      </p:sp>
      <p:sp>
        <p:nvSpPr>
          <p:cNvPr id="12" name="Text 10"/>
          <p:cNvSpPr txBox="1"/>
          <p:nvPr/>
        </p:nvSpPr>
        <p:spPr>
          <a:xfrm>
            <a:off x="1024128" y="3447288"/>
            <a:ext cx="4572000" cy="512064"/>
          </a:xfrm>
          <a:prstGeom prst="rect">
            <a:avLst/>
          </a:prstGeom>
          <a:noFill/>
          <a:ln/>
        </p:spPr>
        <p:txBody>
          <a:bodyPr wrap="square" lIns="0" tIns="0" rIns="0" bIns="0" rtlCol="0" anchor="t"/>
          <a:lstStyle/>
          <a:p>
            <a:pPr algn="l" indent="0" marL="0">
              <a:lnSpc>
                <a:spcPct val="105000"/>
              </a:lnSpc>
              <a:buNone/>
            </a:pPr>
            <a:r>
              <a:rPr lang="en-US" sz="1150" dirty="0">
                <a:solidFill>
                  <a:srgbClr val="C9D5EE"/>
                </a:solidFill>
                <a:latin typeface="Calibri" pitchFamily="34" charset="0"/>
                <a:ea typeface="Calibri" pitchFamily="34" charset="-122"/>
                <a:cs typeface="Calibri" pitchFamily="34" charset="-120"/>
              </a:rPr>
              <a:t>Der eigentliche Leitzins: Preis für das wöchentliche Refinanzierungsgeschäft.</a:t>
            </a:r>
            <a:endParaRPr lang="en-US" sz="1150" dirty="0"/>
          </a:p>
        </p:txBody>
      </p:sp>
      <p:sp>
        <p:nvSpPr>
          <p:cNvPr id="13" name="Shape 11"/>
          <p:cNvSpPr/>
          <p:nvPr/>
        </p:nvSpPr>
        <p:spPr>
          <a:xfrm>
            <a:off x="786384" y="4187952"/>
            <a:ext cx="5047488" cy="1097280"/>
          </a:xfrm>
          <a:prstGeom prst="roundRect">
            <a:avLst>
              <a:gd name="adj" fmla="val 6667"/>
            </a:avLst>
          </a:prstGeom>
          <a:solidFill>
            <a:srgbClr val="FFFFFF"/>
          </a:solidFill>
          <a:ln w="12700">
            <a:solidFill>
              <a:srgbClr val="D8E0EF"/>
            </a:solidFill>
            <a:prstDash val="solid"/>
          </a:ln>
        </p:spPr>
      </p:sp>
      <p:sp>
        <p:nvSpPr>
          <p:cNvPr id="14" name="Text 12"/>
          <p:cNvSpPr txBox="1"/>
          <p:nvPr/>
        </p:nvSpPr>
        <p:spPr>
          <a:xfrm>
            <a:off x="1024128" y="4334256"/>
            <a:ext cx="3584448" cy="310896"/>
          </a:xfrm>
          <a:prstGeom prst="rect">
            <a:avLst/>
          </a:prstGeom>
          <a:noFill/>
          <a:ln/>
        </p:spPr>
        <p:txBody>
          <a:bodyPr wrap="square" lIns="0" tIns="0" rIns="0" bIns="0" rtlCol="0" anchor="t"/>
          <a:lstStyle/>
          <a:p>
            <a:pPr algn="l" indent="0" marL="0">
              <a:buNone/>
            </a:pPr>
            <a:r>
              <a:rPr lang="en-US" sz="1350" b="1" dirty="0">
                <a:solidFill>
                  <a:srgbClr val="10224E"/>
                </a:solidFill>
                <a:latin typeface="Calibri" pitchFamily="34" charset="0"/>
                <a:ea typeface="Calibri" pitchFamily="34" charset="-122"/>
                <a:cs typeface="Calibri" pitchFamily="34" charset="-120"/>
              </a:rPr>
              <a:t>Einlagefazilität</a:t>
            </a:r>
            <a:endParaRPr lang="en-US" sz="1350" dirty="0"/>
          </a:p>
        </p:txBody>
      </p:sp>
      <p:sp>
        <p:nvSpPr>
          <p:cNvPr id="15" name="Text 13"/>
          <p:cNvSpPr txBox="1"/>
          <p:nvPr/>
        </p:nvSpPr>
        <p:spPr>
          <a:xfrm>
            <a:off x="4416552" y="4297680"/>
            <a:ext cx="1188720" cy="384048"/>
          </a:xfrm>
          <a:prstGeom prst="rect">
            <a:avLst/>
          </a:prstGeom>
          <a:noFill/>
          <a:ln/>
        </p:spPr>
        <p:txBody>
          <a:bodyPr wrap="square" lIns="0" tIns="0" rIns="0" bIns="0" rtlCol="0" anchor="t"/>
          <a:lstStyle/>
          <a:p>
            <a:pPr algn="r" indent="0" marL="0">
              <a:buNone/>
            </a:pPr>
            <a:r>
              <a:rPr lang="en-US" sz="2000" b="1" dirty="0">
                <a:solidFill>
                  <a:srgbClr val="10224E"/>
                </a:solidFill>
                <a:latin typeface="Cambria" pitchFamily="34" charset="0"/>
                <a:ea typeface="Cambria" pitchFamily="34" charset="-122"/>
                <a:cs typeface="Cambria" pitchFamily="34" charset="-120"/>
              </a:rPr>
              <a:t>2,25 %</a:t>
            </a:r>
            <a:endParaRPr lang="en-US" sz="2000" dirty="0"/>
          </a:p>
        </p:txBody>
      </p:sp>
      <p:sp>
        <p:nvSpPr>
          <p:cNvPr id="16" name="Text 14"/>
          <p:cNvSpPr txBox="1"/>
          <p:nvPr/>
        </p:nvSpPr>
        <p:spPr>
          <a:xfrm>
            <a:off x="1024128" y="4681728"/>
            <a:ext cx="4572000" cy="512064"/>
          </a:xfrm>
          <a:prstGeom prst="rect">
            <a:avLst/>
          </a:prstGeom>
          <a:noFill/>
          <a:ln/>
        </p:spPr>
        <p:txBody>
          <a:bodyPr wrap="square" lIns="0" tIns="0" rIns="0" bIns="0" rtlCol="0" anchor="t"/>
          <a:lstStyle/>
          <a:p>
            <a:pPr algn="l" indent="0" marL="0">
              <a:lnSpc>
                <a:spcPct val="105000"/>
              </a:lnSpc>
              <a:buNone/>
            </a:pPr>
            <a:r>
              <a:rPr lang="en-US" sz="1150" dirty="0">
                <a:solidFill>
                  <a:srgbClr val="1A1D26"/>
                </a:solidFill>
                <a:latin typeface="Calibri" pitchFamily="34" charset="0"/>
                <a:ea typeface="Calibri" pitchFamily="34" charset="-122"/>
                <a:cs typeface="Calibri" pitchFamily="34" charset="-120"/>
              </a:rPr>
              <a:t>Untergrenze: Zu diesem Zins parken Banken überschüssiges Geld über Nacht bei der Zentralbank.</a:t>
            </a:r>
            <a:endParaRPr lang="en-US" sz="1150" dirty="0"/>
          </a:p>
        </p:txBody>
      </p:sp>
      <p:sp>
        <p:nvSpPr>
          <p:cNvPr id="17" name="Text 15"/>
          <p:cNvSpPr txBox="1"/>
          <p:nvPr/>
        </p:nvSpPr>
        <p:spPr>
          <a:xfrm>
            <a:off x="786384" y="5449824"/>
            <a:ext cx="5047488" cy="310896"/>
          </a:xfrm>
          <a:prstGeom prst="rect">
            <a:avLst/>
          </a:prstGeom>
          <a:noFill/>
          <a:ln/>
        </p:spPr>
        <p:txBody>
          <a:bodyPr wrap="square" lIns="0" tIns="0" rIns="0" bIns="0" rtlCol="0" anchor="t"/>
          <a:lstStyle/>
          <a:p>
            <a:pPr algn="l" indent="0" marL="0">
              <a:buNone/>
            </a:pPr>
            <a:r>
              <a:rPr lang="en-US" sz="1050" i="1" dirty="0">
                <a:solidFill>
                  <a:srgbClr val="5A6274"/>
                </a:solidFill>
                <a:latin typeface="Calibri" pitchFamily="34" charset="0"/>
                <a:ea typeface="Calibri" pitchFamily="34" charset="-122"/>
                <a:cs typeface="Calibri" pitchFamily="34" charset="-120"/>
              </a:rPr>
              <a:t>Stand: 09.07.2026 (Quelle: Vorlesungsskript). Die Sätze ändern sich mit jedem Zinsbeschluss.</a:t>
            </a:r>
            <a:endParaRPr lang="en-US" sz="1050" dirty="0"/>
          </a:p>
        </p:txBody>
      </p:sp>
      <p:sp>
        <p:nvSpPr>
          <p:cNvPr id="18" name="Shape 16"/>
          <p:cNvSpPr/>
          <p:nvPr/>
        </p:nvSpPr>
        <p:spPr>
          <a:xfrm>
            <a:off x="6309360" y="1389888"/>
            <a:ext cx="5312664" cy="2084832"/>
          </a:xfrm>
          <a:prstGeom prst="roundRect">
            <a:avLst>
              <a:gd name="adj" fmla="val 3509"/>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9" name="Text 17"/>
          <p:cNvSpPr txBox="1"/>
          <p:nvPr/>
        </p:nvSpPr>
        <p:spPr>
          <a:xfrm>
            <a:off x="6601968" y="1591056"/>
            <a:ext cx="4727448" cy="292608"/>
          </a:xfrm>
          <a:prstGeom prst="rect">
            <a:avLst/>
          </a:prstGeom>
          <a:noFill/>
          <a:ln/>
        </p:spPr>
        <p:txBody>
          <a:bodyPr wrap="square" lIns="0" tIns="0" rIns="0" bIns="0" rtlCol="0" anchor="t"/>
          <a:lstStyle/>
          <a:p>
            <a:pPr algn="l" indent="0" marL="0">
              <a:buNone/>
            </a:pPr>
            <a:r>
              <a:rPr lang="en-US" sz="1550" b="1" dirty="0">
                <a:solidFill>
                  <a:srgbClr val="10224E"/>
                </a:solidFill>
                <a:latin typeface="Cambria" pitchFamily="34" charset="0"/>
                <a:ea typeface="Cambria" pitchFamily="34" charset="-122"/>
                <a:cs typeface="Cambria" pitchFamily="34" charset="-120"/>
              </a:rPr>
              <a:t>Ein Kanal für den Geldmarkt</a:t>
            </a:r>
            <a:endParaRPr lang="en-US" sz="1550" dirty="0"/>
          </a:p>
        </p:txBody>
      </p:sp>
      <p:sp>
        <p:nvSpPr>
          <p:cNvPr id="20" name="Text 18"/>
          <p:cNvSpPr txBox="1"/>
          <p:nvPr/>
        </p:nvSpPr>
        <p:spPr>
          <a:xfrm>
            <a:off x="6601968" y="1938528"/>
            <a:ext cx="4727448" cy="1005840"/>
          </a:xfrm>
          <a:prstGeom prst="rect">
            <a:avLst/>
          </a:prstGeom>
          <a:noFill/>
          <a:ln/>
        </p:spPr>
        <p:txBody>
          <a:bodyPr wrap="square" lIns="0" tIns="0" rIns="0" bIns="0" rtlCol="0" anchor="t"/>
          <a:lstStyle/>
          <a:p>
            <a:pPr algn="l" indent="0" marL="0">
              <a:lnSpc>
                <a:spcPct val="108000"/>
              </a:lnSpc>
              <a:buNone/>
            </a:pPr>
            <a:r>
              <a:rPr lang="en-US" sz="1250" dirty="0">
                <a:solidFill>
                  <a:srgbClr val="1A1D26"/>
                </a:solidFill>
                <a:latin typeface="Calibri" pitchFamily="34" charset="0"/>
                <a:ea typeface="Calibri" pitchFamily="34" charset="-122"/>
                <a:cs typeface="Calibri" pitchFamily="34" charset="-120"/>
              </a:rPr>
              <a:t>Zwischen Ober- und Untergrenze bewegt sich der Zins, zu dem sich Banken untereinander über Nacht Geld leihen (€STR). Die EZB steuert damit den kurzfristigen Zins sehr genau – den langfristigen Zins nur indirekt.</a:t>
            </a:r>
            <a:endParaRPr lang="en-US" sz="1250" dirty="0"/>
          </a:p>
        </p:txBody>
      </p:sp>
      <p:sp>
        <p:nvSpPr>
          <p:cNvPr id="21" name="Text 19"/>
          <p:cNvSpPr txBox="1"/>
          <p:nvPr/>
        </p:nvSpPr>
        <p:spPr>
          <a:xfrm>
            <a:off x="6601968" y="2944368"/>
            <a:ext cx="4727448" cy="365760"/>
          </a:xfrm>
          <a:prstGeom prst="rect">
            <a:avLst/>
          </a:prstGeom>
          <a:noFill/>
          <a:ln/>
        </p:spPr>
        <p:txBody>
          <a:bodyPr wrap="square" lIns="0" tIns="0" rIns="0" bIns="0" rtlCol="0" anchor="t"/>
          <a:lstStyle/>
          <a:p>
            <a:pPr algn="l" indent="0" marL="0">
              <a:buNone/>
            </a:pPr>
            <a:r>
              <a:rPr lang="en-US" sz="1150" i="1" dirty="0">
                <a:solidFill>
                  <a:srgbClr val="5A6274"/>
                </a:solidFill>
                <a:latin typeface="Calibri" pitchFamily="34" charset="0"/>
                <a:ea typeface="Calibri" pitchFamily="34" charset="-122"/>
                <a:cs typeface="Calibri" pitchFamily="34" charset="-120"/>
              </a:rPr>
              <a:t>Die Initiative bei den Fazilitäten geht immer von den Geschäftsbanken aus.</a:t>
            </a:r>
            <a:endParaRPr lang="en-US" sz="1150" dirty="0"/>
          </a:p>
        </p:txBody>
      </p:sp>
      <p:sp>
        <p:nvSpPr>
          <p:cNvPr id="22" name="Shape 20"/>
          <p:cNvSpPr/>
          <p:nvPr/>
        </p:nvSpPr>
        <p:spPr>
          <a:xfrm>
            <a:off x="6309360" y="3657600"/>
            <a:ext cx="5312664" cy="2194560"/>
          </a:xfrm>
          <a:prstGeom prst="roundRect">
            <a:avLst>
              <a:gd name="adj" fmla="val 3333"/>
            </a:avLst>
          </a:prstGeom>
          <a:solidFill>
            <a:srgbClr val="10224E"/>
          </a:solidFill>
          <a:ln w="12700">
            <a:solidFill>
              <a:srgbClr val="10224E"/>
            </a:solidFill>
            <a:prstDash val="solid"/>
          </a:ln>
          <a:effectLst>
            <a:outerShdw sx="100000" sy="100000" kx="0" ky="0" algn="bl" rotWithShape="0" blurRad="88900" dist="12700" dir="5400000">
              <a:srgbClr val="8A96AD">
                <a:alpha val="22000"/>
              </a:srgbClr>
            </a:outerShdw>
          </a:effectLst>
        </p:spPr>
      </p:sp>
      <p:sp>
        <p:nvSpPr>
          <p:cNvPr id="23" name="Text 21"/>
          <p:cNvSpPr txBox="1"/>
          <p:nvPr/>
        </p:nvSpPr>
        <p:spPr>
          <a:xfrm>
            <a:off x="6601968" y="3858768"/>
            <a:ext cx="4727448" cy="292608"/>
          </a:xfrm>
          <a:prstGeom prst="rect">
            <a:avLst/>
          </a:prstGeom>
          <a:noFill/>
          <a:ln/>
        </p:spPr>
        <p:txBody>
          <a:bodyPr wrap="square" lIns="0" tIns="0" rIns="0" bIns="0" rtlCol="0" anchor="t"/>
          <a:lstStyle/>
          <a:p>
            <a:pPr algn="l" indent="0" marL="0">
              <a:buNone/>
            </a:pPr>
            <a:r>
              <a:rPr lang="en-US" sz="1550" b="1" dirty="0">
                <a:solidFill>
                  <a:srgbClr val="FFC72C"/>
                </a:solidFill>
                <a:latin typeface="Cambria" pitchFamily="34" charset="0"/>
                <a:ea typeface="Cambria" pitchFamily="34" charset="-122"/>
                <a:cs typeface="Cambria" pitchFamily="34" charset="-120"/>
              </a:rPr>
              <a:t>Warum uns das betrifft</a:t>
            </a:r>
            <a:endParaRPr lang="en-US" sz="1550" dirty="0"/>
          </a:p>
        </p:txBody>
      </p:sp>
      <p:sp>
        <p:nvSpPr>
          <p:cNvPr id="24" name="Text 22"/>
          <p:cNvSpPr txBox="1"/>
          <p:nvPr/>
        </p:nvSpPr>
        <p:spPr>
          <a:xfrm>
            <a:off x="6601968" y="4206240"/>
            <a:ext cx="4727448" cy="1051560"/>
          </a:xfrm>
          <a:prstGeom prst="rect">
            <a:avLst/>
          </a:prstGeom>
          <a:noFill/>
          <a:ln/>
        </p:spPr>
        <p:txBody>
          <a:bodyPr wrap="square" lIns="0" tIns="0" rIns="0" bIns="0" rtlCol="0" anchor="t"/>
          <a:lstStyle/>
          <a:p>
            <a:pPr algn="l" indent="0" marL="0">
              <a:lnSpc>
                <a:spcPct val="108000"/>
              </a:lnSpc>
              <a:buNone/>
            </a:pPr>
            <a:r>
              <a:rPr lang="en-US" sz="1250" dirty="0">
                <a:solidFill>
                  <a:srgbClr val="C9D5EE"/>
                </a:solidFill>
                <a:latin typeface="Calibri" pitchFamily="34" charset="0"/>
                <a:ea typeface="Calibri" pitchFamily="34" charset="-122"/>
                <a:cs typeface="Calibri" pitchFamily="34" charset="-120"/>
              </a:rPr>
              <a:t>An diesen Sätzen hängen die Zinsen am Markt – zum Beispiel der EURIBOR, an den viele Kredite gekoppelt sind. Über die Banken landet die Entscheidung schließlich bei Sparbuch, Dispo, Autokredit und Baufinanzierung.</a:t>
            </a:r>
            <a:endParaRPr lang="en-US" sz="1250" dirty="0"/>
          </a:p>
        </p:txBody>
      </p:sp>
      <p:sp>
        <p:nvSpPr>
          <p:cNvPr id="25" name="Text 23"/>
          <p:cNvSpPr txBox="1"/>
          <p:nvPr/>
        </p:nvSpPr>
        <p:spPr>
          <a:xfrm>
            <a:off x="6601968" y="5230368"/>
            <a:ext cx="4727448" cy="512064"/>
          </a:xfrm>
          <a:prstGeom prst="rect">
            <a:avLst/>
          </a:prstGeom>
          <a:noFill/>
          <a:ln/>
        </p:spPr>
        <p:txBody>
          <a:bodyPr wrap="square" lIns="0" tIns="0" rIns="0" bIns="0" rtlCol="0" anchor="t"/>
          <a:lstStyle/>
          <a:p>
            <a:pPr algn="l" indent="0" marL="0">
              <a:lnSpc>
                <a:spcPct val="105000"/>
              </a:lnSpc>
              <a:buNone/>
            </a:pPr>
            <a:r>
              <a:rPr lang="en-US" sz="1150" i="1" dirty="0">
                <a:solidFill>
                  <a:srgbClr val="9FB0D0"/>
                </a:solidFill>
                <a:latin typeface="Calibri" pitchFamily="34" charset="0"/>
                <a:ea typeface="Calibri" pitchFamily="34" charset="-122"/>
                <a:cs typeface="Calibri" pitchFamily="34" charset="-120"/>
              </a:rPr>
              <a:t>Seit September 2024 liegt der Hauptrefinanzierungssatz nur noch 0,15 Prozentpunkte über dem Einlagesatz – gesteuert wird vor allem über die Einlagefazilität.</a:t>
            </a:r>
            <a:endParaRPr lang="en-US" sz="1150" dirty="0"/>
          </a:p>
        </p:txBody>
      </p:sp>
      <p:sp>
        <p:nvSpPr>
          <p:cNvPr id="26" name="Text 24"/>
          <p:cNvSpPr txBox="1"/>
          <p:nvPr/>
        </p:nvSpPr>
        <p:spPr>
          <a:xfrm>
            <a:off x="566928" y="6364224"/>
            <a:ext cx="5486400" cy="256032"/>
          </a:xfrm>
          <a:prstGeom prst="rect">
            <a:avLst/>
          </a:prstGeom>
          <a:noFill/>
          <a:ln/>
        </p:spPr>
        <p:txBody>
          <a:bodyPr wrap="square" lIns="0" tIns="0" rIns="0" bIns="0" rtlCol="0" anchor="t"/>
          <a:lstStyle/>
          <a:p>
            <a:pPr algn="l" indent="0" marL="0">
              <a:buNone/>
            </a:pPr>
            <a:r>
              <a:rPr lang="en-US" sz="950" dirty="0">
                <a:solidFill>
                  <a:srgbClr val="5A6274"/>
                </a:solidFill>
                <a:latin typeface="Calibri" pitchFamily="34" charset="0"/>
                <a:ea typeface="Calibri" pitchFamily="34" charset="-122"/>
                <a:cs typeface="Calibri" pitchFamily="34" charset="-120"/>
              </a:rPr>
              <a:t>Die Geldpolitik der EZB</a:t>
            </a:r>
            <a:endParaRPr lang="en-US" sz="950" dirty="0"/>
          </a:p>
        </p:txBody>
      </p:sp>
      <p:sp>
        <p:nvSpPr>
          <p:cNvPr id="27" name="Text 25"/>
          <p:cNvSpPr txBox="1"/>
          <p:nvPr/>
        </p:nvSpPr>
        <p:spPr>
          <a:xfrm>
            <a:off x="7967167" y="6364224"/>
            <a:ext cx="3657600" cy="256032"/>
          </a:xfrm>
          <a:prstGeom prst="rect">
            <a:avLst/>
          </a:prstGeom>
          <a:noFill/>
          <a:ln/>
        </p:spPr>
        <p:txBody>
          <a:bodyPr wrap="square" lIns="0" tIns="0" rIns="0" bIns="0" rtlCol="0" anchor="t"/>
          <a:lstStyle/>
          <a:p>
            <a:pPr algn="r" indent="0" marL="0">
              <a:buNone/>
            </a:pPr>
            <a:r>
              <a:rPr lang="en-US" sz="950" dirty="0">
                <a:solidFill>
                  <a:srgbClr val="5A6274"/>
                </a:solidFill>
                <a:latin typeface="Calibri" pitchFamily="34" charset="0"/>
                <a:ea typeface="Calibri" pitchFamily="34" charset="-122"/>
                <a:cs typeface="Calibri" pitchFamily="34" charset="-120"/>
              </a:rPr>
              <a:t>Folie 8 von 17</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algn="l" indent="0" marL="0">
              <a:buNone/>
            </a:pPr>
            <a:r>
              <a:rPr lang="en-US" sz="1100" b="1" spc="140" kern="0" dirty="0">
                <a:solidFill>
                  <a:srgbClr val="9A6F00"/>
                </a:solidFill>
                <a:latin typeface="Calibri" pitchFamily="34" charset="0"/>
                <a:ea typeface="Calibri" pitchFamily="34" charset="-122"/>
                <a:cs typeface="Calibri" pitchFamily="34" charset="-120"/>
              </a:rPr>
              <a:t>INSTRUMENT 2</a:t>
            </a:r>
            <a:endParaRPr lang="en-US" sz="1100" dirty="0"/>
          </a:p>
        </p:txBody>
      </p:sp>
      <p:sp>
        <p:nvSpPr>
          <p:cNvPr id="3" name="Text 1"/>
          <p:cNvSpPr txBox="1"/>
          <p:nvPr/>
        </p:nvSpPr>
        <p:spPr>
          <a:xfrm>
            <a:off x="566928" y="566928"/>
            <a:ext cx="11057839" cy="676656"/>
          </a:xfrm>
          <a:prstGeom prst="rect">
            <a:avLst/>
          </a:prstGeom>
          <a:noFill/>
          <a:ln/>
        </p:spPr>
        <p:txBody>
          <a:bodyPr wrap="square" lIns="0" tIns="0" rIns="0" bIns="0" rtlCol="0" anchor="ctr"/>
          <a:lstStyle/>
          <a:p>
            <a:pPr algn="l" indent="0" marL="0">
              <a:buNone/>
            </a:pPr>
            <a:r>
              <a:rPr lang="en-US" sz="3000" b="1" dirty="0">
                <a:solidFill>
                  <a:srgbClr val="10224E"/>
                </a:solidFill>
                <a:latin typeface="Cambria" pitchFamily="34" charset="0"/>
                <a:ea typeface="Cambria" pitchFamily="34" charset="-122"/>
                <a:cs typeface="Cambria" pitchFamily="34" charset="-120"/>
              </a:rPr>
              <a:t>Offenmarktgeschäfte: Geld auf Zeit</a:t>
            </a:r>
            <a:endParaRPr lang="en-US" sz="3000" dirty="0"/>
          </a:p>
        </p:txBody>
      </p:sp>
      <p:sp>
        <p:nvSpPr>
          <p:cNvPr id="4" name="Shape 2"/>
          <p:cNvSpPr/>
          <p:nvPr/>
        </p:nvSpPr>
        <p:spPr>
          <a:xfrm>
            <a:off x="566928" y="1389888"/>
            <a:ext cx="5394960" cy="1755648"/>
          </a:xfrm>
          <a:prstGeom prst="roundRect">
            <a:avLst>
              <a:gd name="adj" fmla="val 4167"/>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5" name="Text 3"/>
          <p:cNvSpPr txBox="1"/>
          <p:nvPr/>
        </p:nvSpPr>
        <p:spPr>
          <a:xfrm>
            <a:off x="859536" y="1554480"/>
            <a:ext cx="4809744" cy="548640"/>
          </a:xfrm>
          <a:prstGeom prst="rect">
            <a:avLst/>
          </a:prstGeom>
          <a:noFill/>
          <a:ln/>
        </p:spPr>
        <p:txBody>
          <a:bodyPr wrap="square" lIns="0" tIns="0" rIns="0" bIns="0" rtlCol="0" anchor="t"/>
          <a:lstStyle/>
          <a:p>
            <a:pPr algn="l" indent="0" marL="0">
              <a:buNone/>
            </a:pPr>
            <a:r>
              <a:rPr lang="en-US" sz="1500" b="1" dirty="0">
                <a:solidFill>
                  <a:srgbClr val="10224E"/>
                </a:solidFill>
                <a:latin typeface="Cambria" pitchFamily="34" charset="0"/>
                <a:ea typeface="Cambria" pitchFamily="34" charset="-122"/>
                <a:cs typeface="Cambria" pitchFamily="34" charset="-120"/>
              </a:rPr>
              <a:t>Hauptrefinanzierungsgeschäfte (HRG)</a:t>
            </a:r>
            <a:endParaRPr lang="en-US" sz="1500" dirty="0"/>
          </a:p>
        </p:txBody>
      </p:sp>
      <p:sp>
        <p:nvSpPr>
          <p:cNvPr id="6" name="Text 4"/>
          <p:cNvSpPr txBox="1"/>
          <p:nvPr/>
        </p:nvSpPr>
        <p:spPr>
          <a:xfrm>
            <a:off x="859536" y="2139696"/>
            <a:ext cx="4809744" cy="914400"/>
          </a:xfrm>
          <a:prstGeom prst="rect">
            <a:avLst/>
          </a:prstGeom>
          <a:noFill/>
          <a:ln/>
        </p:spPr>
        <p:txBody>
          <a:bodyPr wrap="square" lIns="0" tIns="0" rIns="0" bIns="0" rtlCol="0" anchor="t"/>
          <a:lstStyle/>
          <a:p>
            <a:pPr algn="l" marL="177800" indent="-177800">
              <a:lnSpc>
                <a:spcPct val="105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wöchentlich angeboten, Laufzeit eine Woche</a:t>
            </a:r>
            <a:endParaRPr lang="en-US" sz="1250" dirty="0"/>
          </a:p>
          <a:p>
            <a:pPr algn="l" marL="177800" indent="-177800">
              <a:lnSpc>
                <a:spcPct val="105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hier gilt der Leitzins der EZB</a:t>
            </a:r>
            <a:endParaRPr lang="en-US" sz="1250" dirty="0"/>
          </a:p>
          <a:p>
            <a:pPr algn="l" marL="177800" indent="-177800">
              <a:lnSpc>
                <a:spcPct val="105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wichtigste Quelle für Zentralbankgeld</a:t>
            </a:r>
            <a:endParaRPr lang="en-US" sz="1250" dirty="0"/>
          </a:p>
        </p:txBody>
      </p:sp>
      <p:sp>
        <p:nvSpPr>
          <p:cNvPr id="7" name="Shape 5"/>
          <p:cNvSpPr/>
          <p:nvPr/>
        </p:nvSpPr>
        <p:spPr>
          <a:xfrm>
            <a:off x="566928" y="3273552"/>
            <a:ext cx="5394960" cy="1755648"/>
          </a:xfrm>
          <a:prstGeom prst="roundRect">
            <a:avLst>
              <a:gd name="adj" fmla="val 4167"/>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8" name="Text 6"/>
          <p:cNvSpPr txBox="1"/>
          <p:nvPr/>
        </p:nvSpPr>
        <p:spPr>
          <a:xfrm>
            <a:off x="859536" y="3438144"/>
            <a:ext cx="4809744" cy="548640"/>
          </a:xfrm>
          <a:prstGeom prst="rect">
            <a:avLst/>
          </a:prstGeom>
          <a:noFill/>
          <a:ln/>
        </p:spPr>
        <p:txBody>
          <a:bodyPr wrap="square" lIns="0" tIns="0" rIns="0" bIns="0" rtlCol="0" anchor="t"/>
          <a:lstStyle/>
          <a:p>
            <a:pPr algn="l" indent="0" marL="0">
              <a:buNone/>
            </a:pPr>
            <a:r>
              <a:rPr lang="en-US" sz="1500" b="1" dirty="0">
                <a:solidFill>
                  <a:srgbClr val="10224E"/>
                </a:solidFill>
                <a:latin typeface="Cambria" pitchFamily="34" charset="0"/>
                <a:ea typeface="Cambria" pitchFamily="34" charset="-122"/>
                <a:cs typeface="Cambria" pitchFamily="34" charset="-120"/>
              </a:rPr>
              <a:t>Längerfristige Refinanzierungsgeschäfte (LRG)</a:t>
            </a:r>
            <a:endParaRPr lang="en-US" sz="1500" dirty="0"/>
          </a:p>
        </p:txBody>
      </p:sp>
      <p:sp>
        <p:nvSpPr>
          <p:cNvPr id="9" name="Text 7"/>
          <p:cNvSpPr txBox="1"/>
          <p:nvPr/>
        </p:nvSpPr>
        <p:spPr>
          <a:xfrm>
            <a:off x="859536" y="4023360"/>
            <a:ext cx="4809744" cy="914400"/>
          </a:xfrm>
          <a:prstGeom prst="rect">
            <a:avLst/>
          </a:prstGeom>
          <a:noFill/>
          <a:ln/>
        </p:spPr>
        <p:txBody>
          <a:bodyPr wrap="square" lIns="0" tIns="0" rIns="0" bIns="0" rtlCol="0" anchor="t"/>
          <a:lstStyle/>
          <a:p>
            <a:pPr algn="l" marL="177800" indent="-177800">
              <a:lnSpc>
                <a:spcPct val="105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monatlich angeboten, Laufzeit drei Monate</a:t>
            </a:r>
            <a:endParaRPr lang="en-US" sz="1250" dirty="0"/>
          </a:p>
          <a:p>
            <a:pPr algn="l" marL="177800" indent="-177800">
              <a:lnSpc>
                <a:spcPct val="105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sichern die Basisversorgung mit Liquidität</a:t>
            </a:r>
            <a:endParaRPr lang="en-US" sz="1250" dirty="0"/>
          </a:p>
          <a:p>
            <a:pPr algn="l" marL="177800" indent="-177800">
              <a:lnSpc>
                <a:spcPct val="105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geben den Banken Planungssicherheit</a:t>
            </a:r>
            <a:endParaRPr lang="en-US" sz="1250" dirty="0"/>
          </a:p>
        </p:txBody>
      </p:sp>
      <p:sp>
        <p:nvSpPr>
          <p:cNvPr id="10" name="Shape 8"/>
          <p:cNvSpPr/>
          <p:nvPr/>
        </p:nvSpPr>
        <p:spPr>
          <a:xfrm>
            <a:off x="566928" y="5175504"/>
            <a:ext cx="5394960" cy="694944"/>
          </a:xfrm>
          <a:prstGeom prst="roundRect">
            <a:avLst>
              <a:gd name="adj" fmla="val 10526"/>
            </a:avLst>
          </a:prstGeom>
          <a:solidFill>
            <a:srgbClr val="10224E"/>
          </a:solidFill>
          <a:ln w="12700">
            <a:solidFill>
              <a:srgbClr val="10224E"/>
            </a:solidFill>
            <a:prstDash val="solid"/>
          </a:ln>
          <a:effectLst>
            <a:outerShdw sx="100000" sy="100000" kx="0" ky="0" algn="bl" rotWithShape="0" blurRad="88900" dist="12700" dir="5400000">
              <a:srgbClr val="8A96AD">
                <a:alpha val="22000"/>
              </a:srgbClr>
            </a:outerShdw>
          </a:effectLst>
        </p:spPr>
      </p:sp>
      <p:sp>
        <p:nvSpPr>
          <p:cNvPr id="11" name="Text 9"/>
          <p:cNvSpPr txBox="1"/>
          <p:nvPr/>
        </p:nvSpPr>
        <p:spPr>
          <a:xfrm>
            <a:off x="859536" y="5175504"/>
            <a:ext cx="4809744" cy="694944"/>
          </a:xfrm>
          <a:prstGeom prst="rect">
            <a:avLst/>
          </a:prstGeom>
          <a:noFill/>
          <a:ln/>
        </p:spPr>
        <p:txBody>
          <a:bodyPr wrap="square" lIns="0" tIns="0" rIns="0" bIns="0" rtlCol="0" anchor="ctr"/>
          <a:lstStyle/>
          <a:p>
            <a:pPr algn="l" indent="0" marL="0">
              <a:lnSpc>
                <a:spcPct val="105000"/>
              </a:lnSpc>
              <a:buNone/>
            </a:pPr>
            <a:r>
              <a:rPr lang="en-US" sz="1250" dirty="0">
                <a:solidFill>
                  <a:srgbClr val="FFFFFF"/>
                </a:solidFill>
                <a:latin typeface="Calibri" pitchFamily="34" charset="0"/>
                <a:ea typeface="Calibri" pitchFamily="34" charset="-122"/>
                <a:cs typeface="Calibri" pitchFamily="34" charset="-120"/>
              </a:rPr>
              <a:t>Immer gegen Sicherheiten: Die Banken hinterlegen Wertpapiere und kaufen sie später zurück (Pfandgeschäft bzw. Repo).</a:t>
            </a:r>
            <a:endParaRPr lang="en-US" sz="1250" dirty="0"/>
          </a:p>
        </p:txBody>
      </p:sp>
      <p:sp>
        <p:nvSpPr>
          <p:cNvPr id="12" name="Shape 10"/>
          <p:cNvSpPr/>
          <p:nvPr/>
        </p:nvSpPr>
        <p:spPr>
          <a:xfrm>
            <a:off x="6227064" y="1389888"/>
            <a:ext cx="5394960" cy="2359152"/>
          </a:xfrm>
          <a:prstGeom prst="roundRect">
            <a:avLst>
              <a:gd name="adj" fmla="val 3101"/>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3" name="Text 11"/>
          <p:cNvSpPr txBox="1"/>
          <p:nvPr/>
        </p:nvSpPr>
        <p:spPr>
          <a:xfrm>
            <a:off x="6519672" y="1572768"/>
            <a:ext cx="4809744" cy="292608"/>
          </a:xfrm>
          <a:prstGeom prst="rect">
            <a:avLst/>
          </a:prstGeom>
          <a:noFill/>
          <a:ln/>
        </p:spPr>
        <p:txBody>
          <a:bodyPr wrap="square" lIns="0" tIns="0" rIns="0" bIns="0" rtlCol="0" anchor="t"/>
          <a:lstStyle/>
          <a:p>
            <a:pPr algn="l" indent="0" marL="0">
              <a:buNone/>
            </a:pPr>
            <a:r>
              <a:rPr lang="en-US" sz="1500" b="1" dirty="0">
                <a:solidFill>
                  <a:srgbClr val="10224E"/>
                </a:solidFill>
                <a:latin typeface="Cambria" pitchFamily="34" charset="0"/>
                <a:ea typeface="Cambria" pitchFamily="34" charset="-122"/>
                <a:cs typeface="Cambria" pitchFamily="34" charset="-120"/>
              </a:rPr>
              <a:t>So läuft ein Geschäft ab</a:t>
            </a:r>
            <a:endParaRPr lang="en-US" sz="1500" dirty="0"/>
          </a:p>
        </p:txBody>
      </p:sp>
      <p:sp>
        <p:nvSpPr>
          <p:cNvPr id="14" name="Shape 12"/>
          <p:cNvSpPr/>
          <p:nvPr/>
        </p:nvSpPr>
        <p:spPr>
          <a:xfrm>
            <a:off x="6537960" y="1975104"/>
            <a:ext cx="292608" cy="292608"/>
          </a:xfrm>
          <a:prstGeom prst="ellipse">
            <a:avLst/>
          </a:prstGeom>
          <a:solidFill>
            <a:srgbClr val="FFC72C"/>
          </a:solidFill>
          <a:ln w="12700">
            <a:solidFill>
              <a:srgbClr val="FFC72C"/>
            </a:solidFill>
            <a:prstDash val="solid"/>
          </a:ln>
        </p:spPr>
      </p:sp>
      <p:sp>
        <p:nvSpPr>
          <p:cNvPr id="15" name="Text 13"/>
          <p:cNvSpPr txBox="1"/>
          <p:nvPr/>
        </p:nvSpPr>
        <p:spPr>
          <a:xfrm>
            <a:off x="6537960" y="1975104"/>
            <a:ext cx="292608" cy="292608"/>
          </a:xfrm>
          <a:prstGeom prst="rect">
            <a:avLst/>
          </a:prstGeom>
          <a:noFill/>
          <a:ln/>
        </p:spPr>
        <p:txBody>
          <a:bodyPr wrap="square" lIns="0" tIns="0" rIns="0" bIns="0" rtlCol="0" anchor="ctr"/>
          <a:lstStyle/>
          <a:p>
            <a:pPr algn="ctr" indent="0" marL="0">
              <a:buNone/>
            </a:pPr>
            <a:r>
              <a:rPr lang="en-US" sz="1100" b="1" dirty="0">
                <a:solidFill>
                  <a:srgbClr val="10224E"/>
                </a:solidFill>
                <a:latin typeface="Cambria" pitchFamily="34" charset="0"/>
                <a:ea typeface="Cambria" pitchFamily="34" charset="-122"/>
                <a:cs typeface="Cambria" pitchFamily="34" charset="-120"/>
              </a:rPr>
              <a:t>1</a:t>
            </a:r>
            <a:endParaRPr lang="en-US" sz="1100" dirty="0"/>
          </a:p>
        </p:txBody>
      </p:sp>
      <p:sp>
        <p:nvSpPr>
          <p:cNvPr id="16" name="Text 14"/>
          <p:cNvSpPr txBox="1"/>
          <p:nvPr/>
        </p:nvSpPr>
        <p:spPr>
          <a:xfrm>
            <a:off x="6958584" y="1956816"/>
            <a:ext cx="4343400" cy="329184"/>
          </a:xfrm>
          <a:prstGeom prst="rect">
            <a:avLst/>
          </a:prstGeom>
          <a:noFill/>
          <a:ln/>
        </p:spPr>
        <p:txBody>
          <a:bodyPr wrap="square" lIns="0" tIns="0" rIns="0" bIns="0" rtlCol="0" anchor="ctr"/>
          <a:lstStyle/>
          <a:p>
            <a:pPr algn="l" indent="0" marL="0">
              <a:buNone/>
            </a:pPr>
            <a:r>
              <a:rPr lang="en-US" sz="1250" dirty="0">
                <a:solidFill>
                  <a:srgbClr val="1A1D26"/>
                </a:solidFill>
                <a:latin typeface="Calibri" pitchFamily="34" charset="0"/>
                <a:ea typeface="Calibri" pitchFamily="34" charset="-122"/>
                <a:cs typeface="Calibri" pitchFamily="34" charset="-120"/>
              </a:rPr>
              <a:t>Die EZB schreibt einen Betrag aus (Tender).</a:t>
            </a:r>
            <a:endParaRPr lang="en-US" sz="1250" dirty="0"/>
          </a:p>
        </p:txBody>
      </p:sp>
      <p:sp>
        <p:nvSpPr>
          <p:cNvPr id="17" name="Shape 15"/>
          <p:cNvSpPr/>
          <p:nvPr/>
        </p:nvSpPr>
        <p:spPr>
          <a:xfrm>
            <a:off x="6537960" y="2395728"/>
            <a:ext cx="292608" cy="292608"/>
          </a:xfrm>
          <a:prstGeom prst="ellipse">
            <a:avLst/>
          </a:prstGeom>
          <a:solidFill>
            <a:srgbClr val="FFC72C"/>
          </a:solidFill>
          <a:ln w="12700">
            <a:solidFill>
              <a:srgbClr val="FFC72C"/>
            </a:solidFill>
            <a:prstDash val="solid"/>
          </a:ln>
        </p:spPr>
      </p:sp>
      <p:sp>
        <p:nvSpPr>
          <p:cNvPr id="18" name="Text 16"/>
          <p:cNvSpPr txBox="1"/>
          <p:nvPr/>
        </p:nvSpPr>
        <p:spPr>
          <a:xfrm>
            <a:off x="6537960" y="2395728"/>
            <a:ext cx="292608" cy="292608"/>
          </a:xfrm>
          <a:prstGeom prst="rect">
            <a:avLst/>
          </a:prstGeom>
          <a:noFill/>
          <a:ln/>
        </p:spPr>
        <p:txBody>
          <a:bodyPr wrap="square" lIns="0" tIns="0" rIns="0" bIns="0" rtlCol="0" anchor="ctr"/>
          <a:lstStyle/>
          <a:p>
            <a:pPr algn="ctr" indent="0" marL="0">
              <a:buNone/>
            </a:pPr>
            <a:r>
              <a:rPr lang="en-US" sz="1100" b="1" dirty="0">
                <a:solidFill>
                  <a:srgbClr val="10224E"/>
                </a:solidFill>
                <a:latin typeface="Cambria" pitchFamily="34" charset="0"/>
                <a:ea typeface="Cambria" pitchFamily="34" charset="-122"/>
                <a:cs typeface="Cambria" pitchFamily="34" charset="-120"/>
              </a:rPr>
              <a:t>2</a:t>
            </a:r>
            <a:endParaRPr lang="en-US" sz="1100" dirty="0"/>
          </a:p>
        </p:txBody>
      </p:sp>
      <p:sp>
        <p:nvSpPr>
          <p:cNvPr id="19" name="Text 17"/>
          <p:cNvSpPr txBox="1"/>
          <p:nvPr/>
        </p:nvSpPr>
        <p:spPr>
          <a:xfrm>
            <a:off x="6958584" y="2377440"/>
            <a:ext cx="4343400" cy="329184"/>
          </a:xfrm>
          <a:prstGeom prst="rect">
            <a:avLst/>
          </a:prstGeom>
          <a:noFill/>
          <a:ln/>
        </p:spPr>
        <p:txBody>
          <a:bodyPr wrap="square" lIns="0" tIns="0" rIns="0" bIns="0" rtlCol="0" anchor="ctr"/>
          <a:lstStyle/>
          <a:p>
            <a:pPr algn="l" indent="0" marL="0">
              <a:buNone/>
            </a:pPr>
            <a:r>
              <a:rPr lang="en-US" sz="1250" dirty="0">
                <a:solidFill>
                  <a:srgbClr val="1A1D26"/>
                </a:solidFill>
                <a:latin typeface="Calibri" pitchFamily="34" charset="0"/>
                <a:ea typeface="Calibri" pitchFamily="34" charset="-122"/>
                <a:cs typeface="Calibri" pitchFamily="34" charset="-120"/>
              </a:rPr>
              <a:t>Die Banken geben ihre Gebote ab.</a:t>
            </a:r>
            <a:endParaRPr lang="en-US" sz="1250" dirty="0"/>
          </a:p>
        </p:txBody>
      </p:sp>
      <p:sp>
        <p:nvSpPr>
          <p:cNvPr id="20" name="Shape 18"/>
          <p:cNvSpPr/>
          <p:nvPr/>
        </p:nvSpPr>
        <p:spPr>
          <a:xfrm>
            <a:off x="6537960" y="2816352"/>
            <a:ext cx="292608" cy="292608"/>
          </a:xfrm>
          <a:prstGeom prst="ellipse">
            <a:avLst/>
          </a:prstGeom>
          <a:solidFill>
            <a:srgbClr val="FFC72C"/>
          </a:solidFill>
          <a:ln w="12700">
            <a:solidFill>
              <a:srgbClr val="FFC72C"/>
            </a:solidFill>
            <a:prstDash val="solid"/>
          </a:ln>
        </p:spPr>
      </p:sp>
      <p:sp>
        <p:nvSpPr>
          <p:cNvPr id="21" name="Text 19"/>
          <p:cNvSpPr txBox="1"/>
          <p:nvPr/>
        </p:nvSpPr>
        <p:spPr>
          <a:xfrm>
            <a:off x="6537960" y="2816352"/>
            <a:ext cx="292608" cy="292608"/>
          </a:xfrm>
          <a:prstGeom prst="rect">
            <a:avLst/>
          </a:prstGeom>
          <a:noFill/>
          <a:ln/>
        </p:spPr>
        <p:txBody>
          <a:bodyPr wrap="square" lIns="0" tIns="0" rIns="0" bIns="0" rtlCol="0" anchor="ctr"/>
          <a:lstStyle/>
          <a:p>
            <a:pPr algn="ctr" indent="0" marL="0">
              <a:buNone/>
            </a:pPr>
            <a:r>
              <a:rPr lang="en-US" sz="1100" b="1" dirty="0">
                <a:solidFill>
                  <a:srgbClr val="10224E"/>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6958584" y="2798064"/>
            <a:ext cx="4343400" cy="329184"/>
          </a:xfrm>
          <a:prstGeom prst="rect">
            <a:avLst/>
          </a:prstGeom>
          <a:noFill/>
          <a:ln/>
        </p:spPr>
        <p:txBody>
          <a:bodyPr wrap="square" lIns="0" tIns="0" rIns="0" bIns="0" rtlCol="0" anchor="ctr"/>
          <a:lstStyle/>
          <a:p>
            <a:pPr algn="l" indent="0" marL="0">
              <a:buNone/>
            </a:pPr>
            <a:r>
              <a:rPr lang="en-US" sz="1250" dirty="0">
                <a:solidFill>
                  <a:srgbClr val="1A1D26"/>
                </a:solidFill>
                <a:latin typeface="Calibri" pitchFamily="34" charset="0"/>
                <a:ea typeface="Calibri" pitchFamily="34" charset="-122"/>
                <a:cs typeface="Calibri" pitchFamily="34" charset="-120"/>
              </a:rPr>
              <a:t>Zuteilung des Zentralbankgeldes gegen Sicherheiten.</a:t>
            </a:r>
            <a:endParaRPr lang="en-US" sz="1250" dirty="0"/>
          </a:p>
        </p:txBody>
      </p:sp>
      <p:sp>
        <p:nvSpPr>
          <p:cNvPr id="23" name="Shape 21"/>
          <p:cNvSpPr/>
          <p:nvPr/>
        </p:nvSpPr>
        <p:spPr>
          <a:xfrm>
            <a:off x="6537960" y="3236976"/>
            <a:ext cx="292608" cy="292608"/>
          </a:xfrm>
          <a:prstGeom prst="ellipse">
            <a:avLst/>
          </a:prstGeom>
          <a:solidFill>
            <a:srgbClr val="FFC72C"/>
          </a:solidFill>
          <a:ln w="12700">
            <a:solidFill>
              <a:srgbClr val="FFC72C"/>
            </a:solidFill>
            <a:prstDash val="solid"/>
          </a:ln>
        </p:spPr>
      </p:sp>
      <p:sp>
        <p:nvSpPr>
          <p:cNvPr id="24" name="Text 22"/>
          <p:cNvSpPr txBox="1"/>
          <p:nvPr/>
        </p:nvSpPr>
        <p:spPr>
          <a:xfrm>
            <a:off x="6537960" y="3236976"/>
            <a:ext cx="292608" cy="292608"/>
          </a:xfrm>
          <a:prstGeom prst="rect">
            <a:avLst/>
          </a:prstGeom>
          <a:noFill/>
          <a:ln/>
        </p:spPr>
        <p:txBody>
          <a:bodyPr wrap="square" lIns="0" tIns="0" rIns="0" bIns="0" rtlCol="0" anchor="ctr"/>
          <a:lstStyle/>
          <a:p>
            <a:pPr algn="ctr" indent="0" marL="0">
              <a:buNone/>
            </a:pPr>
            <a:r>
              <a:rPr lang="en-US" sz="1100" b="1" dirty="0">
                <a:solidFill>
                  <a:srgbClr val="10224E"/>
                </a:solidFill>
                <a:latin typeface="Cambria" pitchFamily="34" charset="0"/>
                <a:ea typeface="Cambria" pitchFamily="34" charset="-122"/>
                <a:cs typeface="Cambria" pitchFamily="34" charset="-120"/>
              </a:rPr>
              <a:t>4</a:t>
            </a:r>
            <a:endParaRPr lang="en-US" sz="1100" dirty="0"/>
          </a:p>
        </p:txBody>
      </p:sp>
      <p:sp>
        <p:nvSpPr>
          <p:cNvPr id="25" name="Text 23"/>
          <p:cNvSpPr txBox="1"/>
          <p:nvPr/>
        </p:nvSpPr>
        <p:spPr>
          <a:xfrm>
            <a:off x="6958584" y="3218688"/>
            <a:ext cx="4343400" cy="329184"/>
          </a:xfrm>
          <a:prstGeom prst="rect">
            <a:avLst/>
          </a:prstGeom>
          <a:noFill/>
          <a:ln/>
        </p:spPr>
        <p:txBody>
          <a:bodyPr wrap="square" lIns="0" tIns="0" rIns="0" bIns="0" rtlCol="0" anchor="ctr"/>
          <a:lstStyle/>
          <a:p>
            <a:pPr algn="l" indent="0" marL="0">
              <a:buNone/>
            </a:pPr>
            <a:r>
              <a:rPr lang="en-US" sz="1250" dirty="0">
                <a:solidFill>
                  <a:srgbClr val="1A1D26"/>
                </a:solidFill>
                <a:latin typeface="Calibri" pitchFamily="34" charset="0"/>
                <a:ea typeface="Calibri" pitchFamily="34" charset="-122"/>
                <a:cs typeface="Calibri" pitchFamily="34" charset="-120"/>
              </a:rPr>
              <a:t>Rückzahlung mit Zins nach Ablauf der Frist.</a:t>
            </a:r>
            <a:endParaRPr lang="en-US" sz="1250" dirty="0"/>
          </a:p>
        </p:txBody>
      </p:sp>
      <p:sp>
        <p:nvSpPr>
          <p:cNvPr id="26" name="Shape 24"/>
          <p:cNvSpPr/>
          <p:nvPr/>
        </p:nvSpPr>
        <p:spPr>
          <a:xfrm>
            <a:off x="6227064" y="3931920"/>
            <a:ext cx="5394960" cy="1920240"/>
          </a:xfrm>
          <a:prstGeom prst="roundRect">
            <a:avLst>
              <a:gd name="adj" fmla="val 3810"/>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27" name="Text 25"/>
          <p:cNvSpPr txBox="1"/>
          <p:nvPr/>
        </p:nvSpPr>
        <p:spPr>
          <a:xfrm>
            <a:off x="6519672" y="4114800"/>
            <a:ext cx="4809744" cy="292608"/>
          </a:xfrm>
          <a:prstGeom prst="rect">
            <a:avLst/>
          </a:prstGeom>
          <a:noFill/>
          <a:ln/>
        </p:spPr>
        <p:txBody>
          <a:bodyPr wrap="square" lIns="0" tIns="0" rIns="0" bIns="0" rtlCol="0" anchor="t"/>
          <a:lstStyle/>
          <a:p>
            <a:pPr algn="l" indent="0" marL="0">
              <a:buNone/>
            </a:pPr>
            <a:r>
              <a:rPr lang="en-US" sz="1500" b="1" dirty="0">
                <a:solidFill>
                  <a:srgbClr val="10224E"/>
                </a:solidFill>
                <a:latin typeface="Cambria" pitchFamily="34" charset="0"/>
                <a:ea typeface="Cambria" pitchFamily="34" charset="-122"/>
                <a:cs typeface="Cambria" pitchFamily="34" charset="-120"/>
              </a:rPr>
              <a:t>Zwei Tenderverfahren</a:t>
            </a:r>
            <a:endParaRPr lang="en-US" sz="1500" dirty="0"/>
          </a:p>
        </p:txBody>
      </p:sp>
      <p:sp>
        <p:nvSpPr>
          <p:cNvPr id="28" name="Text 26"/>
          <p:cNvSpPr txBox="1"/>
          <p:nvPr/>
        </p:nvSpPr>
        <p:spPr>
          <a:xfrm>
            <a:off x="6519672" y="4462272"/>
            <a:ext cx="4809744" cy="1188720"/>
          </a:xfrm>
          <a:prstGeom prst="rect">
            <a:avLst/>
          </a:prstGeom>
          <a:noFill/>
          <a:ln/>
        </p:spPr>
        <p:txBody>
          <a:bodyPr wrap="square" lIns="0" tIns="0" rIns="0" bIns="0" rtlCol="0" anchor="t"/>
          <a:lstStyle/>
          <a:p>
            <a:pPr algn="l" indent="0" marL="0">
              <a:lnSpc>
                <a:spcPct val="108000"/>
              </a:lnSpc>
              <a:buNone/>
            </a:pPr>
            <a:r>
              <a:rPr lang="en-US" sz="1250" b="1" dirty="0">
                <a:solidFill>
                  <a:srgbClr val="10224E"/>
                </a:solidFill>
                <a:latin typeface="Calibri" pitchFamily="34" charset="0"/>
                <a:ea typeface="Calibri" pitchFamily="34" charset="-122"/>
                <a:cs typeface="Calibri" pitchFamily="34" charset="-120"/>
              </a:rPr>
              <a:t>Mengentender: </a:t>
            </a:r>
            <a:pPr algn="l" indent="0" marL="0">
              <a:lnSpc>
                <a:spcPct val="108000"/>
              </a:lnSpc>
              <a:buNone/>
            </a:pPr>
            <a:r>
              <a:rPr lang="en-US" sz="1250" dirty="0">
                <a:solidFill>
                  <a:srgbClr val="1A1D26"/>
                </a:solidFill>
                <a:latin typeface="Calibri" pitchFamily="34" charset="0"/>
                <a:ea typeface="Calibri" pitchFamily="34" charset="-122"/>
                <a:cs typeface="Calibri" pitchFamily="34" charset="-120"/>
              </a:rPr>
              <a:t>Der Zins steht fest, die Banken nennen nur die gewünschte Menge. Zugeteilt wird nach Quote.</a:t>
            </a:r>
            <a:endParaRPr lang="en-US" sz="1250" dirty="0"/>
          </a:p>
          <a:p>
            <a:pPr algn="l" indent="0" marL="0">
              <a:lnSpc>
                <a:spcPct val="108000"/>
              </a:lnSpc>
              <a:spcBef>
                <a:spcPts val="600"/>
              </a:spcBef>
              <a:buNone/>
            </a:pPr>
            <a:r>
              <a:rPr lang="en-US" sz="1250" b="1" dirty="0">
                <a:solidFill>
                  <a:srgbClr val="10224E"/>
                </a:solidFill>
                <a:latin typeface="Calibri" pitchFamily="34" charset="0"/>
                <a:ea typeface="Calibri" pitchFamily="34" charset="-122"/>
                <a:cs typeface="Calibri" pitchFamily="34" charset="-120"/>
              </a:rPr>
              <a:t>Zinstender: </a:t>
            </a:r>
            <a:pPr algn="l" indent="0" marL="0">
              <a:lnSpc>
                <a:spcPct val="108000"/>
              </a:lnSpc>
              <a:buNone/>
            </a:pPr>
            <a:r>
              <a:rPr lang="en-US" sz="1250" dirty="0">
                <a:solidFill>
                  <a:srgbClr val="1A1D26"/>
                </a:solidFill>
                <a:latin typeface="Calibri" pitchFamily="34" charset="0"/>
                <a:ea typeface="Calibri" pitchFamily="34" charset="-122"/>
                <a:cs typeface="Calibri" pitchFamily="34" charset="-120"/>
              </a:rPr>
              <a:t>Die Banken nennen Menge und Zins, den sie zu zahlen bereit sind. Wer mehr bietet, wird zuerst bedient.</a:t>
            </a:r>
            <a:endParaRPr lang="en-US" sz="1250" dirty="0"/>
          </a:p>
        </p:txBody>
      </p:sp>
      <p:sp>
        <p:nvSpPr>
          <p:cNvPr id="29" name="Text 27"/>
          <p:cNvSpPr txBox="1"/>
          <p:nvPr/>
        </p:nvSpPr>
        <p:spPr>
          <a:xfrm>
            <a:off x="566928" y="6364224"/>
            <a:ext cx="5486400" cy="256032"/>
          </a:xfrm>
          <a:prstGeom prst="rect">
            <a:avLst/>
          </a:prstGeom>
          <a:noFill/>
          <a:ln/>
        </p:spPr>
        <p:txBody>
          <a:bodyPr wrap="square" lIns="0" tIns="0" rIns="0" bIns="0" rtlCol="0" anchor="t"/>
          <a:lstStyle/>
          <a:p>
            <a:pPr algn="l" indent="0" marL="0">
              <a:buNone/>
            </a:pPr>
            <a:r>
              <a:rPr lang="en-US" sz="950" dirty="0">
                <a:solidFill>
                  <a:srgbClr val="5A6274"/>
                </a:solidFill>
                <a:latin typeface="Calibri" pitchFamily="34" charset="0"/>
                <a:ea typeface="Calibri" pitchFamily="34" charset="-122"/>
                <a:cs typeface="Calibri" pitchFamily="34" charset="-120"/>
              </a:rPr>
              <a:t>Die Geldpolitik der EZB</a:t>
            </a:r>
            <a:endParaRPr lang="en-US" sz="950" dirty="0"/>
          </a:p>
        </p:txBody>
      </p:sp>
      <p:sp>
        <p:nvSpPr>
          <p:cNvPr id="30" name="Text 28"/>
          <p:cNvSpPr txBox="1"/>
          <p:nvPr/>
        </p:nvSpPr>
        <p:spPr>
          <a:xfrm>
            <a:off x="7967167" y="6364224"/>
            <a:ext cx="3657600" cy="256032"/>
          </a:xfrm>
          <a:prstGeom prst="rect">
            <a:avLst/>
          </a:prstGeom>
          <a:noFill/>
          <a:ln/>
        </p:spPr>
        <p:txBody>
          <a:bodyPr wrap="square" lIns="0" tIns="0" rIns="0" bIns="0" rtlCol="0" anchor="t"/>
          <a:lstStyle/>
          <a:p>
            <a:pPr algn="r" indent="0" marL="0">
              <a:buNone/>
            </a:pPr>
            <a:r>
              <a:rPr lang="en-US" sz="950" dirty="0">
                <a:solidFill>
                  <a:srgbClr val="5A6274"/>
                </a:solidFill>
                <a:latin typeface="Calibri" pitchFamily="34" charset="0"/>
                <a:ea typeface="Calibri" pitchFamily="34" charset="-122"/>
                <a:cs typeface="Calibri" pitchFamily="34" charset="-120"/>
              </a:rPr>
              <a:t>Folie 9 von 17</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algn="l" indent="0" marL="0">
              <a:buNone/>
            </a:pPr>
            <a:r>
              <a:rPr lang="en-US" sz="1100" b="1" spc="140" kern="0" dirty="0">
                <a:solidFill>
                  <a:srgbClr val="9A6F00"/>
                </a:solidFill>
                <a:latin typeface="Calibri" pitchFamily="34" charset="0"/>
                <a:ea typeface="Calibri" pitchFamily="34" charset="-122"/>
                <a:cs typeface="Calibri" pitchFamily="34" charset="-120"/>
              </a:rPr>
              <a:t>INSTRUMENT 3</a:t>
            </a:r>
            <a:endParaRPr lang="en-US" sz="1100" dirty="0"/>
          </a:p>
        </p:txBody>
      </p:sp>
      <p:sp>
        <p:nvSpPr>
          <p:cNvPr id="3" name="Text 1"/>
          <p:cNvSpPr txBox="1"/>
          <p:nvPr/>
        </p:nvSpPr>
        <p:spPr>
          <a:xfrm>
            <a:off x="566928" y="566928"/>
            <a:ext cx="11057839" cy="676656"/>
          </a:xfrm>
          <a:prstGeom prst="rect">
            <a:avLst/>
          </a:prstGeom>
          <a:noFill/>
          <a:ln/>
        </p:spPr>
        <p:txBody>
          <a:bodyPr wrap="square" lIns="0" tIns="0" rIns="0" bIns="0" rtlCol="0" anchor="ctr"/>
          <a:lstStyle/>
          <a:p>
            <a:pPr algn="l" indent="0" marL="0">
              <a:buNone/>
            </a:pPr>
            <a:r>
              <a:rPr lang="en-US" sz="3000" b="1" dirty="0">
                <a:solidFill>
                  <a:srgbClr val="10224E"/>
                </a:solidFill>
                <a:latin typeface="Cambria" pitchFamily="34" charset="0"/>
                <a:ea typeface="Cambria" pitchFamily="34" charset="-122"/>
                <a:cs typeface="Cambria" pitchFamily="34" charset="-120"/>
              </a:rPr>
              <a:t>Die Mindestreserve</a:t>
            </a:r>
            <a:endParaRPr lang="en-US" sz="3000" dirty="0"/>
          </a:p>
        </p:txBody>
      </p:sp>
      <p:sp>
        <p:nvSpPr>
          <p:cNvPr id="4" name="Shape 2"/>
          <p:cNvSpPr/>
          <p:nvPr/>
        </p:nvSpPr>
        <p:spPr>
          <a:xfrm>
            <a:off x="566928" y="1389888"/>
            <a:ext cx="5852160" cy="2359152"/>
          </a:xfrm>
          <a:prstGeom prst="roundRect">
            <a:avLst>
              <a:gd name="adj" fmla="val 3101"/>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5" name="Text 3"/>
          <p:cNvSpPr txBox="1"/>
          <p:nvPr/>
        </p:nvSpPr>
        <p:spPr>
          <a:xfrm>
            <a:off x="859536" y="1572768"/>
            <a:ext cx="5266944" cy="292608"/>
          </a:xfrm>
          <a:prstGeom prst="rect">
            <a:avLst/>
          </a:prstGeom>
          <a:noFill/>
          <a:ln/>
        </p:spPr>
        <p:txBody>
          <a:bodyPr wrap="square" lIns="0" tIns="0" rIns="0" bIns="0" rtlCol="0" anchor="t"/>
          <a:lstStyle/>
          <a:p>
            <a:pPr algn="l" indent="0" marL="0">
              <a:buNone/>
            </a:pPr>
            <a:r>
              <a:rPr lang="en-US" sz="1550" b="1" dirty="0">
                <a:solidFill>
                  <a:srgbClr val="10224E"/>
                </a:solidFill>
                <a:latin typeface="Cambria" pitchFamily="34" charset="0"/>
                <a:ea typeface="Cambria" pitchFamily="34" charset="-122"/>
                <a:cs typeface="Cambria" pitchFamily="34" charset="-120"/>
              </a:rPr>
              <a:t>Was steckt dahinter?</a:t>
            </a:r>
            <a:endParaRPr lang="en-US" sz="1550" dirty="0"/>
          </a:p>
        </p:txBody>
      </p:sp>
      <p:sp>
        <p:nvSpPr>
          <p:cNvPr id="6" name="Text 4"/>
          <p:cNvSpPr txBox="1"/>
          <p:nvPr/>
        </p:nvSpPr>
        <p:spPr>
          <a:xfrm>
            <a:off x="859536" y="1901952"/>
            <a:ext cx="5266944" cy="731520"/>
          </a:xfrm>
          <a:prstGeom prst="rect">
            <a:avLst/>
          </a:prstGeom>
          <a:noFill/>
          <a:ln/>
        </p:spPr>
        <p:txBody>
          <a:bodyPr wrap="square" lIns="0" tIns="0" rIns="0" bIns="0" rtlCol="0" anchor="t"/>
          <a:lstStyle/>
          <a:p>
            <a:pPr algn="l" indent="0" marL="0">
              <a:lnSpc>
                <a:spcPct val="108000"/>
              </a:lnSpc>
              <a:buNone/>
            </a:pPr>
            <a:r>
              <a:rPr lang="en-US" sz="1250" dirty="0">
                <a:solidFill>
                  <a:srgbClr val="1A1D26"/>
                </a:solidFill>
                <a:latin typeface="Calibri" pitchFamily="34" charset="0"/>
                <a:ea typeface="Calibri" pitchFamily="34" charset="-122"/>
                <a:cs typeface="Calibri" pitchFamily="34" charset="-120"/>
              </a:rPr>
              <a:t>Banken müssen einen Teil bestimmter Kundeneinlagen als Guthaben bei ihrer nationalen Zentralbank halten – derzeit 1 % für Einlagen mit Laufzeit unter zwei Jahren.</a:t>
            </a:r>
            <a:endParaRPr lang="en-US" sz="1250" dirty="0"/>
          </a:p>
        </p:txBody>
      </p:sp>
      <p:sp>
        <p:nvSpPr>
          <p:cNvPr id="7" name="Text 5"/>
          <p:cNvSpPr txBox="1"/>
          <p:nvPr/>
        </p:nvSpPr>
        <p:spPr>
          <a:xfrm>
            <a:off x="859536" y="2706624"/>
            <a:ext cx="5266944" cy="694944"/>
          </a:xfrm>
          <a:prstGeom prst="rect">
            <a:avLst/>
          </a:prstGeom>
          <a:noFill/>
          <a:ln/>
        </p:spPr>
        <p:txBody>
          <a:bodyPr wrap="square" lIns="0" tIns="0" rIns="0" bIns="0" rtlCol="0" anchor="t"/>
          <a:lstStyle/>
          <a:p>
            <a:pPr algn="l" indent="0" marL="0">
              <a:lnSpc>
                <a:spcPct val="106000"/>
              </a:lnSpc>
              <a:buNone/>
            </a:pPr>
            <a:r>
              <a:rPr lang="en-US" sz="1200" dirty="0">
                <a:solidFill>
                  <a:srgbClr val="5A6274"/>
                </a:solidFill>
                <a:latin typeface="Calibri" pitchFamily="34" charset="0"/>
                <a:ea typeface="Calibri" pitchFamily="34" charset="-122"/>
                <a:cs typeface="Calibri" pitchFamily="34" charset="-120"/>
              </a:rPr>
              <a:t>Erfüllt werden muss die Vorgabe nur im Monatsdurchschnitt. Bei Verstoß drohen Sanktionen. Seit September 2023 wird das Guthaben nicht mehr verzinst.</a:t>
            </a:r>
            <a:endParaRPr lang="en-US" sz="1200" dirty="0"/>
          </a:p>
        </p:txBody>
      </p:sp>
      <p:sp>
        <p:nvSpPr>
          <p:cNvPr id="8" name="Shape 6"/>
          <p:cNvSpPr/>
          <p:nvPr/>
        </p:nvSpPr>
        <p:spPr>
          <a:xfrm>
            <a:off x="566928" y="3931920"/>
            <a:ext cx="5852160" cy="1920240"/>
          </a:xfrm>
          <a:prstGeom prst="roundRect">
            <a:avLst>
              <a:gd name="adj" fmla="val 3810"/>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9" name="Text 7"/>
          <p:cNvSpPr txBox="1"/>
          <p:nvPr/>
        </p:nvSpPr>
        <p:spPr>
          <a:xfrm>
            <a:off x="859536" y="4114800"/>
            <a:ext cx="5266944" cy="292608"/>
          </a:xfrm>
          <a:prstGeom prst="rect">
            <a:avLst/>
          </a:prstGeom>
          <a:noFill/>
          <a:ln/>
        </p:spPr>
        <p:txBody>
          <a:bodyPr wrap="square" lIns="0" tIns="0" rIns="0" bIns="0" rtlCol="0" anchor="t"/>
          <a:lstStyle/>
          <a:p>
            <a:pPr algn="l" indent="0" marL="0">
              <a:buNone/>
            </a:pPr>
            <a:r>
              <a:rPr lang="en-US" sz="1550" b="1" dirty="0">
                <a:solidFill>
                  <a:srgbClr val="10224E"/>
                </a:solidFill>
                <a:latin typeface="Cambria" pitchFamily="34" charset="0"/>
                <a:ea typeface="Cambria" pitchFamily="34" charset="-122"/>
                <a:cs typeface="Cambria" pitchFamily="34" charset="-120"/>
              </a:rPr>
              <a:t>Zwei Funktionen</a:t>
            </a:r>
            <a:endParaRPr lang="en-US" sz="1550" dirty="0"/>
          </a:p>
        </p:txBody>
      </p:sp>
      <p:sp>
        <p:nvSpPr>
          <p:cNvPr id="10" name="Text 8"/>
          <p:cNvSpPr txBox="1"/>
          <p:nvPr/>
        </p:nvSpPr>
        <p:spPr>
          <a:xfrm>
            <a:off x="859536" y="4462272"/>
            <a:ext cx="5266944" cy="1234440"/>
          </a:xfrm>
          <a:prstGeom prst="rect">
            <a:avLst/>
          </a:prstGeom>
          <a:noFill/>
          <a:ln/>
        </p:spPr>
        <p:txBody>
          <a:bodyPr wrap="square" lIns="0" tIns="0" rIns="0" bIns="0" rtlCol="0" anchor="t"/>
          <a:lstStyle/>
          <a:p>
            <a:pPr algn="l" indent="0" marL="0">
              <a:lnSpc>
                <a:spcPct val="108000"/>
              </a:lnSpc>
              <a:buNone/>
            </a:pPr>
            <a:r>
              <a:rPr lang="en-US" sz="1250" b="1" dirty="0">
                <a:solidFill>
                  <a:srgbClr val="10224E"/>
                </a:solidFill>
                <a:latin typeface="Calibri" pitchFamily="34" charset="0"/>
                <a:ea typeface="Calibri" pitchFamily="34" charset="-122"/>
                <a:cs typeface="Calibri" pitchFamily="34" charset="-120"/>
              </a:rPr>
              <a:t>Anbindung: </a:t>
            </a:r>
            <a:pPr algn="l" indent="0" marL="0">
              <a:lnSpc>
                <a:spcPct val="108000"/>
              </a:lnSpc>
              <a:buNone/>
            </a:pPr>
            <a:r>
              <a:rPr lang="en-US" sz="1250" dirty="0">
                <a:solidFill>
                  <a:srgbClr val="1A1D26"/>
                </a:solidFill>
                <a:latin typeface="Calibri" pitchFamily="34" charset="0"/>
                <a:ea typeface="Calibri" pitchFamily="34" charset="-122"/>
                <a:cs typeface="Calibri" pitchFamily="34" charset="-120"/>
              </a:rPr>
              <a:t>Die Banken bleiben dauerhaft auf Zentralbankgeld angewiesen – und damit auf die EZB.</a:t>
            </a:r>
            <a:endParaRPr lang="en-US" sz="1250" dirty="0"/>
          </a:p>
          <a:p>
            <a:pPr algn="l" indent="0" marL="0">
              <a:lnSpc>
                <a:spcPct val="108000"/>
              </a:lnSpc>
              <a:buNone/>
            </a:pPr>
            <a:r>
              <a:rPr lang="en-US" sz="1250" b="1" dirty="0">
                <a:solidFill>
                  <a:srgbClr val="10224E"/>
                </a:solidFill>
                <a:latin typeface="Calibri" pitchFamily="34" charset="0"/>
                <a:ea typeface="Calibri" pitchFamily="34" charset="-122"/>
                <a:cs typeface="Calibri" pitchFamily="34" charset="-120"/>
              </a:rPr>
              <a:t>Zinsglättung: </a:t>
            </a:r>
            <a:pPr algn="l" indent="0" marL="0">
              <a:lnSpc>
                <a:spcPct val="108000"/>
              </a:lnSpc>
              <a:buNone/>
            </a:pPr>
            <a:r>
              <a:rPr lang="en-US" sz="1250" dirty="0">
                <a:solidFill>
                  <a:srgbClr val="1A1D26"/>
                </a:solidFill>
                <a:latin typeface="Calibri" pitchFamily="34" charset="0"/>
                <a:ea typeface="Calibri" pitchFamily="34" charset="-122"/>
                <a:cs typeface="Calibri" pitchFamily="34" charset="-120"/>
              </a:rPr>
              <a:t>Die Durchschnittserfüllung dämpft tägliche Schwankungen der Geldmarktsätze.</a:t>
            </a:r>
            <a:endParaRPr lang="en-US" sz="1250" dirty="0"/>
          </a:p>
          <a:p>
            <a:pPr algn="l" indent="0" marL="0">
              <a:lnSpc>
                <a:spcPct val="108000"/>
              </a:lnSpc>
              <a:spcBef>
                <a:spcPts val="600"/>
              </a:spcBef>
              <a:buNone/>
            </a:pPr>
            <a:r>
              <a:rPr lang="en-US" sz="1250" i="1" dirty="0">
                <a:solidFill>
                  <a:srgbClr val="5A6274"/>
                </a:solidFill>
                <a:latin typeface="Calibri" pitchFamily="34" charset="0"/>
                <a:ea typeface="Calibri" pitchFamily="34" charset="-122"/>
                <a:cs typeface="Calibri" pitchFamily="34" charset="-120"/>
              </a:rPr>
              <a:t>In der Praxis ändert die EZB diesen Satz nur selten – ihr wichtigster Hebel bleibt der Zins.</a:t>
            </a:r>
            <a:endParaRPr lang="en-US" sz="1250" dirty="0"/>
          </a:p>
        </p:txBody>
      </p:sp>
      <p:sp>
        <p:nvSpPr>
          <p:cNvPr id="11" name="Shape 9"/>
          <p:cNvSpPr/>
          <p:nvPr/>
        </p:nvSpPr>
        <p:spPr>
          <a:xfrm>
            <a:off x="6675120" y="1389888"/>
            <a:ext cx="4946904" cy="2103120"/>
          </a:xfrm>
          <a:prstGeom prst="roundRect">
            <a:avLst>
              <a:gd name="adj" fmla="val 3478"/>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2" name="Shape 10"/>
          <p:cNvSpPr/>
          <p:nvPr/>
        </p:nvSpPr>
        <p:spPr>
          <a:xfrm>
            <a:off x="6949440" y="1627632"/>
            <a:ext cx="530352" cy="530352"/>
          </a:xfrm>
          <a:prstGeom prst="ellipse">
            <a:avLst/>
          </a:prstGeom>
          <a:solidFill>
            <a:srgbClr val="B3321F"/>
          </a:solidFill>
          <a:ln w="12700">
            <a:solidFill>
              <a:srgbClr val="B3321F"/>
            </a:solidFill>
            <a:prstDash val="solid"/>
          </a:ln>
        </p:spPr>
      </p:sp>
      <p:sp>
        <p:nvSpPr>
          <p:cNvPr id="13" name="Text 11"/>
          <p:cNvSpPr txBox="1"/>
          <p:nvPr/>
        </p:nvSpPr>
        <p:spPr>
          <a:xfrm>
            <a:off x="6949440" y="1627632"/>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4" name="Text 12"/>
          <p:cNvSpPr txBox="1"/>
          <p:nvPr/>
        </p:nvSpPr>
        <p:spPr>
          <a:xfrm>
            <a:off x="7607808" y="1700784"/>
            <a:ext cx="3739896" cy="347472"/>
          </a:xfrm>
          <a:prstGeom prst="rect">
            <a:avLst/>
          </a:prstGeom>
          <a:noFill/>
          <a:ln/>
        </p:spPr>
        <p:txBody>
          <a:bodyPr wrap="square" lIns="0" tIns="0" rIns="0" bIns="0" rtlCol="0" anchor="ctr"/>
          <a:lstStyle/>
          <a:p>
            <a:pPr algn="l" indent="0" marL="0">
              <a:buNone/>
            </a:pPr>
            <a:r>
              <a:rPr lang="en-US" sz="1500" b="1" dirty="0">
                <a:solidFill>
                  <a:srgbClr val="B3321F"/>
                </a:solidFill>
                <a:latin typeface="Cambria" pitchFamily="34" charset="0"/>
                <a:ea typeface="Cambria" pitchFamily="34" charset="-122"/>
                <a:cs typeface="Cambria" pitchFamily="34" charset="-120"/>
              </a:rPr>
              <a:t>Reservesatz steigt</a:t>
            </a:r>
            <a:endParaRPr lang="en-US" sz="1500" dirty="0"/>
          </a:p>
        </p:txBody>
      </p:sp>
      <p:sp>
        <p:nvSpPr>
          <p:cNvPr id="15" name="Text 13"/>
          <p:cNvSpPr txBox="1"/>
          <p:nvPr/>
        </p:nvSpPr>
        <p:spPr>
          <a:xfrm>
            <a:off x="6967728" y="2286000"/>
            <a:ext cx="4361688" cy="1078992"/>
          </a:xfrm>
          <a:prstGeom prst="rect">
            <a:avLst/>
          </a:prstGeom>
          <a:noFill/>
          <a:ln/>
        </p:spPr>
        <p:txBody>
          <a:bodyPr wrap="square" lIns="0" tIns="0" rIns="0" bIns="0" rtlCol="0" anchor="t"/>
          <a:lstStyle/>
          <a:p>
            <a:pPr algn="l" marL="177800" indent="-177800">
              <a:lnSpc>
                <a:spcPct val="105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bindet Zentralbankgeld bei der Notenbank</a:t>
            </a:r>
            <a:endParaRPr lang="en-US" sz="1250" dirty="0"/>
          </a:p>
          <a:p>
            <a:pPr algn="l" marL="177800" indent="-177800">
              <a:lnSpc>
                <a:spcPct val="105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Banken können weniger Kredite vergeben</a:t>
            </a:r>
            <a:endParaRPr lang="en-US" sz="1250" dirty="0"/>
          </a:p>
          <a:p>
            <a:pPr algn="l" marL="177800" indent="-177800">
              <a:lnSpc>
                <a:spcPct val="105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die Geldmenge wächst langsamer</a:t>
            </a:r>
            <a:endParaRPr lang="en-US" sz="1250" dirty="0"/>
          </a:p>
          <a:p>
            <a:pPr algn="l" marL="177800" indent="-177800">
              <a:lnSpc>
                <a:spcPct val="105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dämpfend für die Inflation</a:t>
            </a:r>
            <a:endParaRPr lang="en-US" sz="1250" dirty="0"/>
          </a:p>
        </p:txBody>
      </p:sp>
      <p:sp>
        <p:nvSpPr>
          <p:cNvPr id="16" name="Shape 14"/>
          <p:cNvSpPr/>
          <p:nvPr/>
        </p:nvSpPr>
        <p:spPr>
          <a:xfrm>
            <a:off x="6675120" y="3721608"/>
            <a:ext cx="4946904" cy="2103120"/>
          </a:xfrm>
          <a:prstGeom prst="roundRect">
            <a:avLst>
              <a:gd name="adj" fmla="val 3478"/>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7" name="Shape 15"/>
          <p:cNvSpPr/>
          <p:nvPr/>
        </p:nvSpPr>
        <p:spPr>
          <a:xfrm>
            <a:off x="6949440" y="3959352"/>
            <a:ext cx="530352" cy="530352"/>
          </a:xfrm>
          <a:prstGeom prst="ellipse">
            <a:avLst/>
          </a:prstGeom>
          <a:solidFill>
            <a:srgbClr val="1B7A5A"/>
          </a:solidFill>
          <a:ln w="12700">
            <a:solidFill>
              <a:srgbClr val="1B7A5A"/>
            </a:solidFill>
            <a:prstDash val="solid"/>
          </a:ln>
        </p:spPr>
      </p:sp>
      <p:sp>
        <p:nvSpPr>
          <p:cNvPr id="18" name="Text 16"/>
          <p:cNvSpPr txBox="1"/>
          <p:nvPr/>
        </p:nvSpPr>
        <p:spPr>
          <a:xfrm>
            <a:off x="6949440" y="3959352"/>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9" name="Text 17"/>
          <p:cNvSpPr txBox="1"/>
          <p:nvPr/>
        </p:nvSpPr>
        <p:spPr>
          <a:xfrm>
            <a:off x="7607808" y="4032504"/>
            <a:ext cx="3739896" cy="347472"/>
          </a:xfrm>
          <a:prstGeom prst="rect">
            <a:avLst/>
          </a:prstGeom>
          <a:noFill/>
          <a:ln/>
        </p:spPr>
        <p:txBody>
          <a:bodyPr wrap="square" lIns="0" tIns="0" rIns="0" bIns="0" rtlCol="0" anchor="ctr"/>
          <a:lstStyle/>
          <a:p>
            <a:pPr algn="l" indent="0" marL="0">
              <a:buNone/>
            </a:pPr>
            <a:r>
              <a:rPr lang="en-US" sz="1500" b="1" dirty="0">
                <a:solidFill>
                  <a:srgbClr val="1B7A5A"/>
                </a:solidFill>
                <a:latin typeface="Cambria" pitchFamily="34" charset="0"/>
                <a:ea typeface="Cambria" pitchFamily="34" charset="-122"/>
                <a:cs typeface="Cambria" pitchFamily="34" charset="-120"/>
              </a:rPr>
              <a:t>Reservesatz sinkt</a:t>
            </a:r>
            <a:endParaRPr lang="en-US" sz="1500" dirty="0"/>
          </a:p>
        </p:txBody>
      </p:sp>
      <p:sp>
        <p:nvSpPr>
          <p:cNvPr id="20" name="Text 18"/>
          <p:cNvSpPr txBox="1"/>
          <p:nvPr/>
        </p:nvSpPr>
        <p:spPr>
          <a:xfrm>
            <a:off x="6967728" y="4617720"/>
            <a:ext cx="4361688" cy="1078992"/>
          </a:xfrm>
          <a:prstGeom prst="rect">
            <a:avLst/>
          </a:prstGeom>
          <a:noFill/>
          <a:ln/>
        </p:spPr>
        <p:txBody>
          <a:bodyPr wrap="square" lIns="0" tIns="0" rIns="0" bIns="0" rtlCol="0" anchor="t"/>
          <a:lstStyle/>
          <a:p>
            <a:pPr algn="l" marL="177800" indent="-177800">
              <a:lnSpc>
                <a:spcPct val="105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setzt Zentralbankgeld wieder frei</a:t>
            </a:r>
            <a:endParaRPr lang="en-US" sz="1250" dirty="0"/>
          </a:p>
          <a:p>
            <a:pPr algn="l" marL="177800" indent="-177800">
              <a:lnSpc>
                <a:spcPct val="105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mehr Spielraum für die Kreditvergabe</a:t>
            </a:r>
            <a:endParaRPr lang="en-US" sz="1250" dirty="0"/>
          </a:p>
          <a:p>
            <a:pPr algn="l" marL="177800" indent="-177800">
              <a:lnSpc>
                <a:spcPct val="105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die Geldmenge wächst schneller</a:t>
            </a:r>
            <a:endParaRPr lang="en-US" sz="1250" dirty="0"/>
          </a:p>
          <a:p>
            <a:pPr algn="l" marL="177800" indent="-177800">
              <a:lnSpc>
                <a:spcPct val="105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anregend für die Konjunktur</a:t>
            </a:r>
            <a:endParaRPr lang="en-US" sz="1250" dirty="0"/>
          </a:p>
        </p:txBody>
      </p:sp>
      <p:sp>
        <p:nvSpPr>
          <p:cNvPr id="21" name="Text 19"/>
          <p:cNvSpPr txBox="1"/>
          <p:nvPr/>
        </p:nvSpPr>
        <p:spPr>
          <a:xfrm>
            <a:off x="566928" y="6364224"/>
            <a:ext cx="5486400" cy="256032"/>
          </a:xfrm>
          <a:prstGeom prst="rect">
            <a:avLst/>
          </a:prstGeom>
          <a:noFill/>
          <a:ln/>
        </p:spPr>
        <p:txBody>
          <a:bodyPr wrap="square" lIns="0" tIns="0" rIns="0" bIns="0" rtlCol="0" anchor="t"/>
          <a:lstStyle/>
          <a:p>
            <a:pPr algn="l" indent="0" marL="0">
              <a:buNone/>
            </a:pPr>
            <a:r>
              <a:rPr lang="en-US" sz="950" dirty="0">
                <a:solidFill>
                  <a:srgbClr val="5A6274"/>
                </a:solidFill>
                <a:latin typeface="Calibri" pitchFamily="34" charset="0"/>
                <a:ea typeface="Calibri" pitchFamily="34" charset="-122"/>
                <a:cs typeface="Calibri" pitchFamily="34" charset="-120"/>
              </a:rPr>
              <a:t>Die Geldpolitik der EZB</a:t>
            </a:r>
            <a:endParaRPr lang="en-US" sz="950" dirty="0"/>
          </a:p>
        </p:txBody>
      </p:sp>
      <p:sp>
        <p:nvSpPr>
          <p:cNvPr id="22" name="Text 20"/>
          <p:cNvSpPr txBox="1"/>
          <p:nvPr/>
        </p:nvSpPr>
        <p:spPr>
          <a:xfrm>
            <a:off x="7967167" y="6364224"/>
            <a:ext cx="3657600" cy="256032"/>
          </a:xfrm>
          <a:prstGeom prst="rect">
            <a:avLst/>
          </a:prstGeom>
          <a:noFill/>
          <a:ln/>
        </p:spPr>
        <p:txBody>
          <a:bodyPr wrap="square" lIns="0" tIns="0" rIns="0" bIns="0" rtlCol="0" anchor="t"/>
          <a:lstStyle/>
          <a:p>
            <a:pPr algn="r" indent="0" marL="0">
              <a:buNone/>
            </a:pPr>
            <a:r>
              <a:rPr lang="en-US" sz="950" dirty="0">
                <a:solidFill>
                  <a:srgbClr val="5A6274"/>
                </a:solidFill>
                <a:latin typeface="Calibri" pitchFamily="34" charset="0"/>
                <a:ea typeface="Calibri" pitchFamily="34" charset="-122"/>
                <a:cs typeface="Calibri" pitchFamily="34" charset="-120"/>
              </a:rPr>
              <a:t>Folie 10 von 17</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algn="l" indent="0" marL="0">
              <a:buNone/>
            </a:pPr>
            <a:r>
              <a:rPr lang="en-US" sz="1100" b="1" spc="140" kern="0" dirty="0">
                <a:solidFill>
                  <a:srgbClr val="9A6F00"/>
                </a:solidFill>
                <a:latin typeface="Calibri" pitchFamily="34" charset="0"/>
                <a:ea typeface="Calibri" pitchFamily="34" charset="-122"/>
                <a:cs typeface="Calibri" pitchFamily="34" charset="-120"/>
              </a:rPr>
              <a:t>TEIL 3 · DER ZINS UND SEINE WIRKUNG</a:t>
            </a:r>
            <a:endParaRPr lang="en-US" sz="1100" dirty="0"/>
          </a:p>
        </p:txBody>
      </p:sp>
      <p:sp>
        <p:nvSpPr>
          <p:cNvPr id="3" name="Text 1"/>
          <p:cNvSpPr txBox="1"/>
          <p:nvPr/>
        </p:nvSpPr>
        <p:spPr>
          <a:xfrm>
            <a:off x="566928" y="566928"/>
            <a:ext cx="11057839" cy="676656"/>
          </a:xfrm>
          <a:prstGeom prst="rect">
            <a:avLst/>
          </a:prstGeom>
          <a:noFill/>
          <a:ln/>
        </p:spPr>
        <p:txBody>
          <a:bodyPr wrap="square" lIns="0" tIns="0" rIns="0" bIns="0" rtlCol="0" anchor="ctr"/>
          <a:lstStyle/>
          <a:p>
            <a:pPr algn="l" indent="0" marL="0">
              <a:buNone/>
            </a:pPr>
            <a:r>
              <a:rPr lang="en-US" sz="3000" b="1" dirty="0">
                <a:solidFill>
                  <a:srgbClr val="10224E"/>
                </a:solidFill>
                <a:latin typeface="Cambria" pitchFamily="34" charset="0"/>
                <a:ea typeface="Cambria" pitchFamily="34" charset="-122"/>
                <a:cs typeface="Cambria" pitchFamily="34" charset="-120"/>
              </a:rPr>
              <a:t>Wie eine Zinsentscheidung bei uns ankommt</a:t>
            </a:r>
            <a:endParaRPr lang="en-US" sz="3000" dirty="0"/>
          </a:p>
        </p:txBody>
      </p:sp>
      <p:sp>
        <p:nvSpPr>
          <p:cNvPr id="4" name="Text 2"/>
          <p:cNvSpPr txBox="1"/>
          <p:nvPr/>
        </p:nvSpPr>
        <p:spPr>
          <a:xfrm>
            <a:off x="566928" y="1298448"/>
            <a:ext cx="11057839" cy="329184"/>
          </a:xfrm>
          <a:prstGeom prst="rect">
            <a:avLst/>
          </a:prstGeom>
          <a:noFill/>
          <a:ln/>
        </p:spPr>
        <p:txBody>
          <a:bodyPr wrap="square" lIns="0" tIns="0" rIns="0" bIns="0" rtlCol="0" anchor="t"/>
          <a:lstStyle/>
          <a:p>
            <a:pPr algn="l" indent="0" marL="0">
              <a:buNone/>
            </a:pPr>
            <a:r>
              <a:rPr lang="en-US" sz="1450" dirty="0">
                <a:solidFill>
                  <a:srgbClr val="5A6274"/>
                </a:solidFill>
                <a:latin typeface="Calibri" pitchFamily="34" charset="0"/>
                <a:ea typeface="Calibri" pitchFamily="34" charset="-122"/>
                <a:cs typeface="Calibri" pitchFamily="34" charset="-120"/>
              </a:rPr>
              <a:t>Der Weg vom Beschluss in Frankfurt bis zum Preis im Laden heißt Transmissionsprozess:</a:t>
            </a:r>
            <a:endParaRPr lang="en-US" sz="1450" dirty="0"/>
          </a:p>
        </p:txBody>
      </p:sp>
      <p:sp>
        <p:nvSpPr>
          <p:cNvPr id="5" name="Shape 3"/>
          <p:cNvSpPr/>
          <p:nvPr/>
        </p:nvSpPr>
        <p:spPr>
          <a:xfrm>
            <a:off x="566928" y="1828800"/>
            <a:ext cx="1984248" cy="2011680"/>
          </a:xfrm>
          <a:prstGeom prst="roundRect">
            <a:avLst>
              <a:gd name="adj" fmla="val 3687"/>
            </a:avLst>
          </a:prstGeom>
          <a:solidFill>
            <a:srgbClr val="10224E"/>
          </a:solidFill>
          <a:ln w="12700">
            <a:solidFill>
              <a:srgbClr val="10224E"/>
            </a:solidFill>
            <a:prstDash val="solid"/>
          </a:ln>
          <a:effectLst>
            <a:outerShdw sx="100000" sy="100000" kx="0" ky="0" algn="bl" rotWithShape="0" blurRad="88900" dist="12700" dir="5400000">
              <a:srgbClr val="8A96AD">
                <a:alpha val="22000"/>
              </a:srgbClr>
            </a:outerShdw>
          </a:effectLst>
        </p:spPr>
      </p:sp>
      <p:sp>
        <p:nvSpPr>
          <p:cNvPr id="6" name="Shape 4"/>
          <p:cNvSpPr/>
          <p:nvPr/>
        </p:nvSpPr>
        <p:spPr>
          <a:xfrm>
            <a:off x="731520" y="2011680"/>
            <a:ext cx="420624" cy="420624"/>
          </a:xfrm>
          <a:prstGeom prst="ellipse">
            <a:avLst/>
          </a:prstGeom>
          <a:solidFill>
            <a:srgbClr val="FFC72C"/>
          </a:solidFill>
          <a:ln w="12700">
            <a:solidFill>
              <a:srgbClr val="FFC72C"/>
            </a:solidFill>
            <a:prstDash val="solid"/>
          </a:ln>
        </p:spPr>
      </p:sp>
      <p:sp>
        <p:nvSpPr>
          <p:cNvPr id="7" name="Text 5"/>
          <p:cNvSpPr txBox="1"/>
          <p:nvPr/>
        </p:nvSpPr>
        <p:spPr>
          <a:xfrm>
            <a:off x="731520" y="2011680"/>
            <a:ext cx="420624" cy="420624"/>
          </a:xfrm>
          <a:prstGeom prst="rect">
            <a:avLst/>
          </a:prstGeom>
          <a:noFill/>
          <a:ln/>
        </p:spPr>
        <p:txBody>
          <a:bodyPr wrap="square" lIns="0" tIns="0" rIns="0" bIns="0" rtlCol="0" anchor="ctr"/>
          <a:lstStyle/>
          <a:p>
            <a:pPr algn="ctr" indent="0" marL="0">
              <a:buNone/>
            </a:pPr>
            <a:r>
              <a:rPr lang="en-US" sz="1400" b="1" dirty="0">
                <a:solidFill>
                  <a:srgbClr val="10224E"/>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731520" y="2542032"/>
            <a:ext cx="1655064" cy="329184"/>
          </a:xfrm>
          <a:prstGeom prst="rect">
            <a:avLst/>
          </a:prstGeom>
          <a:noFill/>
          <a:ln/>
        </p:spPr>
        <p:txBody>
          <a:bodyPr wrap="square" lIns="0" tIns="0" rIns="0" bIns="0" rtlCol="0" anchor="t"/>
          <a:lstStyle/>
          <a:p>
            <a:pPr algn="l" indent="0" marL="0">
              <a:buNone/>
            </a:pPr>
            <a:r>
              <a:rPr lang="en-US" sz="1450" b="1" dirty="0">
                <a:solidFill>
                  <a:srgbClr val="FFFFFF"/>
                </a:solidFill>
                <a:latin typeface="Cambria" pitchFamily="34" charset="0"/>
                <a:ea typeface="Cambria" pitchFamily="34" charset="-122"/>
                <a:cs typeface="Cambria" pitchFamily="34" charset="-120"/>
              </a:rPr>
              <a:t>EZB</a:t>
            </a:r>
            <a:endParaRPr lang="en-US" sz="1450" dirty="0"/>
          </a:p>
        </p:txBody>
      </p:sp>
      <p:sp>
        <p:nvSpPr>
          <p:cNvPr id="9" name="Text 7"/>
          <p:cNvSpPr txBox="1"/>
          <p:nvPr/>
        </p:nvSpPr>
        <p:spPr>
          <a:xfrm>
            <a:off x="731520" y="2889504"/>
            <a:ext cx="1655064" cy="804672"/>
          </a:xfrm>
          <a:prstGeom prst="rect">
            <a:avLst/>
          </a:prstGeom>
          <a:noFill/>
          <a:ln/>
        </p:spPr>
        <p:txBody>
          <a:bodyPr wrap="square" lIns="0" tIns="0" rIns="0" bIns="0" rtlCol="0" anchor="t"/>
          <a:lstStyle/>
          <a:p>
            <a:pPr algn="l" indent="0" marL="0">
              <a:lnSpc>
                <a:spcPct val="105000"/>
              </a:lnSpc>
              <a:buNone/>
            </a:pPr>
            <a:r>
              <a:rPr lang="en-US" sz="1150" dirty="0">
                <a:solidFill>
                  <a:srgbClr val="C9D5EE"/>
                </a:solidFill>
                <a:latin typeface="Calibri" pitchFamily="34" charset="0"/>
                <a:ea typeface="Calibri" pitchFamily="34" charset="-122"/>
                <a:cs typeface="Calibri" pitchFamily="34" charset="-120"/>
              </a:rPr>
              <a:t>beschließt den Leitzins</a:t>
            </a:r>
            <a:endParaRPr lang="en-US" sz="1150" dirty="0"/>
          </a:p>
        </p:txBody>
      </p:sp>
      <p:sp>
        <p:nvSpPr>
          <p:cNvPr id="10" name="Text 8"/>
          <p:cNvSpPr txBox="1"/>
          <p:nvPr/>
        </p:nvSpPr>
        <p:spPr>
          <a:xfrm>
            <a:off x="2551176" y="2606040"/>
            <a:ext cx="283464" cy="411480"/>
          </a:xfrm>
          <a:prstGeom prst="rect">
            <a:avLst/>
          </a:prstGeom>
          <a:noFill/>
          <a:ln/>
        </p:spPr>
        <p:txBody>
          <a:bodyPr wrap="square" lIns="0" tIns="0" rIns="0" bIns="0" rtlCol="0" anchor="ctr"/>
          <a:lstStyle/>
          <a:p>
            <a:pPr algn="ctr" indent="0" marL="0">
              <a:buNone/>
            </a:pPr>
            <a:r>
              <a:rPr lang="en-US" sz="2200" b="1" dirty="0">
                <a:solidFill>
                  <a:srgbClr val="FFC72C"/>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2834640" y="1828800"/>
            <a:ext cx="1984248" cy="2011680"/>
          </a:xfrm>
          <a:prstGeom prst="roundRect">
            <a:avLst>
              <a:gd name="adj" fmla="val 3687"/>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2" name="Shape 10"/>
          <p:cNvSpPr/>
          <p:nvPr/>
        </p:nvSpPr>
        <p:spPr>
          <a:xfrm>
            <a:off x="2999232" y="2011680"/>
            <a:ext cx="420624" cy="420624"/>
          </a:xfrm>
          <a:prstGeom prst="ellipse">
            <a:avLst/>
          </a:prstGeom>
          <a:solidFill>
            <a:srgbClr val="10224E"/>
          </a:solidFill>
          <a:ln w="12700">
            <a:solidFill>
              <a:srgbClr val="10224E"/>
            </a:solidFill>
            <a:prstDash val="solid"/>
          </a:ln>
        </p:spPr>
      </p:sp>
      <p:sp>
        <p:nvSpPr>
          <p:cNvPr id="13" name="Text 11"/>
          <p:cNvSpPr txBox="1"/>
          <p:nvPr/>
        </p:nvSpPr>
        <p:spPr>
          <a:xfrm>
            <a:off x="2999232" y="20116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txBox="1"/>
          <p:nvPr/>
        </p:nvSpPr>
        <p:spPr>
          <a:xfrm>
            <a:off x="2999232" y="2542032"/>
            <a:ext cx="1655064" cy="329184"/>
          </a:xfrm>
          <a:prstGeom prst="rect">
            <a:avLst/>
          </a:prstGeom>
          <a:noFill/>
          <a:ln/>
        </p:spPr>
        <p:txBody>
          <a:bodyPr wrap="square" lIns="0" tIns="0" rIns="0" bIns="0" rtlCol="0" anchor="t"/>
          <a:lstStyle/>
          <a:p>
            <a:pPr algn="l" indent="0" marL="0">
              <a:buNone/>
            </a:pPr>
            <a:r>
              <a:rPr lang="en-US" sz="1450" b="1" dirty="0">
                <a:solidFill>
                  <a:srgbClr val="10224E"/>
                </a:solidFill>
                <a:latin typeface="Cambria" pitchFamily="34" charset="0"/>
                <a:ea typeface="Cambria" pitchFamily="34" charset="-122"/>
                <a:cs typeface="Cambria" pitchFamily="34" charset="-120"/>
              </a:rPr>
              <a:t>Banken</a:t>
            </a:r>
            <a:endParaRPr lang="en-US" sz="1450" dirty="0"/>
          </a:p>
        </p:txBody>
      </p:sp>
      <p:sp>
        <p:nvSpPr>
          <p:cNvPr id="15" name="Text 13"/>
          <p:cNvSpPr txBox="1"/>
          <p:nvPr/>
        </p:nvSpPr>
        <p:spPr>
          <a:xfrm>
            <a:off x="2999232" y="2889504"/>
            <a:ext cx="1655064" cy="804672"/>
          </a:xfrm>
          <a:prstGeom prst="rect">
            <a:avLst/>
          </a:prstGeom>
          <a:noFill/>
          <a:ln/>
        </p:spPr>
        <p:txBody>
          <a:bodyPr wrap="square" lIns="0" tIns="0" rIns="0" bIns="0" rtlCol="0" anchor="t"/>
          <a:lstStyle/>
          <a:p>
            <a:pPr algn="l" indent="0" marL="0">
              <a:lnSpc>
                <a:spcPct val="105000"/>
              </a:lnSpc>
              <a:buNone/>
            </a:pPr>
            <a:r>
              <a:rPr lang="en-US" sz="1150" dirty="0">
                <a:solidFill>
                  <a:srgbClr val="1A1D26"/>
                </a:solidFill>
                <a:latin typeface="Calibri" pitchFamily="34" charset="0"/>
                <a:ea typeface="Calibri" pitchFamily="34" charset="-122"/>
                <a:cs typeface="Calibri" pitchFamily="34" charset="-120"/>
              </a:rPr>
              <a:t>ihre Refinanzierung wird teurer oder billiger</a:t>
            </a:r>
            <a:endParaRPr lang="en-US" sz="1150" dirty="0"/>
          </a:p>
        </p:txBody>
      </p:sp>
      <p:sp>
        <p:nvSpPr>
          <p:cNvPr id="16" name="Text 14"/>
          <p:cNvSpPr txBox="1"/>
          <p:nvPr/>
        </p:nvSpPr>
        <p:spPr>
          <a:xfrm>
            <a:off x="4818888" y="2606040"/>
            <a:ext cx="283464" cy="411480"/>
          </a:xfrm>
          <a:prstGeom prst="rect">
            <a:avLst/>
          </a:prstGeom>
          <a:noFill/>
          <a:ln/>
        </p:spPr>
        <p:txBody>
          <a:bodyPr wrap="square" lIns="0" tIns="0" rIns="0" bIns="0" rtlCol="0" anchor="ctr"/>
          <a:lstStyle/>
          <a:p>
            <a:pPr algn="ctr" indent="0" marL="0">
              <a:buNone/>
            </a:pPr>
            <a:r>
              <a:rPr lang="en-US" sz="2200" b="1" dirty="0">
                <a:solidFill>
                  <a:srgbClr val="FFC72C"/>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5102352" y="1828800"/>
            <a:ext cx="1984248" cy="2011680"/>
          </a:xfrm>
          <a:prstGeom prst="roundRect">
            <a:avLst>
              <a:gd name="adj" fmla="val 3687"/>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8" name="Shape 16"/>
          <p:cNvSpPr/>
          <p:nvPr/>
        </p:nvSpPr>
        <p:spPr>
          <a:xfrm>
            <a:off x="5266944" y="2011680"/>
            <a:ext cx="420624" cy="420624"/>
          </a:xfrm>
          <a:prstGeom prst="ellipse">
            <a:avLst/>
          </a:prstGeom>
          <a:solidFill>
            <a:srgbClr val="10224E"/>
          </a:solidFill>
          <a:ln w="12700">
            <a:solidFill>
              <a:srgbClr val="10224E"/>
            </a:solidFill>
            <a:prstDash val="solid"/>
          </a:ln>
        </p:spPr>
      </p:sp>
      <p:sp>
        <p:nvSpPr>
          <p:cNvPr id="19" name="Text 17"/>
          <p:cNvSpPr txBox="1"/>
          <p:nvPr/>
        </p:nvSpPr>
        <p:spPr>
          <a:xfrm>
            <a:off x="5266944" y="20116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0" name="Text 18"/>
          <p:cNvSpPr txBox="1"/>
          <p:nvPr/>
        </p:nvSpPr>
        <p:spPr>
          <a:xfrm>
            <a:off x="5266944" y="2542032"/>
            <a:ext cx="1655064" cy="329184"/>
          </a:xfrm>
          <a:prstGeom prst="rect">
            <a:avLst/>
          </a:prstGeom>
          <a:noFill/>
          <a:ln/>
        </p:spPr>
        <p:txBody>
          <a:bodyPr wrap="square" lIns="0" tIns="0" rIns="0" bIns="0" rtlCol="0" anchor="t"/>
          <a:lstStyle/>
          <a:p>
            <a:pPr algn="l" indent="0" marL="0">
              <a:buNone/>
            </a:pPr>
            <a:r>
              <a:rPr lang="en-US" sz="1450" b="1" dirty="0">
                <a:solidFill>
                  <a:srgbClr val="10224E"/>
                </a:solidFill>
                <a:latin typeface="Cambria" pitchFamily="34" charset="0"/>
                <a:ea typeface="Cambria" pitchFamily="34" charset="-122"/>
                <a:cs typeface="Cambria" pitchFamily="34" charset="-120"/>
              </a:rPr>
              <a:t>Kunden</a:t>
            </a:r>
            <a:endParaRPr lang="en-US" sz="1450" dirty="0"/>
          </a:p>
        </p:txBody>
      </p:sp>
      <p:sp>
        <p:nvSpPr>
          <p:cNvPr id="21" name="Text 19"/>
          <p:cNvSpPr txBox="1"/>
          <p:nvPr/>
        </p:nvSpPr>
        <p:spPr>
          <a:xfrm>
            <a:off x="5266944" y="2889504"/>
            <a:ext cx="1655064" cy="804672"/>
          </a:xfrm>
          <a:prstGeom prst="rect">
            <a:avLst/>
          </a:prstGeom>
          <a:noFill/>
          <a:ln/>
        </p:spPr>
        <p:txBody>
          <a:bodyPr wrap="square" lIns="0" tIns="0" rIns="0" bIns="0" rtlCol="0" anchor="t"/>
          <a:lstStyle/>
          <a:p>
            <a:pPr algn="l" indent="0" marL="0">
              <a:lnSpc>
                <a:spcPct val="105000"/>
              </a:lnSpc>
              <a:buNone/>
            </a:pPr>
            <a:r>
              <a:rPr lang="en-US" sz="1150" dirty="0">
                <a:solidFill>
                  <a:srgbClr val="1A1D26"/>
                </a:solidFill>
                <a:latin typeface="Calibri" pitchFamily="34" charset="0"/>
                <a:ea typeface="Calibri" pitchFamily="34" charset="-122"/>
                <a:cs typeface="Calibri" pitchFamily="34" charset="-120"/>
              </a:rPr>
              <a:t>Kredit- und Sparzinsen für Haushalte und Betriebe ändern sich</a:t>
            </a:r>
            <a:endParaRPr lang="en-US" sz="1150" dirty="0"/>
          </a:p>
        </p:txBody>
      </p:sp>
      <p:sp>
        <p:nvSpPr>
          <p:cNvPr id="22" name="Text 20"/>
          <p:cNvSpPr txBox="1"/>
          <p:nvPr/>
        </p:nvSpPr>
        <p:spPr>
          <a:xfrm>
            <a:off x="7086600" y="2606040"/>
            <a:ext cx="283464" cy="411480"/>
          </a:xfrm>
          <a:prstGeom prst="rect">
            <a:avLst/>
          </a:prstGeom>
          <a:noFill/>
          <a:ln/>
        </p:spPr>
        <p:txBody>
          <a:bodyPr wrap="square" lIns="0" tIns="0" rIns="0" bIns="0" rtlCol="0" anchor="ctr"/>
          <a:lstStyle/>
          <a:p>
            <a:pPr algn="ctr" indent="0" marL="0">
              <a:buNone/>
            </a:pPr>
            <a:r>
              <a:rPr lang="en-US" sz="2200" b="1" dirty="0">
                <a:solidFill>
                  <a:srgbClr val="FFC72C"/>
                </a:solidFill>
                <a:latin typeface="Calibri" pitchFamily="34" charset="0"/>
                <a:ea typeface="Calibri" pitchFamily="34" charset="-122"/>
                <a:cs typeface="Calibri" pitchFamily="34" charset="-120"/>
              </a:rPr>
              <a:t>›</a:t>
            </a:r>
            <a:endParaRPr lang="en-US" sz="2200" dirty="0"/>
          </a:p>
        </p:txBody>
      </p:sp>
      <p:sp>
        <p:nvSpPr>
          <p:cNvPr id="23" name="Shape 21"/>
          <p:cNvSpPr/>
          <p:nvPr/>
        </p:nvSpPr>
        <p:spPr>
          <a:xfrm>
            <a:off x="7370064" y="1828800"/>
            <a:ext cx="1984248" cy="2011680"/>
          </a:xfrm>
          <a:prstGeom prst="roundRect">
            <a:avLst>
              <a:gd name="adj" fmla="val 3687"/>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24" name="Shape 22"/>
          <p:cNvSpPr/>
          <p:nvPr/>
        </p:nvSpPr>
        <p:spPr>
          <a:xfrm>
            <a:off x="7534656" y="2011680"/>
            <a:ext cx="420624" cy="420624"/>
          </a:xfrm>
          <a:prstGeom prst="ellipse">
            <a:avLst/>
          </a:prstGeom>
          <a:solidFill>
            <a:srgbClr val="10224E"/>
          </a:solidFill>
          <a:ln w="12700">
            <a:solidFill>
              <a:srgbClr val="10224E"/>
            </a:solidFill>
            <a:prstDash val="solid"/>
          </a:ln>
        </p:spPr>
      </p:sp>
      <p:sp>
        <p:nvSpPr>
          <p:cNvPr id="25" name="Text 23"/>
          <p:cNvSpPr txBox="1"/>
          <p:nvPr/>
        </p:nvSpPr>
        <p:spPr>
          <a:xfrm>
            <a:off x="7534656" y="20116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6" name="Text 24"/>
          <p:cNvSpPr txBox="1"/>
          <p:nvPr/>
        </p:nvSpPr>
        <p:spPr>
          <a:xfrm>
            <a:off x="7534656" y="2542032"/>
            <a:ext cx="1655064" cy="329184"/>
          </a:xfrm>
          <a:prstGeom prst="rect">
            <a:avLst/>
          </a:prstGeom>
          <a:noFill/>
          <a:ln/>
        </p:spPr>
        <p:txBody>
          <a:bodyPr wrap="square" lIns="0" tIns="0" rIns="0" bIns="0" rtlCol="0" anchor="t"/>
          <a:lstStyle/>
          <a:p>
            <a:pPr algn="l" indent="0" marL="0">
              <a:buNone/>
            </a:pPr>
            <a:r>
              <a:rPr lang="en-US" sz="1450" b="1" dirty="0">
                <a:solidFill>
                  <a:srgbClr val="10224E"/>
                </a:solidFill>
                <a:latin typeface="Cambria" pitchFamily="34" charset="0"/>
                <a:ea typeface="Cambria" pitchFamily="34" charset="-122"/>
                <a:cs typeface="Cambria" pitchFamily="34" charset="-120"/>
              </a:rPr>
              <a:t>Nachfrage</a:t>
            </a:r>
            <a:endParaRPr lang="en-US" sz="1450" dirty="0"/>
          </a:p>
        </p:txBody>
      </p:sp>
      <p:sp>
        <p:nvSpPr>
          <p:cNvPr id="27" name="Text 25"/>
          <p:cNvSpPr txBox="1"/>
          <p:nvPr/>
        </p:nvSpPr>
        <p:spPr>
          <a:xfrm>
            <a:off x="7534656" y="2889504"/>
            <a:ext cx="1655064" cy="804672"/>
          </a:xfrm>
          <a:prstGeom prst="rect">
            <a:avLst/>
          </a:prstGeom>
          <a:noFill/>
          <a:ln/>
        </p:spPr>
        <p:txBody>
          <a:bodyPr wrap="square" lIns="0" tIns="0" rIns="0" bIns="0" rtlCol="0" anchor="t"/>
          <a:lstStyle/>
          <a:p>
            <a:pPr algn="l" indent="0" marL="0">
              <a:lnSpc>
                <a:spcPct val="105000"/>
              </a:lnSpc>
              <a:buNone/>
            </a:pPr>
            <a:r>
              <a:rPr lang="en-US" sz="1150" dirty="0">
                <a:solidFill>
                  <a:srgbClr val="1A1D26"/>
                </a:solidFill>
                <a:latin typeface="Calibri" pitchFamily="34" charset="0"/>
                <a:ea typeface="Calibri" pitchFamily="34" charset="-122"/>
                <a:cs typeface="Calibri" pitchFamily="34" charset="-120"/>
              </a:rPr>
              <a:t>Konsum und Investitionen steigen oder sinken</a:t>
            </a:r>
            <a:endParaRPr lang="en-US" sz="1150" dirty="0"/>
          </a:p>
        </p:txBody>
      </p:sp>
      <p:sp>
        <p:nvSpPr>
          <p:cNvPr id="28" name="Text 26"/>
          <p:cNvSpPr txBox="1"/>
          <p:nvPr/>
        </p:nvSpPr>
        <p:spPr>
          <a:xfrm>
            <a:off x="9354312" y="2606040"/>
            <a:ext cx="283464" cy="411480"/>
          </a:xfrm>
          <a:prstGeom prst="rect">
            <a:avLst/>
          </a:prstGeom>
          <a:noFill/>
          <a:ln/>
        </p:spPr>
        <p:txBody>
          <a:bodyPr wrap="square" lIns="0" tIns="0" rIns="0" bIns="0" rtlCol="0" anchor="ctr"/>
          <a:lstStyle/>
          <a:p>
            <a:pPr algn="ctr" indent="0" marL="0">
              <a:buNone/>
            </a:pPr>
            <a:r>
              <a:rPr lang="en-US" sz="2200" b="1" dirty="0">
                <a:solidFill>
                  <a:srgbClr val="FFC72C"/>
                </a:solidFill>
                <a:latin typeface="Calibri" pitchFamily="34" charset="0"/>
                <a:ea typeface="Calibri" pitchFamily="34" charset="-122"/>
                <a:cs typeface="Calibri" pitchFamily="34" charset="-120"/>
              </a:rPr>
              <a:t>›</a:t>
            </a:r>
            <a:endParaRPr lang="en-US" sz="2200" dirty="0"/>
          </a:p>
        </p:txBody>
      </p:sp>
      <p:sp>
        <p:nvSpPr>
          <p:cNvPr id="29" name="Shape 27"/>
          <p:cNvSpPr/>
          <p:nvPr/>
        </p:nvSpPr>
        <p:spPr>
          <a:xfrm>
            <a:off x="9637776" y="1828800"/>
            <a:ext cx="1984248" cy="2011680"/>
          </a:xfrm>
          <a:prstGeom prst="roundRect">
            <a:avLst>
              <a:gd name="adj" fmla="val 3687"/>
            </a:avLst>
          </a:prstGeom>
          <a:solidFill>
            <a:srgbClr val="10224E"/>
          </a:solidFill>
          <a:ln w="12700">
            <a:solidFill>
              <a:srgbClr val="10224E"/>
            </a:solidFill>
            <a:prstDash val="solid"/>
          </a:ln>
          <a:effectLst>
            <a:outerShdw sx="100000" sy="100000" kx="0" ky="0" algn="bl" rotWithShape="0" blurRad="88900" dist="12700" dir="5400000">
              <a:srgbClr val="8A96AD">
                <a:alpha val="22000"/>
              </a:srgbClr>
            </a:outerShdw>
          </a:effectLst>
        </p:spPr>
      </p:sp>
      <p:sp>
        <p:nvSpPr>
          <p:cNvPr id="30" name="Shape 28"/>
          <p:cNvSpPr/>
          <p:nvPr/>
        </p:nvSpPr>
        <p:spPr>
          <a:xfrm>
            <a:off x="9802368" y="2011680"/>
            <a:ext cx="420624" cy="420624"/>
          </a:xfrm>
          <a:prstGeom prst="ellipse">
            <a:avLst/>
          </a:prstGeom>
          <a:solidFill>
            <a:srgbClr val="FFC72C"/>
          </a:solidFill>
          <a:ln w="12700">
            <a:solidFill>
              <a:srgbClr val="FFC72C"/>
            </a:solidFill>
            <a:prstDash val="solid"/>
          </a:ln>
        </p:spPr>
      </p:sp>
      <p:sp>
        <p:nvSpPr>
          <p:cNvPr id="31" name="Text 29"/>
          <p:cNvSpPr txBox="1"/>
          <p:nvPr/>
        </p:nvSpPr>
        <p:spPr>
          <a:xfrm>
            <a:off x="9802368" y="2011680"/>
            <a:ext cx="420624" cy="420624"/>
          </a:xfrm>
          <a:prstGeom prst="rect">
            <a:avLst/>
          </a:prstGeom>
          <a:noFill/>
          <a:ln/>
        </p:spPr>
        <p:txBody>
          <a:bodyPr wrap="square" lIns="0" tIns="0" rIns="0" bIns="0" rtlCol="0" anchor="ctr"/>
          <a:lstStyle/>
          <a:p>
            <a:pPr algn="ctr" indent="0" marL="0">
              <a:buNone/>
            </a:pPr>
            <a:r>
              <a:rPr lang="en-US" sz="1400" b="1" dirty="0">
                <a:solidFill>
                  <a:srgbClr val="10224E"/>
                </a:solidFill>
                <a:latin typeface="Cambria" pitchFamily="34" charset="0"/>
                <a:ea typeface="Cambria" pitchFamily="34" charset="-122"/>
                <a:cs typeface="Cambria" pitchFamily="34" charset="-120"/>
              </a:rPr>
              <a:t>5</a:t>
            </a:r>
            <a:endParaRPr lang="en-US" sz="1400" dirty="0"/>
          </a:p>
        </p:txBody>
      </p:sp>
      <p:sp>
        <p:nvSpPr>
          <p:cNvPr id="32" name="Text 30"/>
          <p:cNvSpPr txBox="1"/>
          <p:nvPr/>
        </p:nvSpPr>
        <p:spPr>
          <a:xfrm>
            <a:off x="9802368" y="2542032"/>
            <a:ext cx="1655064" cy="329184"/>
          </a:xfrm>
          <a:prstGeom prst="rect">
            <a:avLst/>
          </a:prstGeom>
          <a:noFill/>
          <a:ln/>
        </p:spPr>
        <p:txBody>
          <a:bodyPr wrap="square" lIns="0" tIns="0" rIns="0" bIns="0" rtlCol="0" anchor="t"/>
          <a:lstStyle/>
          <a:p>
            <a:pPr algn="l" indent="0" marL="0">
              <a:buNone/>
            </a:pPr>
            <a:r>
              <a:rPr lang="en-US" sz="1450" b="1" dirty="0">
                <a:solidFill>
                  <a:srgbClr val="FFFFFF"/>
                </a:solidFill>
                <a:latin typeface="Cambria" pitchFamily="34" charset="0"/>
                <a:ea typeface="Cambria" pitchFamily="34" charset="-122"/>
                <a:cs typeface="Cambria" pitchFamily="34" charset="-120"/>
              </a:rPr>
              <a:t>Preise</a:t>
            </a:r>
            <a:endParaRPr lang="en-US" sz="1450" dirty="0"/>
          </a:p>
        </p:txBody>
      </p:sp>
      <p:sp>
        <p:nvSpPr>
          <p:cNvPr id="33" name="Text 31"/>
          <p:cNvSpPr txBox="1"/>
          <p:nvPr/>
        </p:nvSpPr>
        <p:spPr>
          <a:xfrm>
            <a:off x="9802368" y="2889504"/>
            <a:ext cx="1655064" cy="804672"/>
          </a:xfrm>
          <a:prstGeom prst="rect">
            <a:avLst/>
          </a:prstGeom>
          <a:noFill/>
          <a:ln/>
        </p:spPr>
        <p:txBody>
          <a:bodyPr wrap="square" lIns="0" tIns="0" rIns="0" bIns="0" rtlCol="0" anchor="t"/>
          <a:lstStyle/>
          <a:p>
            <a:pPr algn="l" indent="0" marL="0">
              <a:lnSpc>
                <a:spcPct val="105000"/>
              </a:lnSpc>
              <a:buNone/>
            </a:pPr>
            <a:r>
              <a:rPr lang="en-US" sz="1150" dirty="0">
                <a:solidFill>
                  <a:srgbClr val="C9D5EE"/>
                </a:solidFill>
                <a:latin typeface="Calibri" pitchFamily="34" charset="0"/>
                <a:ea typeface="Calibri" pitchFamily="34" charset="-122"/>
                <a:cs typeface="Calibri" pitchFamily="34" charset="-120"/>
              </a:rPr>
              <a:t>die Inflationsrate reagiert – mit Verzögerung</a:t>
            </a:r>
            <a:endParaRPr lang="en-US" sz="1150" dirty="0"/>
          </a:p>
        </p:txBody>
      </p:sp>
      <p:sp>
        <p:nvSpPr>
          <p:cNvPr id="34" name="Shape 32"/>
          <p:cNvSpPr/>
          <p:nvPr/>
        </p:nvSpPr>
        <p:spPr>
          <a:xfrm>
            <a:off x="566928" y="4160520"/>
            <a:ext cx="5394960" cy="1691640"/>
          </a:xfrm>
          <a:prstGeom prst="roundRect">
            <a:avLst>
              <a:gd name="adj" fmla="val 4324"/>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35" name="Text 33"/>
          <p:cNvSpPr txBox="1"/>
          <p:nvPr/>
        </p:nvSpPr>
        <p:spPr>
          <a:xfrm>
            <a:off x="859536" y="4343400"/>
            <a:ext cx="4809744" cy="292608"/>
          </a:xfrm>
          <a:prstGeom prst="rect">
            <a:avLst/>
          </a:prstGeom>
          <a:noFill/>
          <a:ln/>
        </p:spPr>
        <p:txBody>
          <a:bodyPr wrap="square" lIns="0" tIns="0" rIns="0" bIns="0" rtlCol="0" anchor="t"/>
          <a:lstStyle/>
          <a:p>
            <a:pPr algn="l" indent="0" marL="0">
              <a:buNone/>
            </a:pPr>
            <a:r>
              <a:rPr lang="en-US" sz="1500" b="1" dirty="0">
                <a:solidFill>
                  <a:srgbClr val="10224E"/>
                </a:solidFill>
                <a:latin typeface="Cambria" pitchFamily="34" charset="0"/>
                <a:ea typeface="Cambria" pitchFamily="34" charset="-122"/>
                <a:cs typeface="Cambria" pitchFamily="34" charset="-120"/>
              </a:rPr>
              <a:t>Zeit ist der Knackpunkt</a:t>
            </a:r>
            <a:endParaRPr lang="en-US" sz="1500" dirty="0"/>
          </a:p>
        </p:txBody>
      </p:sp>
      <p:sp>
        <p:nvSpPr>
          <p:cNvPr id="36" name="Text 34"/>
          <p:cNvSpPr txBox="1"/>
          <p:nvPr/>
        </p:nvSpPr>
        <p:spPr>
          <a:xfrm>
            <a:off x="859536" y="4681728"/>
            <a:ext cx="4809744" cy="1051560"/>
          </a:xfrm>
          <a:prstGeom prst="rect">
            <a:avLst/>
          </a:prstGeom>
          <a:noFill/>
          <a:ln/>
        </p:spPr>
        <p:txBody>
          <a:bodyPr wrap="square" lIns="0" tIns="0" rIns="0" bIns="0" rtlCol="0" anchor="t"/>
          <a:lstStyle/>
          <a:p>
            <a:pPr algn="l" indent="0" marL="0">
              <a:lnSpc>
                <a:spcPct val="108000"/>
              </a:lnSpc>
              <a:buNone/>
            </a:pPr>
            <a:r>
              <a:rPr lang="en-US" sz="1250" dirty="0">
                <a:solidFill>
                  <a:srgbClr val="1A1D26"/>
                </a:solidFill>
                <a:latin typeface="Calibri" pitchFamily="34" charset="0"/>
                <a:ea typeface="Calibri" pitchFamily="34" charset="-122"/>
                <a:cs typeface="Calibri" pitchFamily="34" charset="-120"/>
              </a:rPr>
              <a:t>Zinsentscheidungen wirken nicht sofort. Bis eine Änderung voll bei Preisen und Beschäftigung ankommt, vergehen meist vier bis acht Quartale. Die EZB muss deshalb vorausschauend handeln – und riskiert, zu spät oder zu stark zu reagieren.</a:t>
            </a:r>
            <a:endParaRPr lang="en-US" sz="1250" dirty="0"/>
          </a:p>
        </p:txBody>
      </p:sp>
      <p:sp>
        <p:nvSpPr>
          <p:cNvPr id="37" name="Shape 35"/>
          <p:cNvSpPr/>
          <p:nvPr/>
        </p:nvSpPr>
        <p:spPr>
          <a:xfrm>
            <a:off x="6227064" y="4160520"/>
            <a:ext cx="5394960" cy="1691640"/>
          </a:xfrm>
          <a:prstGeom prst="roundRect">
            <a:avLst>
              <a:gd name="adj" fmla="val 4324"/>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38" name="Text 36"/>
          <p:cNvSpPr txBox="1"/>
          <p:nvPr/>
        </p:nvSpPr>
        <p:spPr>
          <a:xfrm>
            <a:off x="6519672" y="4343400"/>
            <a:ext cx="4809744" cy="292608"/>
          </a:xfrm>
          <a:prstGeom prst="rect">
            <a:avLst/>
          </a:prstGeom>
          <a:noFill/>
          <a:ln/>
        </p:spPr>
        <p:txBody>
          <a:bodyPr wrap="square" lIns="0" tIns="0" rIns="0" bIns="0" rtlCol="0" anchor="t"/>
          <a:lstStyle/>
          <a:p>
            <a:pPr algn="l" indent="0" marL="0">
              <a:buNone/>
            </a:pPr>
            <a:r>
              <a:rPr lang="en-US" sz="1500" b="1" dirty="0">
                <a:solidFill>
                  <a:srgbClr val="10224E"/>
                </a:solidFill>
                <a:latin typeface="Cambria" pitchFamily="34" charset="0"/>
                <a:ea typeface="Cambria" pitchFamily="34" charset="-122"/>
                <a:cs typeface="Cambria" pitchFamily="34" charset="-120"/>
              </a:rPr>
              <a:t>Wo der Weg stocken kann</a:t>
            </a:r>
            <a:endParaRPr lang="en-US" sz="1500" dirty="0"/>
          </a:p>
        </p:txBody>
      </p:sp>
      <p:sp>
        <p:nvSpPr>
          <p:cNvPr id="39" name="Text 37"/>
          <p:cNvSpPr txBox="1"/>
          <p:nvPr/>
        </p:nvSpPr>
        <p:spPr>
          <a:xfrm>
            <a:off x="6519672" y="4681728"/>
            <a:ext cx="4809744" cy="1051560"/>
          </a:xfrm>
          <a:prstGeom prst="rect">
            <a:avLst/>
          </a:prstGeom>
          <a:noFill/>
          <a:ln/>
        </p:spPr>
        <p:txBody>
          <a:bodyPr wrap="square" lIns="0" tIns="0" rIns="0" bIns="0" rtlCol="0" anchor="t"/>
          <a:lstStyle/>
          <a:p>
            <a:pPr algn="l" indent="0" marL="0">
              <a:lnSpc>
                <a:spcPct val="108000"/>
              </a:lnSpc>
              <a:buNone/>
            </a:pPr>
            <a:r>
              <a:rPr lang="en-US" sz="1250" dirty="0">
                <a:solidFill>
                  <a:srgbClr val="1A1D26"/>
                </a:solidFill>
                <a:latin typeface="Calibri" pitchFamily="34" charset="0"/>
                <a:ea typeface="Calibri" pitchFamily="34" charset="-122"/>
                <a:cs typeface="Calibri" pitchFamily="34" charset="-120"/>
              </a:rPr>
              <a:t>Geben die Banken günstige Konditionen nicht weiter, oder ist die Stimmung so schlecht, dass trotz niedriger Zinsen niemand investiert, verpufft die Wirkung. Ökonomen sprechen dann von einer Liquiditätsfalle.</a:t>
            </a:r>
            <a:endParaRPr lang="en-US" sz="1250" dirty="0"/>
          </a:p>
        </p:txBody>
      </p:sp>
      <p:sp>
        <p:nvSpPr>
          <p:cNvPr id="40" name="Text 38"/>
          <p:cNvSpPr txBox="1"/>
          <p:nvPr/>
        </p:nvSpPr>
        <p:spPr>
          <a:xfrm>
            <a:off x="566928" y="6364224"/>
            <a:ext cx="5486400" cy="256032"/>
          </a:xfrm>
          <a:prstGeom prst="rect">
            <a:avLst/>
          </a:prstGeom>
          <a:noFill/>
          <a:ln/>
        </p:spPr>
        <p:txBody>
          <a:bodyPr wrap="square" lIns="0" tIns="0" rIns="0" bIns="0" rtlCol="0" anchor="t"/>
          <a:lstStyle/>
          <a:p>
            <a:pPr algn="l" indent="0" marL="0">
              <a:buNone/>
            </a:pPr>
            <a:r>
              <a:rPr lang="en-US" sz="950" dirty="0">
                <a:solidFill>
                  <a:srgbClr val="5A6274"/>
                </a:solidFill>
                <a:latin typeface="Calibri" pitchFamily="34" charset="0"/>
                <a:ea typeface="Calibri" pitchFamily="34" charset="-122"/>
                <a:cs typeface="Calibri" pitchFamily="34" charset="-120"/>
              </a:rPr>
              <a:t>Die Geldpolitik der EZB</a:t>
            </a:r>
            <a:endParaRPr lang="en-US" sz="950" dirty="0"/>
          </a:p>
        </p:txBody>
      </p:sp>
      <p:sp>
        <p:nvSpPr>
          <p:cNvPr id="41" name="Text 39"/>
          <p:cNvSpPr txBox="1"/>
          <p:nvPr/>
        </p:nvSpPr>
        <p:spPr>
          <a:xfrm>
            <a:off x="7967167" y="6364224"/>
            <a:ext cx="3657600" cy="256032"/>
          </a:xfrm>
          <a:prstGeom prst="rect">
            <a:avLst/>
          </a:prstGeom>
          <a:noFill/>
          <a:ln/>
        </p:spPr>
        <p:txBody>
          <a:bodyPr wrap="square" lIns="0" tIns="0" rIns="0" bIns="0" rtlCol="0" anchor="t"/>
          <a:lstStyle/>
          <a:p>
            <a:pPr algn="r" indent="0" marL="0">
              <a:buNone/>
            </a:pPr>
            <a:r>
              <a:rPr lang="en-US" sz="950" dirty="0">
                <a:solidFill>
                  <a:srgbClr val="5A6274"/>
                </a:solidFill>
                <a:latin typeface="Calibri" pitchFamily="34" charset="0"/>
                <a:ea typeface="Calibri" pitchFamily="34" charset="-122"/>
                <a:cs typeface="Calibri" pitchFamily="34" charset="-120"/>
              </a:rPr>
              <a:t>Folie 11 von 17</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algn="l" indent="0" marL="0">
              <a:buNone/>
            </a:pPr>
            <a:r>
              <a:rPr lang="en-US" sz="1100" b="1" spc="140" kern="0" dirty="0">
                <a:solidFill>
                  <a:srgbClr val="9A6F00"/>
                </a:solidFill>
                <a:latin typeface="Calibri" pitchFamily="34" charset="0"/>
                <a:ea typeface="Calibri" pitchFamily="34" charset="-122"/>
                <a:cs typeface="Calibri" pitchFamily="34" charset="-120"/>
              </a:rPr>
              <a:t>TEIL 3 · DER ZINS UND SEINE WIRKUNG</a:t>
            </a:r>
            <a:endParaRPr lang="en-US" sz="1100" dirty="0"/>
          </a:p>
        </p:txBody>
      </p:sp>
      <p:sp>
        <p:nvSpPr>
          <p:cNvPr id="3" name="Text 1"/>
          <p:cNvSpPr txBox="1"/>
          <p:nvPr/>
        </p:nvSpPr>
        <p:spPr>
          <a:xfrm>
            <a:off x="566928" y="566928"/>
            <a:ext cx="11057839" cy="676656"/>
          </a:xfrm>
          <a:prstGeom prst="rect">
            <a:avLst/>
          </a:prstGeom>
          <a:noFill/>
          <a:ln/>
        </p:spPr>
        <p:txBody>
          <a:bodyPr wrap="square" lIns="0" tIns="0" rIns="0" bIns="0" rtlCol="0" anchor="ctr"/>
          <a:lstStyle/>
          <a:p>
            <a:pPr algn="l" indent="0" marL="0">
              <a:buNone/>
            </a:pPr>
            <a:r>
              <a:rPr lang="en-US" sz="3000" b="1" dirty="0">
                <a:solidFill>
                  <a:srgbClr val="10224E"/>
                </a:solidFill>
                <a:latin typeface="Cambria" pitchFamily="34" charset="0"/>
                <a:ea typeface="Cambria" pitchFamily="34" charset="-122"/>
                <a:cs typeface="Cambria" pitchFamily="34" charset="-120"/>
              </a:rPr>
              <a:t>Zwei Richtungen der Geldpolitik</a:t>
            </a:r>
            <a:endParaRPr lang="en-US" sz="3000" dirty="0"/>
          </a:p>
        </p:txBody>
      </p:sp>
      <p:sp>
        <p:nvSpPr>
          <p:cNvPr id="4" name="Shape 2"/>
          <p:cNvSpPr/>
          <p:nvPr/>
        </p:nvSpPr>
        <p:spPr>
          <a:xfrm>
            <a:off x="566928" y="1389888"/>
            <a:ext cx="5394960" cy="4069080"/>
          </a:xfrm>
          <a:prstGeom prst="roundRect">
            <a:avLst>
              <a:gd name="adj" fmla="val 1798"/>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5" name="Shape 3"/>
          <p:cNvSpPr/>
          <p:nvPr/>
        </p:nvSpPr>
        <p:spPr>
          <a:xfrm>
            <a:off x="841248" y="1627632"/>
            <a:ext cx="566928" cy="566928"/>
          </a:xfrm>
          <a:prstGeom prst="ellipse">
            <a:avLst/>
          </a:prstGeom>
          <a:solidFill>
            <a:srgbClr val="1B7A5A"/>
          </a:solidFill>
          <a:ln w="12700">
            <a:solidFill>
              <a:srgbClr val="1B7A5A"/>
            </a:solidFill>
            <a:prstDash val="solid"/>
          </a:ln>
        </p:spPr>
      </p:sp>
      <p:sp>
        <p:nvSpPr>
          <p:cNvPr id="6" name="Text 4"/>
          <p:cNvSpPr txBox="1"/>
          <p:nvPr/>
        </p:nvSpPr>
        <p:spPr>
          <a:xfrm>
            <a:off x="841248" y="162763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txBox="1"/>
          <p:nvPr/>
        </p:nvSpPr>
        <p:spPr>
          <a:xfrm>
            <a:off x="1536192" y="1627632"/>
            <a:ext cx="4151376" cy="310896"/>
          </a:xfrm>
          <a:prstGeom prst="rect">
            <a:avLst/>
          </a:prstGeom>
          <a:noFill/>
          <a:ln/>
        </p:spPr>
        <p:txBody>
          <a:bodyPr wrap="square" lIns="0" tIns="0" rIns="0" bIns="0" rtlCol="0" anchor="t"/>
          <a:lstStyle/>
          <a:p>
            <a:pPr algn="l" indent="0" marL="0">
              <a:buNone/>
            </a:pPr>
            <a:r>
              <a:rPr lang="en-US" sz="1650" b="1" dirty="0">
                <a:solidFill>
                  <a:srgbClr val="1B7A5A"/>
                </a:solidFill>
                <a:latin typeface="Cambria" pitchFamily="34" charset="0"/>
                <a:ea typeface="Cambria" pitchFamily="34" charset="-122"/>
                <a:cs typeface="Cambria" pitchFamily="34" charset="-120"/>
              </a:rPr>
              <a:t>Expansive Geldpolitik</a:t>
            </a:r>
            <a:endParaRPr lang="en-US" sz="1650" dirty="0"/>
          </a:p>
        </p:txBody>
      </p:sp>
      <p:sp>
        <p:nvSpPr>
          <p:cNvPr id="8" name="Text 6"/>
          <p:cNvSpPr txBox="1"/>
          <p:nvPr/>
        </p:nvSpPr>
        <p:spPr>
          <a:xfrm>
            <a:off x="1536192" y="1956816"/>
            <a:ext cx="4151376" cy="256032"/>
          </a:xfrm>
          <a:prstGeom prst="rect">
            <a:avLst/>
          </a:prstGeom>
          <a:noFill/>
          <a:ln/>
        </p:spPr>
        <p:txBody>
          <a:bodyPr wrap="square" lIns="0" tIns="0" rIns="0" bIns="0" rtlCol="0" anchor="t"/>
          <a:lstStyle/>
          <a:p>
            <a:pPr algn="l" indent="0" marL="0">
              <a:buNone/>
            </a:pPr>
            <a:r>
              <a:rPr lang="en-US" sz="1250" i="1" dirty="0">
                <a:solidFill>
                  <a:srgbClr val="5A6274"/>
                </a:solidFill>
                <a:latin typeface="Calibri" pitchFamily="34" charset="0"/>
                <a:ea typeface="Calibri" pitchFamily="34" charset="-122"/>
                <a:cs typeface="Calibri" pitchFamily="34" charset="-120"/>
              </a:rPr>
              <a:t>Leitzins runter – Geld wird billiger</a:t>
            </a:r>
            <a:endParaRPr lang="en-US" sz="1250" dirty="0"/>
          </a:p>
        </p:txBody>
      </p:sp>
      <p:sp>
        <p:nvSpPr>
          <p:cNvPr id="9" name="Text 7"/>
          <p:cNvSpPr txBox="1"/>
          <p:nvPr/>
        </p:nvSpPr>
        <p:spPr>
          <a:xfrm>
            <a:off x="859536" y="2560320"/>
            <a:ext cx="960120" cy="237744"/>
          </a:xfrm>
          <a:prstGeom prst="rect">
            <a:avLst/>
          </a:prstGeom>
          <a:noFill/>
          <a:ln/>
        </p:spPr>
        <p:txBody>
          <a:bodyPr wrap="square" lIns="0" tIns="0" rIns="0" bIns="0" rtlCol="0" anchor="t"/>
          <a:lstStyle/>
          <a:p>
            <a:pPr algn="l" indent="0" marL="0">
              <a:buNone/>
            </a:pPr>
            <a:r>
              <a:rPr lang="en-US" sz="1100" b="1" spc="100" kern="0" dirty="0">
                <a:solidFill>
                  <a:srgbClr val="9A6F00"/>
                </a:solidFill>
                <a:latin typeface="Calibri" pitchFamily="34" charset="0"/>
                <a:ea typeface="Calibri" pitchFamily="34" charset="-122"/>
                <a:cs typeface="Calibri" pitchFamily="34" charset="-120"/>
              </a:rPr>
              <a:t>Anlass</a:t>
            </a:r>
            <a:endParaRPr lang="en-US" sz="1100" dirty="0"/>
          </a:p>
        </p:txBody>
      </p:sp>
      <p:sp>
        <p:nvSpPr>
          <p:cNvPr id="10" name="Text 8"/>
          <p:cNvSpPr txBox="1"/>
          <p:nvPr/>
        </p:nvSpPr>
        <p:spPr>
          <a:xfrm>
            <a:off x="859536" y="2798064"/>
            <a:ext cx="4809744" cy="640080"/>
          </a:xfrm>
          <a:prstGeom prst="rect">
            <a:avLst/>
          </a:prstGeom>
          <a:noFill/>
          <a:ln/>
        </p:spPr>
        <p:txBody>
          <a:bodyPr wrap="square" lIns="0" tIns="0" rIns="0" bIns="0" rtlCol="0" anchor="t"/>
          <a:lstStyle/>
          <a:p>
            <a:pPr algn="l" indent="0" marL="0">
              <a:lnSpc>
                <a:spcPct val="106000"/>
              </a:lnSpc>
              <a:buNone/>
            </a:pPr>
            <a:r>
              <a:rPr lang="en-US" sz="1250" dirty="0">
                <a:solidFill>
                  <a:srgbClr val="1A1D26"/>
                </a:solidFill>
                <a:latin typeface="Calibri" pitchFamily="34" charset="0"/>
                <a:ea typeface="Calibri" pitchFamily="34" charset="-122"/>
                <a:cs typeface="Calibri" pitchFamily="34" charset="-120"/>
              </a:rPr>
              <a:t>schwache Konjunktur, Inflation dauerhaft unter 2 %</a:t>
            </a:r>
            <a:endParaRPr lang="en-US" sz="1250" dirty="0"/>
          </a:p>
        </p:txBody>
      </p:sp>
      <p:sp>
        <p:nvSpPr>
          <p:cNvPr id="11" name="Text 9"/>
          <p:cNvSpPr txBox="1"/>
          <p:nvPr/>
        </p:nvSpPr>
        <p:spPr>
          <a:xfrm>
            <a:off x="859536" y="3520440"/>
            <a:ext cx="960120" cy="237744"/>
          </a:xfrm>
          <a:prstGeom prst="rect">
            <a:avLst/>
          </a:prstGeom>
          <a:noFill/>
          <a:ln/>
        </p:spPr>
        <p:txBody>
          <a:bodyPr wrap="square" lIns="0" tIns="0" rIns="0" bIns="0" rtlCol="0" anchor="t"/>
          <a:lstStyle/>
          <a:p>
            <a:pPr algn="l" indent="0" marL="0">
              <a:buNone/>
            </a:pPr>
            <a:r>
              <a:rPr lang="en-US" sz="1100" b="1" spc="100" kern="0" dirty="0">
                <a:solidFill>
                  <a:srgbClr val="9A6F00"/>
                </a:solidFill>
                <a:latin typeface="Calibri" pitchFamily="34" charset="0"/>
                <a:ea typeface="Calibri" pitchFamily="34" charset="-122"/>
                <a:cs typeface="Calibri" pitchFamily="34" charset="-120"/>
              </a:rPr>
              <a:t>Wirkung</a:t>
            </a:r>
            <a:endParaRPr lang="en-US" sz="1100" dirty="0"/>
          </a:p>
        </p:txBody>
      </p:sp>
      <p:sp>
        <p:nvSpPr>
          <p:cNvPr id="12" name="Text 10"/>
          <p:cNvSpPr txBox="1"/>
          <p:nvPr/>
        </p:nvSpPr>
        <p:spPr>
          <a:xfrm>
            <a:off x="859536" y="3758184"/>
            <a:ext cx="4809744" cy="640080"/>
          </a:xfrm>
          <a:prstGeom prst="rect">
            <a:avLst/>
          </a:prstGeom>
          <a:noFill/>
          <a:ln/>
        </p:spPr>
        <p:txBody>
          <a:bodyPr wrap="square" lIns="0" tIns="0" rIns="0" bIns="0" rtlCol="0" anchor="t"/>
          <a:lstStyle/>
          <a:p>
            <a:pPr algn="l" indent="0" marL="0">
              <a:lnSpc>
                <a:spcPct val="106000"/>
              </a:lnSpc>
              <a:buNone/>
            </a:pPr>
            <a:r>
              <a:rPr lang="en-US" sz="1250" dirty="0">
                <a:solidFill>
                  <a:srgbClr val="1A1D26"/>
                </a:solidFill>
                <a:latin typeface="Calibri" pitchFamily="34" charset="0"/>
                <a:ea typeface="Calibri" pitchFamily="34" charset="-122"/>
                <a:cs typeface="Calibri" pitchFamily="34" charset="-120"/>
              </a:rPr>
              <a:t>Kredite werden günstiger – Investitionen, Konsum und Beschäftigung steigen</a:t>
            </a:r>
            <a:endParaRPr lang="en-US" sz="1250" dirty="0"/>
          </a:p>
        </p:txBody>
      </p:sp>
      <p:sp>
        <p:nvSpPr>
          <p:cNvPr id="13" name="Text 11"/>
          <p:cNvSpPr txBox="1"/>
          <p:nvPr/>
        </p:nvSpPr>
        <p:spPr>
          <a:xfrm>
            <a:off x="859536" y="4480560"/>
            <a:ext cx="960120" cy="237744"/>
          </a:xfrm>
          <a:prstGeom prst="rect">
            <a:avLst/>
          </a:prstGeom>
          <a:noFill/>
          <a:ln/>
        </p:spPr>
        <p:txBody>
          <a:bodyPr wrap="square" lIns="0" tIns="0" rIns="0" bIns="0" rtlCol="0" anchor="t"/>
          <a:lstStyle/>
          <a:p>
            <a:pPr algn="l" indent="0" marL="0">
              <a:buNone/>
            </a:pPr>
            <a:r>
              <a:rPr lang="en-US" sz="1100" b="1" spc="100" kern="0" dirty="0">
                <a:solidFill>
                  <a:srgbClr val="9A6F00"/>
                </a:solidFill>
                <a:latin typeface="Calibri" pitchFamily="34" charset="0"/>
                <a:ea typeface="Calibri" pitchFamily="34" charset="-122"/>
                <a:cs typeface="Calibri" pitchFamily="34" charset="-120"/>
              </a:rPr>
              <a:t>Risiko</a:t>
            </a:r>
            <a:endParaRPr lang="en-US" sz="1100" dirty="0"/>
          </a:p>
        </p:txBody>
      </p:sp>
      <p:sp>
        <p:nvSpPr>
          <p:cNvPr id="14" name="Text 12"/>
          <p:cNvSpPr txBox="1"/>
          <p:nvPr/>
        </p:nvSpPr>
        <p:spPr>
          <a:xfrm>
            <a:off x="859536" y="4718304"/>
            <a:ext cx="4809744" cy="640080"/>
          </a:xfrm>
          <a:prstGeom prst="rect">
            <a:avLst/>
          </a:prstGeom>
          <a:noFill/>
          <a:ln/>
        </p:spPr>
        <p:txBody>
          <a:bodyPr wrap="square" lIns="0" tIns="0" rIns="0" bIns="0" rtlCol="0" anchor="t"/>
          <a:lstStyle/>
          <a:p>
            <a:pPr algn="l" indent="0" marL="0">
              <a:lnSpc>
                <a:spcPct val="106000"/>
              </a:lnSpc>
              <a:buNone/>
            </a:pPr>
            <a:r>
              <a:rPr lang="en-US" sz="1250" dirty="0">
                <a:solidFill>
                  <a:srgbClr val="1A1D26"/>
                </a:solidFill>
                <a:latin typeface="Calibri" pitchFamily="34" charset="0"/>
                <a:ea typeface="Calibri" pitchFamily="34" charset="-122"/>
                <a:cs typeface="Calibri" pitchFamily="34" charset="-120"/>
              </a:rPr>
              <a:t>billiges Geld treibt Inflation und Preisblasen; Sparer verlieren real an Wert</a:t>
            </a:r>
            <a:endParaRPr lang="en-US" sz="1250" dirty="0"/>
          </a:p>
        </p:txBody>
      </p:sp>
      <p:sp>
        <p:nvSpPr>
          <p:cNvPr id="15" name="Shape 13"/>
          <p:cNvSpPr/>
          <p:nvPr/>
        </p:nvSpPr>
        <p:spPr>
          <a:xfrm>
            <a:off x="6227064" y="1389888"/>
            <a:ext cx="5394960" cy="4069080"/>
          </a:xfrm>
          <a:prstGeom prst="roundRect">
            <a:avLst>
              <a:gd name="adj" fmla="val 1798"/>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6" name="Shape 14"/>
          <p:cNvSpPr/>
          <p:nvPr/>
        </p:nvSpPr>
        <p:spPr>
          <a:xfrm>
            <a:off x="6501384" y="1627632"/>
            <a:ext cx="566928" cy="566928"/>
          </a:xfrm>
          <a:prstGeom prst="ellipse">
            <a:avLst/>
          </a:prstGeom>
          <a:solidFill>
            <a:srgbClr val="B3321F"/>
          </a:solidFill>
          <a:ln w="12700">
            <a:solidFill>
              <a:srgbClr val="B3321F"/>
            </a:solidFill>
            <a:prstDash val="solid"/>
          </a:ln>
        </p:spPr>
      </p:sp>
      <p:sp>
        <p:nvSpPr>
          <p:cNvPr id="17" name="Text 15"/>
          <p:cNvSpPr txBox="1"/>
          <p:nvPr/>
        </p:nvSpPr>
        <p:spPr>
          <a:xfrm>
            <a:off x="6501384" y="162763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8" name="Text 16"/>
          <p:cNvSpPr txBox="1"/>
          <p:nvPr/>
        </p:nvSpPr>
        <p:spPr>
          <a:xfrm>
            <a:off x="7196328" y="1627632"/>
            <a:ext cx="4151376" cy="310896"/>
          </a:xfrm>
          <a:prstGeom prst="rect">
            <a:avLst/>
          </a:prstGeom>
          <a:noFill/>
          <a:ln/>
        </p:spPr>
        <p:txBody>
          <a:bodyPr wrap="square" lIns="0" tIns="0" rIns="0" bIns="0" rtlCol="0" anchor="t"/>
          <a:lstStyle/>
          <a:p>
            <a:pPr algn="l" indent="0" marL="0">
              <a:buNone/>
            </a:pPr>
            <a:r>
              <a:rPr lang="en-US" sz="1650" b="1" dirty="0">
                <a:solidFill>
                  <a:srgbClr val="B3321F"/>
                </a:solidFill>
                <a:latin typeface="Cambria" pitchFamily="34" charset="0"/>
                <a:ea typeface="Cambria" pitchFamily="34" charset="-122"/>
                <a:cs typeface="Cambria" pitchFamily="34" charset="-120"/>
              </a:rPr>
              <a:t>Restriktive Geldpolitik</a:t>
            </a:r>
            <a:endParaRPr lang="en-US" sz="1650" dirty="0"/>
          </a:p>
        </p:txBody>
      </p:sp>
      <p:sp>
        <p:nvSpPr>
          <p:cNvPr id="19" name="Text 17"/>
          <p:cNvSpPr txBox="1"/>
          <p:nvPr/>
        </p:nvSpPr>
        <p:spPr>
          <a:xfrm>
            <a:off x="7196328" y="1956816"/>
            <a:ext cx="4151376" cy="256032"/>
          </a:xfrm>
          <a:prstGeom prst="rect">
            <a:avLst/>
          </a:prstGeom>
          <a:noFill/>
          <a:ln/>
        </p:spPr>
        <p:txBody>
          <a:bodyPr wrap="square" lIns="0" tIns="0" rIns="0" bIns="0" rtlCol="0" anchor="t"/>
          <a:lstStyle/>
          <a:p>
            <a:pPr algn="l" indent="0" marL="0">
              <a:buNone/>
            </a:pPr>
            <a:r>
              <a:rPr lang="en-US" sz="1250" i="1" dirty="0">
                <a:solidFill>
                  <a:srgbClr val="5A6274"/>
                </a:solidFill>
                <a:latin typeface="Calibri" pitchFamily="34" charset="0"/>
                <a:ea typeface="Calibri" pitchFamily="34" charset="-122"/>
                <a:cs typeface="Calibri" pitchFamily="34" charset="-120"/>
              </a:rPr>
              <a:t>Leitzins rauf – Geld wird teurer</a:t>
            </a:r>
            <a:endParaRPr lang="en-US" sz="1250" dirty="0"/>
          </a:p>
        </p:txBody>
      </p:sp>
      <p:sp>
        <p:nvSpPr>
          <p:cNvPr id="20" name="Text 18"/>
          <p:cNvSpPr txBox="1"/>
          <p:nvPr/>
        </p:nvSpPr>
        <p:spPr>
          <a:xfrm>
            <a:off x="6519672" y="2560320"/>
            <a:ext cx="960120" cy="237744"/>
          </a:xfrm>
          <a:prstGeom prst="rect">
            <a:avLst/>
          </a:prstGeom>
          <a:noFill/>
          <a:ln/>
        </p:spPr>
        <p:txBody>
          <a:bodyPr wrap="square" lIns="0" tIns="0" rIns="0" bIns="0" rtlCol="0" anchor="t"/>
          <a:lstStyle/>
          <a:p>
            <a:pPr algn="l" indent="0" marL="0">
              <a:buNone/>
            </a:pPr>
            <a:r>
              <a:rPr lang="en-US" sz="1100" b="1" spc="100" kern="0" dirty="0">
                <a:solidFill>
                  <a:srgbClr val="9A6F00"/>
                </a:solidFill>
                <a:latin typeface="Calibri" pitchFamily="34" charset="0"/>
                <a:ea typeface="Calibri" pitchFamily="34" charset="-122"/>
                <a:cs typeface="Calibri" pitchFamily="34" charset="-120"/>
              </a:rPr>
              <a:t>Anlass</a:t>
            </a:r>
            <a:endParaRPr lang="en-US" sz="1100" dirty="0"/>
          </a:p>
        </p:txBody>
      </p:sp>
      <p:sp>
        <p:nvSpPr>
          <p:cNvPr id="21" name="Text 19"/>
          <p:cNvSpPr txBox="1"/>
          <p:nvPr/>
        </p:nvSpPr>
        <p:spPr>
          <a:xfrm>
            <a:off x="6519672" y="2798064"/>
            <a:ext cx="4809744" cy="640080"/>
          </a:xfrm>
          <a:prstGeom prst="rect">
            <a:avLst/>
          </a:prstGeom>
          <a:noFill/>
          <a:ln/>
        </p:spPr>
        <p:txBody>
          <a:bodyPr wrap="square" lIns="0" tIns="0" rIns="0" bIns="0" rtlCol="0" anchor="t"/>
          <a:lstStyle/>
          <a:p>
            <a:pPr algn="l" indent="0" marL="0">
              <a:lnSpc>
                <a:spcPct val="106000"/>
              </a:lnSpc>
              <a:buNone/>
            </a:pPr>
            <a:r>
              <a:rPr lang="en-US" sz="1250" dirty="0">
                <a:solidFill>
                  <a:srgbClr val="1A1D26"/>
                </a:solidFill>
                <a:latin typeface="Calibri" pitchFamily="34" charset="0"/>
                <a:ea typeface="Calibri" pitchFamily="34" charset="-122"/>
                <a:cs typeface="Calibri" pitchFamily="34" charset="-120"/>
              </a:rPr>
              <a:t>Inflation deutlich über 2 %, Wirtschaft überhitzt</a:t>
            </a:r>
            <a:endParaRPr lang="en-US" sz="1250" dirty="0"/>
          </a:p>
        </p:txBody>
      </p:sp>
      <p:sp>
        <p:nvSpPr>
          <p:cNvPr id="22" name="Text 20"/>
          <p:cNvSpPr txBox="1"/>
          <p:nvPr/>
        </p:nvSpPr>
        <p:spPr>
          <a:xfrm>
            <a:off x="6519672" y="3520440"/>
            <a:ext cx="960120" cy="237744"/>
          </a:xfrm>
          <a:prstGeom prst="rect">
            <a:avLst/>
          </a:prstGeom>
          <a:noFill/>
          <a:ln/>
        </p:spPr>
        <p:txBody>
          <a:bodyPr wrap="square" lIns="0" tIns="0" rIns="0" bIns="0" rtlCol="0" anchor="t"/>
          <a:lstStyle/>
          <a:p>
            <a:pPr algn="l" indent="0" marL="0">
              <a:buNone/>
            </a:pPr>
            <a:r>
              <a:rPr lang="en-US" sz="1100" b="1" spc="100" kern="0" dirty="0">
                <a:solidFill>
                  <a:srgbClr val="9A6F00"/>
                </a:solidFill>
                <a:latin typeface="Calibri" pitchFamily="34" charset="0"/>
                <a:ea typeface="Calibri" pitchFamily="34" charset="-122"/>
                <a:cs typeface="Calibri" pitchFamily="34" charset="-120"/>
              </a:rPr>
              <a:t>Wirkung</a:t>
            </a:r>
            <a:endParaRPr lang="en-US" sz="1100" dirty="0"/>
          </a:p>
        </p:txBody>
      </p:sp>
      <p:sp>
        <p:nvSpPr>
          <p:cNvPr id="23" name="Text 21"/>
          <p:cNvSpPr txBox="1"/>
          <p:nvPr/>
        </p:nvSpPr>
        <p:spPr>
          <a:xfrm>
            <a:off x="6519672" y="3758184"/>
            <a:ext cx="4809744" cy="640080"/>
          </a:xfrm>
          <a:prstGeom prst="rect">
            <a:avLst/>
          </a:prstGeom>
          <a:noFill/>
          <a:ln/>
        </p:spPr>
        <p:txBody>
          <a:bodyPr wrap="square" lIns="0" tIns="0" rIns="0" bIns="0" rtlCol="0" anchor="t"/>
          <a:lstStyle/>
          <a:p>
            <a:pPr algn="l" indent="0" marL="0">
              <a:lnSpc>
                <a:spcPct val="106000"/>
              </a:lnSpc>
              <a:buNone/>
            </a:pPr>
            <a:r>
              <a:rPr lang="en-US" sz="1250" dirty="0">
                <a:solidFill>
                  <a:srgbClr val="1A1D26"/>
                </a:solidFill>
                <a:latin typeface="Calibri" pitchFamily="34" charset="0"/>
                <a:ea typeface="Calibri" pitchFamily="34" charset="-122"/>
                <a:cs typeface="Calibri" pitchFamily="34" charset="-120"/>
              </a:rPr>
              <a:t>Kredite werden teurer – Investitionen und Konsum gehen zurück, der Preisdruck sinkt</a:t>
            </a:r>
            <a:endParaRPr lang="en-US" sz="1250" dirty="0"/>
          </a:p>
        </p:txBody>
      </p:sp>
      <p:sp>
        <p:nvSpPr>
          <p:cNvPr id="24" name="Text 22"/>
          <p:cNvSpPr txBox="1"/>
          <p:nvPr/>
        </p:nvSpPr>
        <p:spPr>
          <a:xfrm>
            <a:off x="6519672" y="4480560"/>
            <a:ext cx="960120" cy="237744"/>
          </a:xfrm>
          <a:prstGeom prst="rect">
            <a:avLst/>
          </a:prstGeom>
          <a:noFill/>
          <a:ln/>
        </p:spPr>
        <p:txBody>
          <a:bodyPr wrap="square" lIns="0" tIns="0" rIns="0" bIns="0" rtlCol="0" anchor="t"/>
          <a:lstStyle/>
          <a:p>
            <a:pPr algn="l" indent="0" marL="0">
              <a:buNone/>
            </a:pPr>
            <a:r>
              <a:rPr lang="en-US" sz="1100" b="1" spc="100" kern="0" dirty="0">
                <a:solidFill>
                  <a:srgbClr val="9A6F00"/>
                </a:solidFill>
                <a:latin typeface="Calibri" pitchFamily="34" charset="0"/>
                <a:ea typeface="Calibri" pitchFamily="34" charset="-122"/>
                <a:cs typeface="Calibri" pitchFamily="34" charset="-120"/>
              </a:rPr>
              <a:t>Risiko</a:t>
            </a:r>
            <a:endParaRPr lang="en-US" sz="1100" dirty="0"/>
          </a:p>
        </p:txBody>
      </p:sp>
      <p:sp>
        <p:nvSpPr>
          <p:cNvPr id="25" name="Text 23"/>
          <p:cNvSpPr txBox="1"/>
          <p:nvPr/>
        </p:nvSpPr>
        <p:spPr>
          <a:xfrm>
            <a:off x="6519672" y="4718304"/>
            <a:ext cx="4809744" cy="640080"/>
          </a:xfrm>
          <a:prstGeom prst="rect">
            <a:avLst/>
          </a:prstGeom>
          <a:noFill/>
          <a:ln/>
        </p:spPr>
        <p:txBody>
          <a:bodyPr wrap="square" lIns="0" tIns="0" rIns="0" bIns="0" rtlCol="0" anchor="t"/>
          <a:lstStyle/>
          <a:p>
            <a:pPr algn="l" indent="0" marL="0">
              <a:lnSpc>
                <a:spcPct val="106000"/>
              </a:lnSpc>
              <a:buNone/>
            </a:pPr>
            <a:r>
              <a:rPr lang="en-US" sz="1250" dirty="0">
                <a:solidFill>
                  <a:srgbClr val="1A1D26"/>
                </a:solidFill>
                <a:latin typeface="Calibri" pitchFamily="34" charset="0"/>
                <a:ea typeface="Calibri" pitchFamily="34" charset="-122"/>
                <a:cs typeface="Calibri" pitchFamily="34" charset="-120"/>
              </a:rPr>
              <a:t>Wachstum bricht ein, Arbeitslosigkeit steigt, Staat und Betriebe zahlen mehr Zinsen</a:t>
            </a:r>
            <a:endParaRPr lang="en-US" sz="1250" dirty="0"/>
          </a:p>
        </p:txBody>
      </p:sp>
      <p:sp>
        <p:nvSpPr>
          <p:cNvPr id="26" name="Shape 24"/>
          <p:cNvSpPr/>
          <p:nvPr/>
        </p:nvSpPr>
        <p:spPr>
          <a:xfrm>
            <a:off x="566928" y="5596128"/>
            <a:ext cx="11057839" cy="512064"/>
          </a:xfrm>
          <a:prstGeom prst="roundRect">
            <a:avLst>
              <a:gd name="adj" fmla="val 14286"/>
            </a:avLst>
          </a:prstGeom>
          <a:solidFill>
            <a:srgbClr val="10224E"/>
          </a:solidFill>
          <a:ln w="12700">
            <a:solidFill>
              <a:srgbClr val="10224E"/>
            </a:solidFill>
            <a:prstDash val="solid"/>
          </a:ln>
          <a:effectLst>
            <a:outerShdw sx="100000" sy="100000" kx="0" ky="0" algn="bl" rotWithShape="0" blurRad="88900" dist="12700" dir="5400000">
              <a:srgbClr val="8A96AD">
                <a:alpha val="22000"/>
              </a:srgbClr>
            </a:outerShdw>
          </a:effectLst>
        </p:spPr>
      </p:sp>
      <p:sp>
        <p:nvSpPr>
          <p:cNvPr id="27" name="Text 25"/>
          <p:cNvSpPr txBox="1"/>
          <p:nvPr/>
        </p:nvSpPr>
        <p:spPr>
          <a:xfrm>
            <a:off x="886968" y="5596128"/>
            <a:ext cx="10417759" cy="512064"/>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Die Richtung wählt die EZB immer mit Blick auf ihr Ziel: rund 2 % Inflation auf mittlere Sicht.</a:t>
            </a:r>
            <a:endParaRPr lang="en-US" sz="1300" dirty="0"/>
          </a:p>
        </p:txBody>
      </p:sp>
      <p:sp>
        <p:nvSpPr>
          <p:cNvPr id="28" name="Text 26"/>
          <p:cNvSpPr txBox="1"/>
          <p:nvPr/>
        </p:nvSpPr>
        <p:spPr>
          <a:xfrm>
            <a:off x="566928" y="6364224"/>
            <a:ext cx="5486400" cy="256032"/>
          </a:xfrm>
          <a:prstGeom prst="rect">
            <a:avLst/>
          </a:prstGeom>
          <a:noFill/>
          <a:ln/>
        </p:spPr>
        <p:txBody>
          <a:bodyPr wrap="square" lIns="0" tIns="0" rIns="0" bIns="0" rtlCol="0" anchor="t"/>
          <a:lstStyle/>
          <a:p>
            <a:pPr algn="l" indent="0" marL="0">
              <a:buNone/>
            </a:pPr>
            <a:r>
              <a:rPr lang="en-US" sz="950" dirty="0">
                <a:solidFill>
                  <a:srgbClr val="5A6274"/>
                </a:solidFill>
                <a:latin typeface="Calibri" pitchFamily="34" charset="0"/>
                <a:ea typeface="Calibri" pitchFamily="34" charset="-122"/>
                <a:cs typeface="Calibri" pitchFamily="34" charset="-120"/>
              </a:rPr>
              <a:t>Die Geldpolitik der EZB</a:t>
            </a:r>
            <a:endParaRPr lang="en-US" sz="950" dirty="0"/>
          </a:p>
        </p:txBody>
      </p:sp>
      <p:sp>
        <p:nvSpPr>
          <p:cNvPr id="29" name="Text 27"/>
          <p:cNvSpPr txBox="1"/>
          <p:nvPr/>
        </p:nvSpPr>
        <p:spPr>
          <a:xfrm>
            <a:off x="7967167" y="6364224"/>
            <a:ext cx="3657600" cy="256032"/>
          </a:xfrm>
          <a:prstGeom prst="rect">
            <a:avLst/>
          </a:prstGeom>
          <a:noFill/>
          <a:ln/>
        </p:spPr>
        <p:txBody>
          <a:bodyPr wrap="square" lIns="0" tIns="0" rIns="0" bIns="0" rtlCol="0" anchor="t"/>
          <a:lstStyle/>
          <a:p>
            <a:pPr algn="r" indent="0" marL="0">
              <a:buNone/>
            </a:pPr>
            <a:r>
              <a:rPr lang="en-US" sz="950" dirty="0">
                <a:solidFill>
                  <a:srgbClr val="5A6274"/>
                </a:solidFill>
                <a:latin typeface="Calibri" pitchFamily="34" charset="0"/>
                <a:ea typeface="Calibri" pitchFamily="34" charset="-122"/>
                <a:cs typeface="Calibri" pitchFamily="34" charset="-120"/>
              </a:rPr>
              <a:t>Folie 12 von 17</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algn="l" indent="0" marL="0">
              <a:buNone/>
            </a:pPr>
            <a:r>
              <a:rPr lang="en-US" sz="1100" b="1" spc="140" kern="0" dirty="0">
                <a:solidFill>
                  <a:srgbClr val="9A6F00"/>
                </a:solidFill>
                <a:latin typeface="Calibri" pitchFamily="34" charset="0"/>
                <a:ea typeface="Calibri" pitchFamily="34" charset="-122"/>
                <a:cs typeface="Calibri" pitchFamily="34" charset="-120"/>
              </a:rPr>
              <a:t>TEIL 3 · DER ZINS UND SEINE WIRKUNG</a:t>
            </a:r>
            <a:endParaRPr lang="en-US" sz="1100" dirty="0"/>
          </a:p>
        </p:txBody>
      </p:sp>
      <p:sp>
        <p:nvSpPr>
          <p:cNvPr id="3" name="Text 1"/>
          <p:cNvSpPr txBox="1"/>
          <p:nvPr/>
        </p:nvSpPr>
        <p:spPr>
          <a:xfrm>
            <a:off x="566928" y="566928"/>
            <a:ext cx="11057839" cy="676656"/>
          </a:xfrm>
          <a:prstGeom prst="rect">
            <a:avLst/>
          </a:prstGeom>
          <a:noFill/>
          <a:ln/>
        </p:spPr>
        <p:txBody>
          <a:bodyPr wrap="square" lIns="0" tIns="0" rIns="0" bIns="0" rtlCol="0" anchor="ctr"/>
          <a:lstStyle/>
          <a:p>
            <a:pPr algn="l" indent="0" marL="0">
              <a:buNone/>
            </a:pPr>
            <a:r>
              <a:rPr lang="en-US" sz="3000" b="1" dirty="0">
                <a:solidFill>
                  <a:srgbClr val="10224E"/>
                </a:solidFill>
                <a:latin typeface="Cambria" pitchFamily="34" charset="0"/>
                <a:ea typeface="Cambria" pitchFamily="34" charset="-122"/>
                <a:cs typeface="Cambria" pitchFamily="34" charset="-120"/>
              </a:rPr>
              <a:t>Praxisbeispiel: die Zinswende</a:t>
            </a:r>
            <a:endParaRPr lang="en-US" sz="3000" dirty="0"/>
          </a:p>
        </p:txBody>
      </p:sp>
      <p:graphicFrame>
        <p:nvGraphicFramePr>
          <p:cNvPr id="4" name="Chart 0" descr=""/>
          <p:cNvGraphicFramePr/>
          <p:nvPr/>
        </p:nvGraphicFramePr>
        <p:xfrm>
          <a:off x="566928" y="1371600"/>
          <a:ext cx="603504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66928" y="5358384"/>
            <a:ext cx="6035040" cy="329184"/>
          </a:xfrm>
          <a:prstGeom prst="rect">
            <a:avLst/>
          </a:prstGeom>
          <a:noFill/>
          <a:ln/>
        </p:spPr>
        <p:txBody>
          <a:bodyPr wrap="square" lIns="0" tIns="0" rIns="0" bIns="0" rtlCol="0" anchor="t"/>
          <a:lstStyle/>
          <a:p>
            <a:pPr algn="l" indent="0" marL="0">
              <a:lnSpc>
                <a:spcPct val="100000"/>
              </a:lnSpc>
              <a:buNone/>
            </a:pPr>
            <a:r>
              <a:rPr lang="en-US" sz="1050" i="1" dirty="0">
                <a:solidFill>
                  <a:srgbClr val="5A6274"/>
                </a:solidFill>
                <a:latin typeface="Calibri" pitchFamily="34" charset="0"/>
                <a:ea typeface="Calibri" pitchFamily="34" charset="-122"/>
                <a:cs typeface="Calibri" pitchFamily="34" charset="-120"/>
              </a:rPr>
              <a:t>Quelle: Eurostat / EZB, HVPI Euroraum, Jahresdurchschnitt; Wert für 2025 vorläufig. Zielwert der EZB: 2 %.</a:t>
            </a:r>
            <a:endParaRPr lang="en-US" sz="1050" dirty="0"/>
          </a:p>
        </p:txBody>
      </p:sp>
      <p:sp>
        <p:nvSpPr>
          <p:cNvPr id="6" name="Shape 3"/>
          <p:cNvSpPr/>
          <p:nvPr/>
        </p:nvSpPr>
        <p:spPr>
          <a:xfrm>
            <a:off x="6812280" y="1371600"/>
            <a:ext cx="4809744" cy="4480560"/>
          </a:xfrm>
          <a:prstGeom prst="roundRect">
            <a:avLst>
              <a:gd name="adj" fmla="val 1633"/>
            </a:avLst>
          </a:prstGeom>
          <a:solidFill>
            <a:srgbClr val="10224E"/>
          </a:solidFill>
          <a:ln w="12700">
            <a:solidFill>
              <a:srgbClr val="10224E"/>
            </a:solidFill>
            <a:prstDash val="solid"/>
          </a:ln>
          <a:effectLst>
            <a:outerShdw sx="100000" sy="100000" kx="0" ky="0" algn="bl" rotWithShape="0" blurRad="88900" dist="12700" dir="5400000">
              <a:srgbClr val="8A96AD">
                <a:alpha val="22000"/>
              </a:srgbClr>
            </a:outerShdw>
          </a:effectLst>
        </p:spPr>
      </p:sp>
      <p:sp>
        <p:nvSpPr>
          <p:cNvPr id="7" name="Text 4"/>
          <p:cNvSpPr txBox="1"/>
          <p:nvPr/>
        </p:nvSpPr>
        <p:spPr>
          <a:xfrm>
            <a:off x="7104888" y="1572768"/>
            <a:ext cx="4224528" cy="310896"/>
          </a:xfrm>
          <a:prstGeom prst="rect">
            <a:avLst/>
          </a:prstGeom>
          <a:noFill/>
          <a:ln/>
        </p:spPr>
        <p:txBody>
          <a:bodyPr wrap="square" lIns="0" tIns="0" rIns="0" bIns="0" rtlCol="0" anchor="t"/>
          <a:lstStyle/>
          <a:p>
            <a:pPr algn="l" indent="0" marL="0">
              <a:buNone/>
            </a:pPr>
            <a:r>
              <a:rPr lang="en-US" sz="1550" b="1" dirty="0">
                <a:solidFill>
                  <a:srgbClr val="FFC72C"/>
                </a:solidFill>
                <a:latin typeface="Cambria" pitchFamily="34" charset="0"/>
                <a:ea typeface="Cambria" pitchFamily="34" charset="-122"/>
                <a:cs typeface="Cambria" pitchFamily="34" charset="-120"/>
              </a:rPr>
              <a:t>Die Antwort der EZB</a:t>
            </a:r>
            <a:endParaRPr lang="en-US" sz="1550" dirty="0"/>
          </a:p>
        </p:txBody>
      </p:sp>
      <p:sp>
        <p:nvSpPr>
          <p:cNvPr id="8" name="Shape 5"/>
          <p:cNvSpPr/>
          <p:nvPr/>
        </p:nvSpPr>
        <p:spPr>
          <a:xfrm>
            <a:off x="7104888" y="1993392"/>
            <a:ext cx="274320" cy="274320"/>
          </a:xfrm>
          <a:prstGeom prst="ellipse">
            <a:avLst/>
          </a:prstGeom>
          <a:solidFill>
            <a:srgbClr val="FFC72C"/>
          </a:solidFill>
          <a:ln w="12700">
            <a:solidFill>
              <a:srgbClr val="FFC72C"/>
            </a:solidFill>
            <a:prstDash val="solid"/>
          </a:ln>
        </p:spPr>
      </p:sp>
      <p:sp>
        <p:nvSpPr>
          <p:cNvPr id="9" name="Text 6"/>
          <p:cNvSpPr txBox="1"/>
          <p:nvPr/>
        </p:nvSpPr>
        <p:spPr>
          <a:xfrm>
            <a:off x="7104888" y="1993392"/>
            <a:ext cx="274320" cy="274320"/>
          </a:xfrm>
          <a:prstGeom prst="rect">
            <a:avLst/>
          </a:prstGeom>
          <a:noFill/>
          <a:ln/>
        </p:spPr>
        <p:txBody>
          <a:bodyPr wrap="square" lIns="0" tIns="0" rIns="0" bIns="0" rtlCol="0" anchor="ctr"/>
          <a:lstStyle/>
          <a:p>
            <a:pPr algn="ctr" indent="0" marL="0">
              <a:buNone/>
            </a:pPr>
            <a:r>
              <a:rPr lang="en-US" sz="1100" b="1" dirty="0">
                <a:solidFill>
                  <a:srgbClr val="10224E"/>
                </a:solidFill>
                <a:latin typeface="Cambria" pitchFamily="34" charset="0"/>
                <a:ea typeface="Cambria" pitchFamily="34" charset="-122"/>
                <a:cs typeface="Cambria" pitchFamily="34" charset="-120"/>
              </a:rPr>
              <a:t>1</a:t>
            </a:r>
            <a:endParaRPr lang="en-US" sz="1100" dirty="0"/>
          </a:p>
        </p:txBody>
      </p:sp>
      <p:sp>
        <p:nvSpPr>
          <p:cNvPr id="10" name="Text 7"/>
          <p:cNvSpPr txBox="1"/>
          <p:nvPr/>
        </p:nvSpPr>
        <p:spPr>
          <a:xfrm>
            <a:off x="7488936" y="1956816"/>
            <a:ext cx="3840480" cy="219456"/>
          </a:xfrm>
          <a:prstGeom prst="rect">
            <a:avLst/>
          </a:prstGeom>
          <a:noFill/>
          <a:ln/>
        </p:spPr>
        <p:txBody>
          <a:bodyPr wrap="square" lIns="0" tIns="0" rIns="0" bIns="0" rtlCol="0" anchor="t"/>
          <a:lstStyle/>
          <a:p>
            <a:pPr algn="l" indent="0" marL="0">
              <a:buNone/>
            </a:pPr>
            <a:r>
              <a:rPr lang="en-US" sz="1150" b="1" dirty="0">
                <a:solidFill>
                  <a:srgbClr val="FFC72C"/>
                </a:solidFill>
                <a:latin typeface="Calibri" pitchFamily="34" charset="0"/>
                <a:ea typeface="Calibri" pitchFamily="34" charset="-122"/>
                <a:cs typeface="Calibri" pitchFamily="34" charset="-120"/>
              </a:rPr>
              <a:t>bis 2021</a:t>
            </a:r>
            <a:endParaRPr lang="en-US" sz="1150" dirty="0"/>
          </a:p>
        </p:txBody>
      </p:sp>
      <p:sp>
        <p:nvSpPr>
          <p:cNvPr id="11" name="Text 8"/>
          <p:cNvSpPr txBox="1"/>
          <p:nvPr/>
        </p:nvSpPr>
        <p:spPr>
          <a:xfrm>
            <a:off x="7488936" y="2176272"/>
            <a:ext cx="3840480" cy="493776"/>
          </a:xfrm>
          <a:prstGeom prst="rect">
            <a:avLst/>
          </a:prstGeom>
          <a:noFill/>
          <a:ln/>
        </p:spPr>
        <p:txBody>
          <a:bodyPr wrap="square" lIns="0" tIns="0" rIns="0" bIns="0" rtlCol="0" anchor="t"/>
          <a:lstStyle/>
          <a:p>
            <a:pPr algn="l" indent="0" marL="0">
              <a:lnSpc>
                <a:spcPct val="103000"/>
              </a:lnSpc>
              <a:buNone/>
            </a:pPr>
            <a:r>
              <a:rPr lang="en-US" sz="1150" dirty="0">
                <a:solidFill>
                  <a:srgbClr val="C9D5EE"/>
                </a:solidFill>
                <a:latin typeface="Calibri" pitchFamily="34" charset="0"/>
                <a:ea typeface="Calibri" pitchFamily="34" charset="-122"/>
                <a:cs typeface="Calibri" pitchFamily="34" charset="-120"/>
              </a:rPr>
              <a:t>Einlagesatz bei −0,50 % – Geld ist extrem billig, die Inflation liegt jahrelang unter 2 %.</a:t>
            </a:r>
            <a:endParaRPr lang="en-US" sz="1150" dirty="0"/>
          </a:p>
        </p:txBody>
      </p:sp>
      <p:sp>
        <p:nvSpPr>
          <p:cNvPr id="12" name="Shape 9"/>
          <p:cNvSpPr/>
          <p:nvPr/>
        </p:nvSpPr>
        <p:spPr>
          <a:xfrm>
            <a:off x="7104888" y="2752344"/>
            <a:ext cx="274320" cy="274320"/>
          </a:xfrm>
          <a:prstGeom prst="ellipse">
            <a:avLst/>
          </a:prstGeom>
          <a:solidFill>
            <a:srgbClr val="FFC72C"/>
          </a:solidFill>
          <a:ln w="12700">
            <a:solidFill>
              <a:srgbClr val="FFC72C"/>
            </a:solidFill>
            <a:prstDash val="solid"/>
          </a:ln>
        </p:spPr>
      </p:sp>
      <p:sp>
        <p:nvSpPr>
          <p:cNvPr id="13" name="Text 10"/>
          <p:cNvSpPr txBox="1"/>
          <p:nvPr/>
        </p:nvSpPr>
        <p:spPr>
          <a:xfrm>
            <a:off x="7104888" y="2752344"/>
            <a:ext cx="274320" cy="274320"/>
          </a:xfrm>
          <a:prstGeom prst="rect">
            <a:avLst/>
          </a:prstGeom>
          <a:noFill/>
          <a:ln/>
        </p:spPr>
        <p:txBody>
          <a:bodyPr wrap="square" lIns="0" tIns="0" rIns="0" bIns="0" rtlCol="0" anchor="ctr"/>
          <a:lstStyle/>
          <a:p>
            <a:pPr algn="ctr" indent="0" marL="0">
              <a:buNone/>
            </a:pPr>
            <a:r>
              <a:rPr lang="en-US" sz="1100" b="1" dirty="0">
                <a:solidFill>
                  <a:srgbClr val="10224E"/>
                </a:solidFill>
                <a:latin typeface="Cambria" pitchFamily="34" charset="0"/>
                <a:ea typeface="Cambria" pitchFamily="34" charset="-122"/>
                <a:cs typeface="Cambria" pitchFamily="34" charset="-120"/>
              </a:rPr>
              <a:t>2</a:t>
            </a:r>
            <a:endParaRPr lang="en-US" sz="1100" dirty="0"/>
          </a:p>
        </p:txBody>
      </p:sp>
      <p:sp>
        <p:nvSpPr>
          <p:cNvPr id="14" name="Text 11"/>
          <p:cNvSpPr txBox="1"/>
          <p:nvPr/>
        </p:nvSpPr>
        <p:spPr>
          <a:xfrm>
            <a:off x="7488936" y="2715768"/>
            <a:ext cx="3840480" cy="219456"/>
          </a:xfrm>
          <a:prstGeom prst="rect">
            <a:avLst/>
          </a:prstGeom>
          <a:noFill/>
          <a:ln/>
        </p:spPr>
        <p:txBody>
          <a:bodyPr wrap="square" lIns="0" tIns="0" rIns="0" bIns="0" rtlCol="0" anchor="t"/>
          <a:lstStyle/>
          <a:p>
            <a:pPr algn="l" indent="0" marL="0">
              <a:buNone/>
            </a:pPr>
            <a:r>
              <a:rPr lang="en-US" sz="1150" b="1" dirty="0">
                <a:solidFill>
                  <a:srgbClr val="FFC72C"/>
                </a:solidFill>
                <a:latin typeface="Calibri" pitchFamily="34" charset="0"/>
                <a:ea typeface="Calibri" pitchFamily="34" charset="-122"/>
                <a:cs typeface="Calibri" pitchFamily="34" charset="-120"/>
              </a:rPr>
              <a:t>Juli 2022</a:t>
            </a:r>
            <a:endParaRPr lang="en-US" sz="1150" dirty="0"/>
          </a:p>
        </p:txBody>
      </p:sp>
      <p:sp>
        <p:nvSpPr>
          <p:cNvPr id="15" name="Text 12"/>
          <p:cNvSpPr txBox="1"/>
          <p:nvPr/>
        </p:nvSpPr>
        <p:spPr>
          <a:xfrm>
            <a:off x="7488936" y="2935224"/>
            <a:ext cx="3840480" cy="493776"/>
          </a:xfrm>
          <a:prstGeom prst="rect">
            <a:avLst/>
          </a:prstGeom>
          <a:noFill/>
          <a:ln/>
        </p:spPr>
        <p:txBody>
          <a:bodyPr wrap="square" lIns="0" tIns="0" rIns="0" bIns="0" rtlCol="0" anchor="t"/>
          <a:lstStyle/>
          <a:p>
            <a:pPr algn="l" indent="0" marL="0">
              <a:lnSpc>
                <a:spcPct val="103000"/>
              </a:lnSpc>
              <a:buNone/>
            </a:pPr>
            <a:r>
              <a:rPr lang="en-US" sz="1150" dirty="0">
                <a:solidFill>
                  <a:srgbClr val="C9D5EE"/>
                </a:solidFill>
                <a:latin typeface="Calibri" pitchFamily="34" charset="0"/>
                <a:ea typeface="Calibri" pitchFamily="34" charset="-122"/>
                <a:cs typeface="Calibri" pitchFamily="34" charset="-120"/>
              </a:rPr>
              <a:t>erste Zinserhöhung seit elf Jahren – Reaktion auf explodierende Energiepreise.</a:t>
            </a:r>
            <a:endParaRPr lang="en-US" sz="1150" dirty="0"/>
          </a:p>
        </p:txBody>
      </p:sp>
      <p:sp>
        <p:nvSpPr>
          <p:cNvPr id="16" name="Shape 13"/>
          <p:cNvSpPr/>
          <p:nvPr/>
        </p:nvSpPr>
        <p:spPr>
          <a:xfrm>
            <a:off x="7104888" y="3511296"/>
            <a:ext cx="274320" cy="274320"/>
          </a:xfrm>
          <a:prstGeom prst="ellipse">
            <a:avLst/>
          </a:prstGeom>
          <a:solidFill>
            <a:srgbClr val="FFC72C"/>
          </a:solidFill>
          <a:ln w="12700">
            <a:solidFill>
              <a:srgbClr val="FFC72C"/>
            </a:solidFill>
            <a:prstDash val="solid"/>
          </a:ln>
        </p:spPr>
      </p:sp>
      <p:sp>
        <p:nvSpPr>
          <p:cNvPr id="17" name="Text 14"/>
          <p:cNvSpPr txBox="1"/>
          <p:nvPr/>
        </p:nvSpPr>
        <p:spPr>
          <a:xfrm>
            <a:off x="7104888" y="3511296"/>
            <a:ext cx="274320" cy="274320"/>
          </a:xfrm>
          <a:prstGeom prst="rect">
            <a:avLst/>
          </a:prstGeom>
          <a:noFill/>
          <a:ln/>
        </p:spPr>
        <p:txBody>
          <a:bodyPr wrap="square" lIns="0" tIns="0" rIns="0" bIns="0" rtlCol="0" anchor="ctr"/>
          <a:lstStyle/>
          <a:p>
            <a:pPr algn="ctr" indent="0" marL="0">
              <a:buNone/>
            </a:pPr>
            <a:r>
              <a:rPr lang="en-US" sz="1100" b="1" dirty="0">
                <a:solidFill>
                  <a:srgbClr val="10224E"/>
                </a:solidFill>
                <a:latin typeface="Cambria" pitchFamily="34" charset="0"/>
                <a:ea typeface="Cambria" pitchFamily="34" charset="-122"/>
                <a:cs typeface="Cambria" pitchFamily="34" charset="-120"/>
              </a:rPr>
              <a:t>3</a:t>
            </a:r>
            <a:endParaRPr lang="en-US" sz="1100" dirty="0"/>
          </a:p>
        </p:txBody>
      </p:sp>
      <p:sp>
        <p:nvSpPr>
          <p:cNvPr id="18" name="Text 15"/>
          <p:cNvSpPr txBox="1"/>
          <p:nvPr/>
        </p:nvSpPr>
        <p:spPr>
          <a:xfrm>
            <a:off x="7488936" y="3474720"/>
            <a:ext cx="3840480" cy="219456"/>
          </a:xfrm>
          <a:prstGeom prst="rect">
            <a:avLst/>
          </a:prstGeom>
          <a:noFill/>
          <a:ln/>
        </p:spPr>
        <p:txBody>
          <a:bodyPr wrap="square" lIns="0" tIns="0" rIns="0" bIns="0" rtlCol="0" anchor="t"/>
          <a:lstStyle/>
          <a:p>
            <a:pPr algn="l" indent="0" marL="0">
              <a:buNone/>
            </a:pPr>
            <a:r>
              <a:rPr lang="en-US" sz="1150" b="1" dirty="0">
                <a:solidFill>
                  <a:srgbClr val="FFC72C"/>
                </a:solidFill>
                <a:latin typeface="Calibri" pitchFamily="34" charset="0"/>
                <a:ea typeface="Calibri" pitchFamily="34" charset="-122"/>
                <a:cs typeface="Calibri" pitchFamily="34" charset="-120"/>
              </a:rPr>
              <a:t>Sept. 2023</a:t>
            </a:r>
            <a:endParaRPr lang="en-US" sz="1150" dirty="0"/>
          </a:p>
        </p:txBody>
      </p:sp>
      <p:sp>
        <p:nvSpPr>
          <p:cNvPr id="19" name="Text 16"/>
          <p:cNvSpPr txBox="1"/>
          <p:nvPr/>
        </p:nvSpPr>
        <p:spPr>
          <a:xfrm>
            <a:off x="7488936" y="3694176"/>
            <a:ext cx="3840480" cy="493776"/>
          </a:xfrm>
          <a:prstGeom prst="rect">
            <a:avLst/>
          </a:prstGeom>
          <a:noFill/>
          <a:ln/>
        </p:spPr>
        <p:txBody>
          <a:bodyPr wrap="square" lIns="0" tIns="0" rIns="0" bIns="0" rtlCol="0" anchor="t"/>
          <a:lstStyle/>
          <a:p>
            <a:pPr algn="l" indent="0" marL="0">
              <a:lnSpc>
                <a:spcPct val="103000"/>
              </a:lnSpc>
              <a:buNone/>
            </a:pPr>
            <a:r>
              <a:rPr lang="en-US" sz="1150" dirty="0">
                <a:solidFill>
                  <a:srgbClr val="C9D5EE"/>
                </a:solidFill>
                <a:latin typeface="Calibri" pitchFamily="34" charset="0"/>
                <a:ea typeface="Calibri" pitchFamily="34" charset="-122"/>
                <a:cs typeface="Calibri" pitchFamily="34" charset="-120"/>
              </a:rPr>
              <a:t>Einlagesatz bei 4,00 % – der höchste Wert in der Geschichte der EZB.</a:t>
            </a:r>
            <a:endParaRPr lang="en-US" sz="1150" dirty="0"/>
          </a:p>
        </p:txBody>
      </p:sp>
      <p:sp>
        <p:nvSpPr>
          <p:cNvPr id="20" name="Shape 17"/>
          <p:cNvSpPr/>
          <p:nvPr/>
        </p:nvSpPr>
        <p:spPr>
          <a:xfrm>
            <a:off x="7104888" y="4270248"/>
            <a:ext cx="274320" cy="274320"/>
          </a:xfrm>
          <a:prstGeom prst="ellipse">
            <a:avLst/>
          </a:prstGeom>
          <a:solidFill>
            <a:srgbClr val="FFC72C"/>
          </a:solidFill>
          <a:ln w="12700">
            <a:solidFill>
              <a:srgbClr val="FFC72C"/>
            </a:solidFill>
            <a:prstDash val="solid"/>
          </a:ln>
        </p:spPr>
      </p:sp>
      <p:sp>
        <p:nvSpPr>
          <p:cNvPr id="21" name="Text 18"/>
          <p:cNvSpPr txBox="1"/>
          <p:nvPr/>
        </p:nvSpPr>
        <p:spPr>
          <a:xfrm>
            <a:off x="7104888" y="4270248"/>
            <a:ext cx="274320" cy="274320"/>
          </a:xfrm>
          <a:prstGeom prst="rect">
            <a:avLst/>
          </a:prstGeom>
          <a:noFill/>
          <a:ln/>
        </p:spPr>
        <p:txBody>
          <a:bodyPr wrap="square" lIns="0" tIns="0" rIns="0" bIns="0" rtlCol="0" anchor="ctr"/>
          <a:lstStyle/>
          <a:p>
            <a:pPr algn="ctr" indent="0" marL="0">
              <a:buNone/>
            </a:pPr>
            <a:r>
              <a:rPr lang="en-US" sz="1100" b="1" dirty="0">
                <a:solidFill>
                  <a:srgbClr val="10224E"/>
                </a:solidFill>
                <a:latin typeface="Cambria" pitchFamily="34" charset="0"/>
                <a:ea typeface="Cambria" pitchFamily="34" charset="-122"/>
                <a:cs typeface="Cambria" pitchFamily="34" charset="-120"/>
              </a:rPr>
              <a:t>4</a:t>
            </a:r>
            <a:endParaRPr lang="en-US" sz="1100" dirty="0"/>
          </a:p>
        </p:txBody>
      </p:sp>
      <p:sp>
        <p:nvSpPr>
          <p:cNvPr id="22" name="Text 19"/>
          <p:cNvSpPr txBox="1"/>
          <p:nvPr/>
        </p:nvSpPr>
        <p:spPr>
          <a:xfrm>
            <a:off x="7488936" y="4233672"/>
            <a:ext cx="3840480" cy="219456"/>
          </a:xfrm>
          <a:prstGeom prst="rect">
            <a:avLst/>
          </a:prstGeom>
          <a:noFill/>
          <a:ln/>
        </p:spPr>
        <p:txBody>
          <a:bodyPr wrap="square" lIns="0" tIns="0" rIns="0" bIns="0" rtlCol="0" anchor="t"/>
          <a:lstStyle/>
          <a:p>
            <a:pPr algn="l" indent="0" marL="0">
              <a:buNone/>
            </a:pPr>
            <a:r>
              <a:rPr lang="en-US" sz="1150" b="1" dirty="0">
                <a:solidFill>
                  <a:srgbClr val="FFC72C"/>
                </a:solidFill>
                <a:latin typeface="Calibri" pitchFamily="34" charset="0"/>
                <a:ea typeface="Calibri" pitchFamily="34" charset="-122"/>
                <a:cs typeface="Calibri" pitchFamily="34" charset="-120"/>
              </a:rPr>
              <a:t>ab Juni 2024</a:t>
            </a:r>
            <a:endParaRPr lang="en-US" sz="1150" dirty="0"/>
          </a:p>
        </p:txBody>
      </p:sp>
      <p:sp>
        <p:nvSpPr>
          <p:cNvPr id="23" name="Text 20"/>
          <p:cNvSpPr txBox="1"/>
          <p:nvPr/>
        </p:nvSpPr>
        <p:spPr>
          <a:xfrm>
            <a:off x="7488936" y="4453128"/>
            <a:ext cx="3840480" cy="493776"/>
          </a:xfrm>
          <a:prstGeom prst="rect">
            <a:avLst/>
          </a:prstGeom>
          <a:noFill/>
          <a:ln/>
        </p:spPr>
        <p:txBody>
          <a:bodyPr wrap="square" lIns="0" tIns="0" rIns="0" bIns="0" rtlCol="0" anchor="t"/>
          <a:lstStyle/>
          <a:p>
            <a:pPr algn="l" indent="0" marL="0">
              <a:lnSpc>
                <a:spcPct val="103000"/>
              </a:lnSpc>
              <a:buNone/>
            </a:pPr>
            <a:r>
              <a:rPr lang="en-US" sz="1150" dirty="0">
                <a:solidFill>
                  <a:srgbClr val="C9D5EE"/>
                </a:solidFill>
                <a:latin typeface="Calibri" pitchFamily="34" charset="0"/>
                <a:ea typeface="Calibri" pitchFamily="34" charset="-122"/>
                <a:cs typeface="Calibri" pitchFamily="34" charset="-120"/>
              </a:rPr>
              <a:t>schrittweise Senkungen, weil sich die Inflation dem Ziel wieder nähert.</a:t>
            </a:r>
            <a:endParaRPr lang="en-US" sz="1150" dirty="0"/>
          </a:p>
        </p:txBody>
      </p:sp>
      <p:sp>
        <p:nvSpPr>
          <p:cNvPr id="24" name="Shape 21"/>
          <p:cNvSpPr/>
          <p:nvPr/>
        </p:nvSpPr>
        <p:spPr>
          <a:xfrm>
            <a:off x="7104888" y="5029200"/>
            <a:ext cx="274320" cy="274320"/>
          </a:xfrm>
          <a:prstGeom prst="ellipse">
            <a:avLst/>
          </a:prstGeom>
          <a:solidFill>
            <a:srgbClr val="FFC72C"/>
          </a:solidFill>
          <a:ln w="12700">
            <a:solidFill>
              <a:srgbClr val="FFC72C"/>
            </a:solidFill>
            <a:prstDash val="solid"/>
          </a:ln>
        </p:spPr>
      </p:sp>
      <p:sp>
        <p:nvSpPr>
          <p:cNvPr id="25" name="Text 22"/>
          <p:cNvSpPr txBox="1"/>
          <p:nvPr/>
        </p:nvSpPr>
        <p:spPr>
          <a:xfrm>
            <a:off x="7104888" y="5029200"/>
            <a:ext cx="274320" cy="274320"/>
          </a:xfrm>
          <a:prstGeom prst="rect">
            <a:avLst/>
          </a:prstGeom>
          <a:noFill/>
          <a:ln/>
        </p:spPr>
        <p:txBody>
          <a:bodyPr wrap="square" lIns="0" tIns="0" rIns="0" bIns="0" rtlCol="0" anchor="ctr"/>
          <a:lstStyle/>
          <a:p>
            <a:pPr algn="ctr" indent="0" marL="0">
              <a:buNone/>
            </a:pPr>
            <a:r>
              <a:rPr lang="en-US" sz="1100" b="1" dirty="0">
                <a:solidFill>
                  <a:srgbClr val="10224E"/>
                </a:solidFill>
                <a:latin typeface="Cambria" pitchFamily="34" charset="0"/>
                <a:ea typeface="Cambria" pitchFamily="34" charset="-122"/>
                <a:cs typeface="Cambria" pitchFamily="34" charset="-120"/>
              </a:rPr>
              <a:t>5</a:t>
            </a:r>
            <a:endParaRPr lang="en-US" sz="1100" dirty="0"/>
          </a:p>
        </p:txBody>
      </p:sp>
      <p:sp>
        <p:nvSpPr>
          <p:cNvPr id="26" name="Text 23"/>
          <p:cNvSpPr txBox="1"/>
          <p:nvPr/>
        </p:nvSpPr>
        <p:spPr>
          <a:xfrm>
            <a:off x="7488936" y="4992624"/>
            <a:ext cx="3840480" cy="219456"/>
          </a:xfrm>
          <a:prstGeom prst="rect">
            <a:avLst/>
          </a:prstGeom>
          <a:noFill/>
          <a:ln/>
        </p:spPr>
        <p:txBody>
          <a:bodyPr wrap="square" lIns="0" tIns="0" rIns="0" bIns="0" rtlCol="0" anchor="t"/>
          <a:lstStyle/>
          <a:p>
            <a:pPr algn="l" indent="0" marL="0">
              <a:buNone/>
            </a:pPr>
            <a:r>
              <a:rPr lang="en-US" sz="1150" b="1" dirty="0">
                <a:solidFill>
                  <a:srgbClr val="FFC72C"/>
                </a:solidFill>
                <a:latin typeface="Calibri" pitchFamily="34" charset="0"/>
                <a:ea typeface="Calibri" pitchFamily="34" charset="-122"/>
                <a:cs typeface="Calibri" pitchFamily="34" charset="-120"/>
              </a:rPr>
              <a:t>Juli 2026</a:t>
            </a:r>
            <a:endParaRPr lang="en-US" sz="1150" dirty="0"/>
          </a:p>
        </p:txBody>
      </p:sp>
      <p:sp>
        <p:nvSpPr>
          <p:cNvPr id="27" name="Text 24"/>
          <p:cNvSpPr txBox="1"/>
          <p:nvPr/>
        </p:nvSpPr>
        <p:spPr>
          <a:xfrm>
            <a:off x="7488936" y="5212080"/>
            <a:ext cx="3840480" cy="493776"/>
          </a:xfrm>
          <a:prstGeom prst="rect">
            <a:avLst/>
          </a:prstGeom>
          <a:noFill/>
          <a:ln/>
        </p:spPr>
        <p:txBody>
          <a:bodyPr wrap="square" lIns="0" tIns="0" rIns="0" bIns="0" rtlCol="0" anchor="t"/>
          <a:lstStyle/>
          <a:p>
            <a:pPr algn="l" indent="0" marL="0">
              <a:lnSpc>
                <a:spcPct val="103000"/>
              </a:lnSpc>
              <a:buNone/>
            </a:pPr>
            <a:r>
              <a:rPr lang="en-US" sz="1150" dirty="0">
                <a:solidFill>
                  <a:srgbClr val="C9D5EE"/>
                </a:solidFill>
                <a:latin typeface="Calibri" pitchFamily="34" charset="0"/>
                <a:ea typeface="Calibri" pitchFamily="34" charset="-122"/>
                <a:cs typeface="Calibri" pitchFamily="34" charset="-120"/>
              </a:rPr>
              <a:t>Einlagesatz 2,25 %, Leitzins 2,40 % – die Geldpolitik ist wieder im Normalbereich.</a:t>
            </a:r>
            <a:endParaRPr lang="en-US" sz="1150" dirty="0"/>
          </a:p>
        </p:txBody>
      </p:sp>
      <p:sp>
        <p:nvSpPr>
          <p:cNvPr id="28" name="Text 25"/>
          <p:cNvSpPr txBox="1"/>
          <p:nvPr/>
        </p:nvSpPr>
        <p:spPr>
          <a:xfrm>
            <a:off x="566928" y="6364224"/>
            <a:ext cx="5486400" cy="256032"/>
          </a:xfrm>
          <a:prstGeom prst="rect">
            <a:avLst/>
          </a:prstGeom>
          <a:noFill/>
          <a:ln/>
        </p:spPr>
        <p:txBody>
          <a:bodyPr wrap="square" lIns="0" tIns="0" rIns="0" bIns="0" rtlCol="0" anchor="t"/>
          <a:lstStyle/>
          <a:p>
            <a:pPr algn="l" indent="0" marL="0">
              <a:buNone/>
            </a:pPr>
            <a:r>
              <a:rPr lang="en-US" sz="950" dirty="0">
                <a:solidFill>
                  <a:srgbClr val="5A6274"/>
                </a:solidFill>
                <a:latin typeface="Calibri" pitchFamily="34" charset="0"/>
                <a:ea typeface="Calibri" pitchFamily="34" charset="-122"/>
                <a:cs typeface="Calibri" pitchFamily="34" charset="-120"/>
              </a:rPr>
              <a:t>Die Geldpolitik der EZB</a:t>
            </a:r>
            <a:endParaRPr lang="en-US" sz="950" dirty="0"/>
          </a:p>
        </p:txBody>
      </p:sp>
      <p:sp>
        <p:nvSpPr>
          <p:cNvPr id="29" name="Text 26"/>
          <p:cNvSpPr txBox="1"/>
          <p:nvPr/>
        </p:nvSpPr>
        <p:spPr>
          <a:xfrm>
            <a:off x="7967167" y="6364224"/>
            <a:ext cx="3657600" cy="256032"/>
          </a:xfrm>
          <a:prstGeom prst="rect">
            <a:avLst/>
          </a:prstGeom>
          <a:noFill/>
          <a:ln/>
        </p:spPr>
        <p:txBody>
          <a:bodyPr wrap="square" lIns="0" tIns="0" rIns="0" bIns="0" rtlCol="0" anchor="t"/>
          <a:lstStyle/>
          <a:p>
            <a:pPr algn="r" indent="0" marL="0">
              <a:buNone/>
            </a:pPr>
            <a:r>
              <a:rPr lang="en-US" sz="950" dirty="0">
                <a:solidFill>
                  <a:srgbClr val="5A6274"/>
                </a:solidFill>
                <a:latin typeface="Calibri" pitchFamily="34" charset="0"/>
                <a:ea typeface="Calibri" pitchFamily="34" charset="-122"/>
                <a:cs typeface="Calibri" pitchFamily="34" charset="-120"/>
              </a:rPr>
              <a:t>Folie 13 von 17</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algn="l" indent="0" marL="0">
              <a:buNone/>
            </a:pPr>
            <a:r>
              <a:rPr lang="en-US" sz="1100" b="1" spc="140" kern="0" dirty="0">
                <a:solidFill>
                  <a:srgbClr val="9A6F00"/>
                </a:solidFill>
                <a:latin typeface="Calibri" pitchFamily="34" charset="0"/>
                <a:ea typeface="Calibri" pitchFamily="34" charset="-122"/>
                <a:cs typeface="Calibri" pitchFamily="34" charset="-120"/>
              </a:rPr>
              <a:t>TEIL 3 · WIRKUNG AUF DIE AKTEURE</a:t>
            </a:r>
            <a:endParaRPr lang="en-US" sz="1100" dirty="0"/>
          </a:p>
        </p:txBody>
      </p:sp>
      <p:sp>
        <p:nvSpPr>
          <p:cNvPr id="3" name="Text 1"/>
          <p:cNvSpPr txBox="1"/>
          <p:nvPr/>
        </p:nvSpPr>
        <p:spPr>
          <a:xfrm>
            <a:off x="566928" y="566928"/>
            <a:ext cx="11057839" cy="676656"/>
          </a:xfrm>
          <a:prstGeom prst="rect">
            <a:avLst/>
          </a:prstGeom>
          <a:noFill/>
          <a:ln/>
        </p:spPr>
        <p:txBody>
          <a:bodyPr wrap="square" lIns="0" tIns="0" rIns="0" bIns="0" rtlCol="0" anchor="ctr"/>
          <a:lstStyle/>
          <a:p>
            <a:pPr algn="l" indent="0" marL="0">
              <a:buNone/>
            </a:pPr>
            <a:r>
              <a:rPr lang="en-US" sz="3000" b="1" dirty="0">
                <a:solidFill>
                  <a:srgbClr val="10224E"/>
                </a:solidFill>
                <a:latin typeface="Cambria" pitchFamily="34" charset="0"/>
                <a:ea typeface="Cambria" pitchFamily="34" charset="-122"/>
                <a:cs typeface="Cambria" pitchFamily="34" charset="-120"/>
              </a:rPr>
              <a:t>Was der Zins mit privaten Haushalten macht</a:t>
            </a:r>
            <a:endParaRPr lang="en-US" sz="3000" dirty="0"/>
          </a:p>
        </p:txBody>
      </p:sp>
      <p:sp>
        <p:nvSpPr>
          <p:cNvPr id="4" name="Shape 2"/>
          <p:cNvSpPr/>
          <p:nvPr/>
        </p:nvSpPr>
        <p:spPr>
          <a:xfrm>
            <a:off x="566928" y="1389888"/>
            <a:ext cx="5394960" cy="1645920"/>
          </a:xfrm>
          <a:prstGeom prst="roundRect">
            <a:avLst>
              <a:gd name="adj" fmla="val 4444"/>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5" name="Shape 3"/>
          <p:cNvSpPr/>
          <p:nvPr/>
        </p:nvSpPr>
        <p:spPr>
          <a:xfrm>
            <a:off x="841248" y="1627632"/>
            <a:ext cx="530352" cy="530352"/>
          </a:xfrm>
          <a:prstGeom prst="ellipse">
            <a:avLst/>
          </a:prstGeom>
          <a:solidFill>
            <a:srgbClr val="FFC72C"/>
          </a:solidFill>
          <a:ln w="12700">
            <a:solidFill>
              <a:srgbClr val="FFC72C"/>
            </a:solidFill>
            <a:prstDash val="solid"/>
          </a:ln>
        </p:spPr>
      </p:sp>
      <p:sp>
        <p:nvSpPr>
          <p:cNvPr id="6" name="Text 4"/>
          <p:cNvSpPr txBox="1"/>
          <p:nvPr/>
        </p:nvSpPr>
        <p:spPr>
          <a:xfrm>
            <a:off x="841248" y="1627632"/>
            <a:ext cx="530352" cy="530352"/>
          </a:xfrm>
          <a:prstGeom prst="rect">
            <a:avLst/>
          </a:prstGeom>
          <a:noFill/>
          <a:ln/>
        </p:spPr>
        <p:txBody>
          <a:bodyPr wrap="square" lIns="0" tIns="0" rIns="0" bIns="0" rtlCol="0" anchor="ctr"/>
          <a:lstStyle/>
          <a:p>
            <a:pPr algn="ctr" indent="0" marL="0">
              <a:buNone/>
            </a:pPr>
            <a:r>
              <a:rPr lang="en-US" sz="1700" b="1" dirty="0">
                <a:solidFill>
                  <a:srgbClr val="10224E"/>
                </a:solidFill>
                <a:latin typeface="Cambria" pitchFamily="34" charset="0"/>
                <a:ea typeface="Cambria" pitchFamily="34" charset="-122"/>
                <a:cs typeface="Cambria" pitchFamily="34" charset="-120"/>
              </a:rPr>
              <a:t>1</a:t>
            </a:r>
            <a:endParaRPr lang="en-US" sz="1700" dirty="0"/>
          </a:p>
        </p:txBody>
      </p:sp>
      <p:sp>
        <p:nvSpPr>
          <p:cNvPr id="7" name="Text 5"/>
          <p:cNvSpPr txBox="1"/>
          <p:nvPr/>
        </p:nvSpPr>
        <p:spPr>
          <a:xfrm>
            <a:off x="1499616" y="1645920"/>
            <a:ext cx="4187952" cy="292608"/>
          </a:xfrm>
          <a:prstGeom prst="rect">
            <a:avLst/>
          </a:prstGeom>
          <a:noFill/>
          <a:ln/>
        </p:spPr>
        <p:txBody>
          <a:bodyPr wrap="square" lIns="0" tIns="0" rIns="0" bIns="0" rtlCol="0" anchor="t"/>
          <a:lstStyle/>
          <a:p>
            <a:pPr algn="l" indent="0" marL="0">
              <a:buNone/>
            </a:pPr>
            <a:r>
              <a:rPr lang="en-US" sz="1550" b="1" dirty="0">
                <a:solidFill>
                  <a:srgbClr val="10224E"/>
                </a:solidFill>
                <a:latin typeface="Cambria" pitchFamily="34" charset="0"/>
                <a:ea typeface="Cambria" pitchFamily="34" charset="-122"/>
                <a:cs typeface="Cambria" pitchFamily="34" charset="-120"/>
              </a:rPr>
              <a:t>Sparen und Anlegen</a:t>
            </a:r>
            <a:endParaRPr lang="en-US" sz="1550" dirty="0"/>
          </a:p>
        </p:txBody>
      </p:sp>
      <p:sp>
        <p:nvSpPr>
          <p:cNvPr id="8" name="Text 6"/>
          <p:cNvSpPr txBox="1"/>
          <p:nvPr/>
        </p:nvSpPr>
        <p:spPr>
          <a:xfrm>
            <a:off x="1499616" y="2011680"/>
            <a:ext cx="4187952" cy="914400"/>
          </a:xfrm>
          <a:prstGeom prst="rect">
            <a:avLst/>
          </a:prstGeom>
          <a:noFill/>
          <a:ln/>
        </p:spPr>
        <p:txBody>
          <a:bodyPr wrap="square" lIns="0" tIns="0" rIns="0" bIns="0" rtlCol="0" anchor="t"/>
          <a:lstStyle/>
          <a:p>
            <a:pPr algn="l" indent="0" marL="0">
              <a:lnSpc>
                <a:spcPct val="106000"/>
              </a:lnSpc>
              <a:buNone/>
            </a:pPr>
            <a:r>
              <a:rPr lang="en-US" sz="1250" dirty="0">
                <a:solidFill>
                  <a:srgbClr val="1A1D26"/>
                </a:solidFill>
                <a:latin typeface="Calibri" pitchFamily="34" charset="0"/>
                <a:ea typeface="Calibri" pitchFamily="34" charset="-122"/>
                <a:cs typeface="Calibri" pitchFamily="34" charset="-120"/>
              </a:rPr>
              <a:t>Steigende Zinsen bringen wieder Erträge auf Tagesgeld und Sparbuch. Entscheidend ist der Realzins: Zins minus Inflation. Bei 2 % Zins und 3 % Inflation verliert das Ersparte trotzdem an Wert.</a:t>
            </a:r>
            <a:endParaRPr lang="en-US" sz="1250" dirty="0"/>
          </a:p>
        </p:txBody>
      </p:sp>
      <p:sp>
        <p:nvSpPr>
          <p:cNvPr id="9" name="Shape 7"/>
          <p:cNvSpPr/>
          <p:nvPr/>
        </p:nvSpPr>
        <p:spPr>
          <a:xfrm>
            <a:off x="6227064" y="1389888"/>
            <a:ext cx="5394960" cy="1645920"/>
          </a:xfrm>
          <a:prstGeom prst="roundRect">
            <a:avLst>
              <a:gd name="adj" fmla="val 4444"/>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0" name="Shape 8"/>
          <p:cNvSpPr/>
          <p:nvPr/>
        </p:nvSpPr>
        <p:spPr>
          <a:xfrm>
            <a:off x="6501384" y="1627632"/>
            <a:ext cx="530352" cy="530352"/>
          </a:xfrm>
          <a:prstGeom prst="ellipse">
            <a:avLst/>
          </a:prstGeom>
          <a:solidFill>
            <a:srgbClr val="FFC72C"/>
          </a:solidFill>
          <a:ln w="12700">
            <a:solidFill>
              <a:srgbClr val="FFC72C"/>
            </a:solidFill>
            <a:prstDash val="solid"/>
          </a:ln>
        </p:spPr>
      </p:sp>
      <p:sp>
        <p:nvSpPr>
          <p:cNvPr id="11" name="Text 9"/>
          <p:cNvSpPr txBox="1"/>
          <p:nvPr/>
        </p:nvSpPr>
        <p:spPr>
          <a:xfrm>
            <a:off x="6501384" y="1627632"/>
            <a:ext cx="530352" cy="530352"/>
          </a:xfrm>
          <a:prstGeom prst="rect">
            <a:avLst/>
          </a:prstGeom>
          <a:noFill/>
          <a:ln/>
        </p:spPr>
        <p:txBody>
          <a:bodyPr wrap="square" lIns="0" tIns="0" rIns="0" bIns="0" rtlCol="0" anchor="ctr"/>
          <a:lstStyle/>
          <a:p>
            <a:pPr algn="ctr" indent="0" marL="0">
              <a:buNone/>
            </a:pPr>
            <a:r>
              <a:rPr lang="en-US" sz="1700" b="1" dirty="0">
                <a:solidFill>
                  <a:srgbClr val="10224E"/>
                </a:solidFill>
                <a:latin typeface="Cambria" pitchFamily="34" charset="0"/>
                <a:ea typeface="Cambria" pitchFamily="34" charset="-122"/>
                <a:cs typeface="Cambria" pitchFamily="34" charset="-120"/>
              </a:rPr>
              <a:t>2</a:t>
            </a:r>
            <a:endParaRPr lang="en-US" sz="1700" dirty="0"/>
          </a:p>
        </p:txBody>
      </p:sp>
      <p:sp>
        <p:nvSpPr>
          <p:cNvPr id="12" name="Text 10"/>
          <p:cNvSpPr txBox="1"/>
          <p:nvPr/>
        </p:nvSpPr>
        <p:spPr>
          <a:xfrm>
            <a:off x="7159752" y="1645920"/>
            <a:ext cx="4187952" cy="292608"/>
          </a:xfrm>
          <a:prstGeom prst="rect">
            <a:avLst/>
          </a:prstGeom>
          <a:noFill/>
          <a:ln/>
        </p:spPr>
        <p:txBody>
          <a:bodyPr wrap="square" lIns="0" tIns="0" rIns="0" bIns="0" rtlCol="0" anchor="t"/>
          <a:lstStyle/>
          <a:p>
            <a:pPr algn="l" indent="0" marL="0">
              <a:buNone/>
            </a:pPr>
            <a:r>
              <a:rPr lang="en-US" sz="1550" b="1" dirty="0">
                <a:solidFill>
                  <a:srgbClr val="10224E"/>
                </a:solidFill>
                <a:latin typeface="Cambria" pitchFamily="34" charset="0"/>
                <a:ea typeface="Cambria" pitchFamily="34" charset="-122"/>
                <a:cs typeface="Cambria" pitchFamily="34" charset="-120"/>
              </a:rPr>
              <a:t>Kredite und Konsum</a:t>
            </a:r>
            <a:endParaRPr lang="en-US" sz="1550" dirty="0"/>
          </a:p>
        </p:txBody>
      </p:sp>
      <p:sp>
        <p:nvSpPr>
          <p:cNvPr id="13" name="Text 11"/>
          <p:cNvSpPr txBox="1"/>
          <p:nvPr/>
        </p:nvSpPr>
        <p:spPr>
          <a:xfrm>
            <a:off x="7159752" y="2011680"/>
            <a:ext cx="4187952" cy="914400"/>
          </a:xfrm>
          <a:prstGeom prst="rect">
            <a:avLst/>
          </a:prstGeom>
          <a:noFill/>
          <a:ln/>
        </p:spPr>
        <p:txBody>
          <a:bodyPr wrap="square" lIns="0" tIns="0" rIns="0" bIns="0" rtlCol="0" anchor="t"/>
          <a:lstStyle/>
          <a:p>
            <a:pPr algn="l" indent="0" marL="0">
              <a:lnSpc>
                <a:spcPct val="106000"/>
              </a:lnSpc>
              <a:buNone/>
            </a:pPr>
            <a:r>
              <a:rPr lang="en-US" sz="1250" dirty="0">
                <a:solidFill>
                  <a:srgbClr val="1A1D26"/>
                </a:solidFill>
                <a:latin typeface="Calibri" pitchFamily="34" charset="0"/>
                <a:ea typeface="Calibri" pitchFamily="34" charset="-122"/>
                <a:cs typeface="Calibri" pitchFamily="34" charset="-120"/>
              </a:rPr>
              <a:t>Dispo, Ratenkauf und Autokredit werden teurer. Bei einer Baufinanzierung über 300.000 € bedeutet ein Prozentpunkt mehr Zins rund 250 € höhere Zinskosten im Monat.</a:t>
            </a:r>
            <a:endParaRPr lang="en-US" sz="1250" dirty="0"/>
          </a:p>
        </p:txBody>
      </p:sp>
      <p:sp>
        <p:nvSpPr>
          <p:cNvPr id="14" name="Shape 12"/>
          <p:cNvSpPr/>
          <p:nvPr/>
        </p:nvSpPr>
        <p:spPr>
          <a:xfrm>
            <a:off x="566928" y="3172968"/>
            <a:ext cx="5394960" cy="1645920"/>
          </a:xfrm>
          <a:prstGeom prst="roundRect">
            <a:avLst>
              <a:gd name="adj" fmla="val 4444"/>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5" name="Shape 13"/>
          <p:cNvSpPr/>
          <p:nvPr/>
        </p:nvSpPr>
        <p:spPr>
          <a:xfrm>
            <a:off x="841248" y="3410712"/>
            <a:ext cx="530352" cy="530352"/>
          </a:xfrm>
          <a:prstGeom prst="ellipse">
            <a:avLst/>
          </a:prstGeom>
          <a:solidFill>
            <a:srgbClr val="FFC72C"/>
          </a:solidFill>
          <a:ln w="12700">
            <a:solidFill>
              <a:srgbClr val="FFC72C"/>
            </a:solidFill>
            <a:prstDash val="solid"/>
          </a:ln>
        </p:spPr>
      </p:sp>
      <p:sp>
        <p:nvSpPr>
          <p:cNvPr id="16" name="Text 14"/>
          <p:cNvSpPr txBox="1"/>
          <p:nvPr/>
        </p:nvSpPr>
        <p:spPr>
          <a:xfrm>
            <a:off x="841248" y="3410712"/>
            <a:ext cx="530352" cy="530352"/>
          </a:xfrm>
          <a:prstGeom prst="rect">
            <a:avLst/>
          </a:prstGeom>
          <a:noFill/>
          <a:ln/>
        </p:spPr>
        <p:txBody>
          <a:bodyPr wrap="square" lIns="0" tIns="0" rIns="0" bIns="0" rtlCol="0" anchor="ctr"/>
          <a:lstStyle/>
          <a:p>
            <a:pPr algn="ctr" indent="0" marL="0">
              <a:buNone/>
            </a:pPr>
            <a:r>
              <a:rPr lang="en-US" sz="1700" b="1" dirty="0">
                <a:solidFill>
                  <a:srgbClr val="10224E"/>
                </a:solidFill>
                <a:latin typeface="Cambria" pitchFamily="34" charset="0"/>
                <a:ea typeface="Cambria" pitchFamily="34" charset="-122"/>
                <a:cs typeface="Cambria" pitchFamily="34" charset="-120"/>
              </a:rPr>
              <a:t>3</a:t>
            </a:r>
            <a:endParaRPr lang="en-US" sz="1700" dirty="0"/>
          </a:p>
        </p:txBody>
      </p:sp>
      <p:sp>
        <p:nvSpPr>
          <p:cNvPr id="17" name="Text 15"/>
          <p:cNvSpPr txBox="1"/>
          <p:nvPr/>
        </p:nvSpPr>
        <p:spPr>
          <a:xfrm>
            <a:off x="1499616" y="3429000"/>
            <a:ext cx="4187952" cy="292608"/>
          </a:xfrm>
          <a:prstGeom prst="rect">
            <a:avLst/>
          </a:prstGeom>
          <a:noFill/>
          <a:ln/>
        </p:spPr>
        <p:txBody>
          <a:bodyPr wrap="square" lIns="0" tIns="0" rIns="0" bIns="0" rtlCol="0" anchor="t"/>
          <a:lstStyle/>
          <a:p>
            <a:pPr algn="l" indent="0" marL="0">
              <a:buNone/>
            </a:pPr>
            <a:r>
              <a:rPr lang="en-US" sz="1550" b="1" dirty="0">
                <a:solidFill>
                  <a:srgbClr val="10224E"/>
                </a:solidFill>
                <a:latin typeface="Cambria" pitchFamily="34" charset="0"/>
                <a:ea typeface="Cambria" pitchFamily="34" charset="-122"/>
                <a:cs typeface="Cambria" pitchFamily="34" charset="-120"/>
              </a:rPr>
              <a:t>Wohnen und Mieten</a:t>
            </a:r>
            <a:endParaRPr lang="en-US" sz="1550" dirty="0"/>
          </a:p>
        </p:txBody>
      </p:sp>
      <p:sp>
        <p:nvSpPr>
          <p:cNvPr id="18" name="Text 16"/>
          <p:cNvSpPr txBox="1"/>
          <p:nvPr/>
        </p:nvSpPr>
        <p:spPr>
          <a:xfrm>
            <a:off x="1499616" y="3794760"/>
            <a:ext cx="4187952" cy="914400"/>
          </a:xfrm>
          <a:prstGeom prst="rect">
            <a:avLst/>
          </a:prstGeom>
          <a:noFill/>
          <a:ln/>
        </p:spPr>
        <p:txBody>
          <a:bodyPr wrap="square" lIns="0" tIns="0" rIns="0" bIns="0" rtlCol="0" anchor="t"/>
          <a:lstStyle/>
          <a:p>
            <a:pPr algn="l" indent="0" marL="0">
              <a:lnSpc>
                <a:spcPct val="106000"/>
              </a:lnSpc>
              <a:buNone/>
            </a:pPr>
            <a:r>
              <a:rPr lang="en-US" sz="1250" dirty="0">
                <a:solidFill>
                  <a:srgbClr val="1A1D26"/>
                </a:solidFill>
                <a:latin typeface="Calibri" pitchFamily="34" charset="0"/>
                <a:ea typeface="Calibri" pitchFamily="34" charset="-122"/>
                <a:cs typeface="Calibri" pitchFamily="34" charset="-120"/>
              </a:rPr>
              <a:t>Teure Baukredite bremsen den Wohnungsbau. Werden weniger Wohnungen gebaut, kann das die Mieten mittelfristig weiter nach oben treiben.</a:t>
            </a:r>
            <a:endParaRPr lang="en-US" sz="1250" dirty="0"/>
          </a:p>
        </p:txBody>
      </p:sp>
      <p:sp>
        <p:nvSpPr>
          <p:cNvPr id="19" name="Shape 17"/>
          <p:cNvSpPr/>
          <p:nvPr/>
        </p:nvSpPr>
        <p:spPr>
          <a:xfrm>
            <a:off x="6227064" y="3172968"/>
            <a:ext cx="5394960" cy="1645920"/>
          </a:xfrm>
          <a:prstGeom prst="roundRect">
            <a:avLst>
              <a:gd name="adj" fmla="val 4444"/>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20" name="Shape 18"/>
          <p:cNvSpPr/>
          <p:nvPr/>
        </p:nvSpPr>
        <p:spPr>
          <a:xfrm>
            <a:off x="6501384" y="3410712"/>
            <a:ext cx="530352" cy="530352"/>
          </a:xfrm>
          <a:prstGeom prst="ellipse">
            <a:avLst/>
          </a:prstGeom>
          <a:solidFill>
            <a:srgbClr val="FFC72C"/>
          </a:solidFill>
          <a:ln w="12700">
            <a:solidFill>
              <a:srgbClr val="FFC72C"/>
            </a:solidFill>
            <a:prstDash val="solid"/>
          </a:ln>
        </p:spPr>
      </p:sp>
      <p:sp>
        <p:nvSpPr>
          <p:cNvPr id="21" name="Text 19"/>
          <p:cNvSpPr txBox="1"/>
          <p:nvPr/>
        </p:nvSpPr>
        <p:spPr>
          <a:xfrm>
            <a:off x="6501384" y="3410712"/>
            <a:ext cx="530352" cy="530352"/>
          </a:xfrm>
          <a:prstGeom prst="rect">
            <a:avLst/>
          </a:prstGeom>
          <a:noFill/>
          <a:ln/>
        </p:spPr>
        <p:txBody>
          <a:bodyPr wrap="square" lIns="0" tIns="0" rIns="0" bIns="0" rtlCol="0" anchor="ctr"/>
          <a:lstStyle/>
          <a:p>
            <a:pPr algn="ctr" indent="0" marL="0">
              <a:buNone/>
            </a:pPr>
            <a:r>
              <a:rPr lang="en-US" sz="1700" b="1" dirty="0">
                <a:solidFill>
                  <a:srgbClr val="10224E"/>
                </a:solidFill>
                <a:latin typeface="Cambria" pitchFamily="34" charset="0"/>
                <a:ea typeface="Cambria" pitchFamily="34" charset="-122"/>
                <a:cs typeface="Cambria" pitchFamily="34" charset="-120"/>
              </a:rPr>
              <a:t>4</a:t>
            </a:r>
            <a:endParaRPr lang="en-US" sz="1700" dirty="0"/>
          </a:p>
        </p:txBody>
      </p:sp>
      <p:sp>
        <p:nvSpPr>
          <p:cNvPr id="22" name="Text 20"/>
          <p:cNvSpPr txBox="1"/>
          <p:nvPr/>
        </p:nvSpPr>
        <p:spPr>
          <a:xfrm>
            <a:off x="7159752" y="3429000"/>
            <a:ext cx="4187952" cy="292608"/>
          </a:xfrm>
          <a:prstGeom prst="rect">
            <a:avLst/>
          </a:prstGeom>
          <a:noFill/>
          <a:ln/>
        </p:spPr>
        <p:txBody>
          <a:bodyPr wrap="square" lIns="0" tIns="0" rIns="0" bIns="0" rtlCol="0" anchor="t"/>
          <a:lstStyle/>
          <a:p>
            <a:pPr algn="l" indent="0" marL="0">
              <a:buNone/>
            </a:pPr>
            <a:r>
              <a:rPr lang="en-US" sz="1550" b="1" dirty="0">
                <a:solidFill>
                  <a:srgbClr val="10224E"/>
                </a:solidFill>
                <a:latin typeface="Cambria" pitchFamily="34" charset="0"/>
                <a:ea typeface="Cambria" pitchFamily="34" charset="-122"/>
                <a:cs typeface="Cambria" pitchFamily="34" charset="-120"/>
              </a:rPr>
              <a:t>Ausbildung und Einkommen</a:t>
            </a:r>
            <a:endParaRPr lang="en-US" sz="1550" dirty="0"/>
          </a:p>
        </p:txBody>
      </p:sp>
      <p:sp>
        <p:nvSpPr>
          <p:cNvPr id="23" name="Text 21"/>
          <p:cNvSpPr txBox="1"/>
          <p:nvPr/>
        </p:nvSpPr>
        <p:spPr>
          <a:xfrm>
            <a:off x="7159752" y="3794760"/>
            <a:ext cx="4187952" cy="914400"/>
          </a:xfrm>
          <a:prstGeom prst="rect">
            <a:avLst/>
          </a:prstGeom>
          <a:noFill/>
          <a:ln/>
        </p:spPr>
        <p:txBody>
          <a:bodyPr wrap="square" lIns="0" tIns="0" rIns="0" bIns="0" rtlCol="0" anchor="t"/>
          <a:lstStyle/>
          <a:p>
            <a:pPr algn="l" indent="0" marL="0">
              <a:lnSpc>
                <a:spcPct val="106000"/>
              </a:lnSpc>
              <a:buNone/>
            </a:pPr>
            <a:r>
              <a:rPr lang="en-US" sz="1250" dirty="0">
                <a:solidFill>
                  <a:srgbClr val="1A1D26"/>
                </a:solidFill>
                <a:latin typeface="Calibri" pitchFamily="34" charset="0"/>
                <a:ea typeface="Calibri" pitchFamily="34" charset="-122"/>
                <a:cs typeface="Calibri" pitchFamily="34" charset="-120"/>
              </a:rPr>
              <a:t>Bremst die EZB die Nachfrage, sinken Umsätze und Einstellungen. Für Auszubildende zeigt sich das zuerst bei Übernahmen und offenen Stellen.</a:t>
            </a:r>
            <a:endParaRPr lang="en-US" sz="1250" dirty="0"/>
          </a:p>
        </p:txBody>
      </p:sp>
      <p:sp>
        <p:nvSpPr>
          <p:cNvPr id="24" name="Shape 22"/>
          <p:cNvSpPr/>
          <p:nvPr/>
        </p:nvSpPr>
        <p:spPr>
          <a:xfrm>
            <a:off x="566928" y="5166360"/>
            <a:ext cx="11057839" cy="868680"/>
          </a:xfrm>
          <a:prstGeom prst="roundRect">
            <a:avLst>
              <a:gd name="adj" fmla="val 8421"/>
            </a:avLst>
          </a:prstGeom>
          <a:solidFill>
            <a:srgbClr val="10224E"/>
          </a:solidFill>
          <a:ln w="12700">
            <a:solidFill>
              <a:srgbClr val="10224E"/>
            </a:solidFill>
            <a:prstDash val="solid"/>
          </a:ln>
          <a:effectLst>
            <a:outerShdw sx="100000" sy="100000" kx="0" ky="0" algn="bl" rotWithShape="0" blurRad="88900" dist="12700" dir="5400000">
              <a:srgbClr val="8A96AD">
                <a:alpha val="22000"/>
              </a:srgbClr>
            </a:outerShdw>
          </a:effectLst>
        </p:spPr>
      </p:sp>
      <p:sp>
        <p:nvSpPr>
          <p:cNvPr id="25" name="Text 23"/>
          <p:cNvSpPr txBox="1"/>
          <p:nvPr/>
        </p:nvSpPr>
        <p:spPr>
          <a:xfrm>
            <a:off x="886968" y="5285232"/>
            <a:ext cx="10417759" cy="256032"/>
          </a:xfrm>
          <a:prstGeom prst="rect">
            <a:avLst/>
          </a:prstGeom>
          <a:noFill/>
          <a:ln/>
        </p:spPr>
        <p:txBody>
          <a:bodyPr wrap="square" lIns="0" tIns="0" rIns="0" bIns="0" rtlCol="0" anchor="t"/>
          <a:lstStyle/>
          <a:p>
            <a:pPr algn="l" indent="0" marL="0">
              <a:buNone/>
            </a:pPr>
            <a:r>
              <a:rPr lang="en-US" sz="1300" b="1" dirty="0">
                <a:solidFill>
                  <a:srgbClr val="FFC72C"/>
                </a:solidFill>
                <a:latin typeface="Calibri" pitchFamily="34" charset="0"/>
                <a:ea typeface="Calibri" pitchFamily="34" charset="-122"/>
                <a:cs typeface="Calibri" pitchFamily="34" charset="-120"/>
              </a:rPr>
              <a:t>Kurz gesagt</a:t>
            </a:r>
            <a:endParaRPr lang="en-US" sz="1300" dirty="0"/>
          </a:p>
        </p:txBody>
      </p:sp>
      <p:sp>
        <p:nvSpPr>
          <p:cNvPr id="26" name="Text 24"/>
          <p:cNvSpPr txBox="1"/>
          <p:nvPr/>
        </p:nvSpPr>
        <p:spPr>
          <a:xfrm>
            <a:off x="886968" y="5541264"/>
            <a:ext cx="10417759" cy="438912"/>
          </a:xfrm>
          <a:prstGeom prst="rect">
            <a:avLst/>
          </a:prstGeom>
          <a:noFill/>
          <a:ln/>
        </p:spPr>
        <p:txBody>
          <a:bodyPr wrap="square" lIns="0" tIns="0" rIns="0" bIns="0" rtlCol="0" anchor="t"/>
          <a:lstStyle/>
          <a:p>
            <a:pPr algn="l" indent="0" marL="0">
              <a:buNone/>
            </a:pPr>
            <a:r>
              <a:rPr lang="en-US" sz="1250" dirty="0">
                <a:solidFill>
                  <a:srgbClr val="C9D5EE"/>
                </a:solidFill>
                <a:latin typeface="Calibri" pitchFamily="34" charset="0"/>
                <a:ea typeface="Calibri" pitchFamily="34" charset="-122"/>
                <a:cs typeface="Calibri" pitchFamily="34" charset="-120"/>
              </a:rPr>
              <a:t>Steigende Zinsen begünstigen alle, die Geld anlegen – und belasten alle, die Geld leihen müssen. Eine Zinsentscheidung verteilt Einkommen zwischen Sparern und Schuldnern um.</a:t>
            </a:r>
            <a:endParaRPr lang="en-US" sz="1250" dirty="0"/>
          </a:p>
        </p:txBody>
      </p:sp>
      <p:sp>
        <p:nvSpPr>
          <p:cNvPr id="27" name="Text 25"/>
          <p:cNvSpPr txBox="1"/>
          <p:nvPr/>
        </p:nvSpPr>
        <p:spPr>
          <a:xfrm>
            <a:off x="566928" y="6364224"/>
            <a:ext cx="5486400" cy="256032"/>
          </a:xfrm>
          <a:prstGeom prst="rect">
            <a:avLst/>
          </a:prstGeom>
          <a:noFill/>
          <a:ln/>
        </p:spPr>
        <p:txBody>
          <a:bodyPr wrap="square" lIns="0" tIns="0" rIns="0" bIns="0" rtlCol="0" anchor="t"/>
          <a:lstStyle/>
          <a:p>
            <a:pPr algn="l" indent="0" marL="0">
              <a:buNone/>
            </a:pPr>
            <a:r>
              <a:rPr lang="en-US" sz="950" dirty="0">
                <a:solidFill>
                  <a:srgbClr val="5A6274"/>
                </a:solidFill>
                <a:latin typeface="Calibri" pitchFamily="34" charset="0"/>
                <a:ea typeface="Calibri" pitchFamily="34" charset="-122"/>
                <a:cs typeface="Calibri" pitchFamily="34" charset="-120"/>
              </a:rPr>
              <a:t>Die Geldpolitik der EZB</a:t>
            </a:r>
            <a:endParaRPr lang="en-US" sz="950" dirty="0"/>
          </a:p>
        </p:txBody>
      </p:sp>
      <p:sp>
        <p:nvSpPr>
          <p:cNvPr id="28" name="Text 26"/>
          <p:cNvSpPr txBox="1"/>
          <p:nvPr/>
        </p:nvSpPr>
        <p:spPr>
          <a:xfrm>
            <a:off x="7967167" y="6364224"/>
            <a:ext cx="3657600" cy="256032"/>
          </a:xfrm>
          <a:prstGeom prst="rect">
            <a:avLst/>
          </a:prstGeom>
          <a:noFill/>
          <a:ln/>
        </p:spPr>
        <p:txBody>
          <a:bodyPr wrap="square" lIns="0" tIns="0" rIns="0" bIns="0" rtlCol="0" anchor="t"/>
          <a:lstStyle/>
          <a:p>
            <a:pPr algn="r" indent="0" marL="0">
              <a:buNone/>
            </a:pPr>
            <a:r>
              <a:rPr lang="en-US" sz="950" dirty="0">
                <a:solidFill>
                  <a:srgbClr val="5A6274"/>
                </a:solidFill>
                <a:latin typeface="Calibri" pitchFamily="34" charset="0"/>
                <a:ea typeface="Calibri" pitchFamily="34" charset="-122"/>
                <a:cs typeface="Calibri" pitchFamily="34" charset="-120"/>
              </a:rPr>
              <a:t>Folie 14 von 17</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algn="l" indent="0" marL="0">
              <a:buNone/>
            </a:pPr>
            <a:r>
              <a:rPr lang="en-US" sz="1100" b="1" spc="140" kern="0" dirty="0">
                <a:solidFill>
                  <a:srgbClr val="9A6F00"/>
                </a:solidFill>
                <a:latin typeface="Calibri" pitchFamily="34" charset="0"/>
                <a:ea typeface="Calibri" pitchFamily="34" charset="-122"/>
                <a:cs typeface="Calibri" pitchFamily="34" charset="-120"/>
              </a:rPr>
              <a:t>TEIL 3 · WIRKUNG AUF DIE AKTEURE</a:t>
            </a:r>
            <a:endParaRPr lang="en-US" sz="1100" dirty="0"/>
          </a:p>
        </p:txBody>
      </p:sp>
      <p:sp>
        <p:nvSpPr>
          <p:cNvPr id="3" name="Text 1"/>
          <p:cNvSpPr txBox="1"/>
          <p:nvPr/>
        </p:nvSpPr>
        <p:spPr>
          <a:xfrm>
            <a:off x="566928" y="566928"/>
            <a:ext cx="11057839" cy="676656"/>
          </a:xfrm>
          <a:prstGeom prst="rect">
            <a:avLst/>
          </a:prstGeom>
          <a:noFill/>
          <a:ln/>
        </p:spPr>
        <p:txBody>
          <a:bodyPr wrap="square" lIns="0" tIns="0" rIns="0" bIns="0" rtlCol="0" anchor="ctr"/>
          <a:lstStyle/>
          <a:p>
            <a:pPr algn="l" indent="0" marL="0">
              <a:buNone/>
            </a:pPr>
            <a:r>
              <a:rPr lang="en-US" sz="3000" b="1" dirty="0">
                <a:solidFill>
                  <a:srgbClr val="10224E"/>
                </a:solidFill>
                <a:latin typeface="Cambria" pitchFamily="34" charset="0"/>
                <a:ea typeface="Cambria" pitchFamily="34" charset="-122"/>
                <a:cs typeface="Cambria" pitchFamily="34" charset="-120"/>
              </a:rPr>
              <a:t>Was der Zins mit Unternehmen macht</a:t>
            </a:r>
            <a:endParaRPr lang="en-US" sz="3000" dirty="0"/>
          </a:p>
        </p:txBody>
      </p:sp>
      <p:sp>
        <p:nvSpPr>
          <p:cNvPr id="4" name="Shape 2"/>
          <p:cNvSpPr/>
          <p:nvPr/>
        </p:nvSpPr>
        <p:spPr>
          <a:xfrm>
            <a:off x="566928" y="1389888"/>
            <a:ext cx="5852160" cy="2176272"/>
          </a:xfrm>
          <a:prstGeom prst="roundRect">
            <a:avLst>
              <a:gd name="adj" fmla="val 3361"/>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5" name="Text 3"/>
          <p:cNvSpPr txBox="1"/>
          <p:nvPr/>
        </p:nvSpPr>
        <p:spPr>
          <a:xfrm>
            <a:off x="859536" y="1572768"/>
            <a:ext cx="5266944" cy="310896"/>
          </a:xfrm>
          <a:prstGeom prst="rect">
            <a:avLst/>
          </a:prstGeom>
          <a:noFill/>
          <a:ln/>
        </p:spPr>
        <p:txBody>
          <a:bodyPr wrap="square" lIns="0" tIns="0" rIns="0" bIns="0" rtlCol="0" anchor="t"/>
          <a:lstStyle/>
          <a:p>
            <a:pPr algn="l" indent="0" marL="0">
              <a:buNone/>
            </a:pPr>
            <a:r>
              <a:rPr lang="en-US" sz="1550" b="1" dirty="0">
                <a:solidFill>
                  <a:srgbClr val="10224E"/>
                </a:solidFill>
                <a:latin typeface="Cambria" pitchFamily="34" charset="0"/>
                <a:ea typeface="Cambria" pitchFamily="34" charset="-122"/>
                <a:cs typeface="Cambria" pitchFamily="34" charset="-120"/>
              </a:rPr>
              <a:t>Jede Investition wird neu gerechnet</a:t>
            </a:r>
            <a:endParaRPr lang="en-US" sz="1550" dirty="0"/>
          </a:p>
        </p:txBody>
      </p:sp>
      <p:sp>
        <p:nvSpPr>
          <p:cNvPr id="6" name="Text 4"/>
          <p:cNvSpPr txBox="1"/>
          <p:nvPr/>
        </p:nvSpPr>
        <p:spPr>
          <a:xfrm>
            <a:off x="859536" y="1938528"/>
            <a:ext cx="5266944" cy="1005840"/>
          </a:xfrm>
          <a:prstGeom prst="rect">
            <a:avLst/>
          </a:prstGeom>
          <a:noFill/>
          <a:ln/>
        </p:spPr>
        <p:txBody>
          <a:bodyPr wrap="square" lIns="0" tIns="0" rIns="0" bIns="0" rtlCol="0" anchor="t"/>
          <a:lstStyle/>
          <a:p>
            <a:pPr algn="l" indent="0" marL="0">
              <a:lnSpc>
                <a:spcPct val="108000"/>
              </a:lnSpc>
              <a:buNone/>
            </a:pPr>
            <a:r>
              <a:rPr lang="en-US" sz="1250" dirty="0">
                <a:solidFill>
                  <a:srgbClr val="1A1D26"/>
                </a:solidFill>
                <a:latin typeface="Calibri" pitchFamily="34" charset="0"/>
                <a:ea typeface="Calibri" pitchFamily="34" charset="-122"/>
                <a:cs typeface="Calibri" pitchFamily="34" charset="-120"/>
              </a:rPr>
              <a:t>Ein Betrieb investiert nur, wenn die erwartete Rendite über den Finanzierungskosten liegt. Steigt der Zins, fallen Projekte aus der Rechnung: die neue Maschine, die Photovoltaikanlage auf dem Hallendach, die zusätzliche Filiale.</a:t>
            </a:r>
            <a:endParaRPr lang="en-US" sz="1250" dirty="0"/>
          </a:p>
        </p:txBody>
      </p:sp>
      <p:sp>
        <p:nvSpPr>
          <p:cNvPr id="7" name="Text 5"/>
          <p:cNvSpPr txBox="1"/>
          <p:nvPr/>
        </p:nvSpPr>
        <p:spPr>
          <a:xfrm>
            <a:off x="859536" y="2980944"/>
            <a:ext cx="5266944" cy="384048"/>
          </a:xfrm>
          <a:prstGeom prst="rect">
            <a:avLst/>
          </a:prstGeom>
          <a:noFill/>
          <a:ln/>
        </p:spPr>
        <p:txBody>
          <a:bodyPr wrap="square" lIns="0" tIns="0" rIns="0" bIns="0" rtlCol="0" anchor="t"/>
          <a:lstStyle/>
          <a:p>
            <a:pPr algn="l" indent="0" marL="0">
              <a:buNone/>
            </a:pPr>
            <a:r>
              <a:rPr lang="en-US" sz="1200" i="1" dirty="0">
                <a:solidFill>
                  <a:srgbClr val="9A6F00"/>
                </a:solidFill>
                <a:latin typeface="Calibri" pitchFamily="34" charset="0"/>
                <a:ea typeface="Calibri" pitchFamily="34" charset="-122"/>
                <a:cs typeface="Calibri" pitchFamily="34" charset="-120"/>
              </a:rPr>
              <a:t>Faustregel: Der Zins ist die Messlatte, die jedes Projekt überspringen muss.</a:t>
            </a:r>
            <a:endParaRPr lang="en-US" sz="1200" dirty="0"/>
          </a:p>
        </p:txBody>
      </p:sp>
      <p:sp>
        <p:nvSpPr>
          <p:cNvPr id="8" name="Shape 6"/>
          <p:cNvSpPr/>
          <p:nvPr/>
        </p:nvSpPr>
        <p:spPr>
          <a:xfrm>
            <a:off x="566928" y="3703320"/>
            <a:ext cx="5852160" cy="2148840"/>
          </a:xfrm>
          <a:prstGeom prst="roundRect">
            <a:avLst>
              <a:gd name="adj" fmla="val 3404"/>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9" name="Text 7"/>
          <p:cNvSpPr txBox="1"/>
          <p:nvPr/>
        </p:nvSpPr>
        <p:spPr>
          <a:xfrm>
            <a:off x="859536" y="3886200"/>
            <a:ext cx="5266944" cy="310896"/>
          </a:xfrm>
          <a:prstGeom prst="rect">
            <a:avLst/>
          </a:prstGeom>
          <a:noFill/>
          <a:ln/>
        </p:spPr>
        <p:txBody>
          <a:bodyPr wrap="square" lIns="0" tIns="0" rIns="0" bIns="0" rtlCol="0" anchor="t"/>
          <a:lstStyle/>
          <a:p>
            <a:pPr algn="l" indent="0" marL="0">
              <a:buNone/>
            </a:pPr>
            <a:r>
              <a:rPr lang="en-US" sz="1550" b="1" dirty="0">
                <a:solidFill>
                  <a:srgbClr val="10224E"/>
                </a:solidFill>
                <a:latin typeface="Cambria" pitchFamily="34" charset="0"/>
                <a:ea typeface="Cambria" pitchFamily="34" charset="-122"/>
                <a:cs typeface="Cambria" pitchFamily="34" charset="-120"/>
              </a:rPr>
              <a:t>Kleine Betriebe trifft es zuerst</a:t>
            </a:r>
            <a:endParaRPr lang="en-US" sz="1550" dirty="0"/>
          </a:p>
        </p:txBody>
      </p:sp>
      <p:sp>
        <p:nvSpPr>
          <p:cNvPr id="10" name="Text 8"/>
          <p:cNvSpPr txBox="1"/>
          <p:nvPr/>
        </p:nvSpPr>
        <p:spPr>
          <a:xfrm>
            <a:off x="859536" y="4251960"/>
            <a:ext cx="5266944" cy="1325880"/>
          </a:xfrm>
          <a:prstGeom prst="rect">
            <a:avLst/>
          </a:prstGeom>
          <a:noFill/>
          <a:ln/>
        </p:spPr>
        <p:txBody>
          <a:bodyPr wrap="square" lIns="0" tIns="0" rIns="0" bIns="0" rtlCol="0" anchor="t"/>
          <a:lstStyle/>
          <a:p>
            <a:pPr algn="l" indent="0" marL="0">
              <a:lnSpc>
                <a:spcPct val="108000"/>
              </a:lnSpc>
              <a:buNone/>
            </a:pPr>
            <a:r>
              <a:rPr lang="en-US" sz="1250" dirty="0">
                <a:solidFill>
                  <a:srgbClr val="1A1D26"/>
                </a:solidFill>
                <a:latin typeface="Calibri" pitchFamily="34" charset="0"/>
                <a:ea typeface="Calibri" pitchFamily="34" charset="-122"/>
                <a:cs typeface="Calibri" pitchFamily="34" charset="-120"/>
              </a:rPr>
              <a:t>Handwerk, Bau und Einzelhandel finanzieren sich stark über Bankkredite und haben weniger Rücklagen. Große Konzerne können sich am Kapitalmarkt häufig günstiger Geld beschaffen – eine Zinserhöhung wirkt deshalb nicht auf alle gleich.</a:t>
            </a:r>
            <a:endParaRPr lang="en-US" sz="1250" dirty="0"/>
          </a:p>
        </p:txBody>
      </p:sp>
      <p:sp>
        <p:nvSpPr>
          <p:cNvPr id="11" name="Shape 9"/>
          <p:cNvSpPr/>
          <p:nvPr/>
        </p:nvSpPr>
        <p:spPr>
          <a:xfrm>
            <a:off x="6675120" y="1389888"/>
            <a:ext cx="4946904" cy="2176272"/>
          </a:xfrm>
          <a:prstGeom prst="roundRect">
            <a:avLst>
              <a:gd name="adj" fmla="val 3361"/>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2" name="Text 10"/>
          <p:cNvSpPr txBox="1"/>
          <p:nvPr/>
        </p:nvSpPr>
        <p:spPr>
          <a:xfrm>
            <a:off x="6967728" y="1572768"/>
            <a:ext cx="4361688" cy="310896"/>
          </a:xfrm>
          <a:prstGeom prst="rect">
            <a:avLst/>
          </a:prstGeom>
          <a:noFill/>
          <a:ln/>
        </p:spPr>
        <p:txBody>
          <a:bodyPr wrap="square" lIns="0" tIns="0" rIns="0" bIns="0" rtlCol="0" anchor="t"/>
          <a:lstStyle/>
          <a:p>
            <a:pPr algn="l" indent="0" marL="0">
              <a:buNone/>
            </a:pPr>
            <a:r>
              <a:rPr lang="en-US" sz="1550" b="1" dirty="0">
                <a:solidFill>
                  <a:srgbClr val="10224E"/>
                </a:solidFill>
                <a:latin typeface="Cambria" pitchFamily="34" charset="0"/>
                <a:ea typeface="Cambria" pitchFamily="34" charset="-122"/>
                <a:cs typeface="Cambria" pitchFamily="34" charset="-120"/>
              </a:rPr>
              <a:t>Besonders zinsempfindlich</a:t>
            </a:r>
            <a:endParaRPr lang="en-US" sz="1550" dirty="0"/>
          </a:p>
        </p:txBody>
      </p:sp>
      <p:sp>
        <p:nvSpPr>
          <p:cNvPr id="13" name="Text 11"/>
          <p:cNvSpPr txBox="1"/>
          <p:nvPr/>
        </p:nvSpPr>
        <p:spPr>
          <a:xfrm>
            <a:off x="6967728" y="1938528"/>
            <a:ext cx="4361688" cy="1463040"/>
          </a:xfrm>
          <a:prstGeom prst="rect">
            <a:avLst/>
          </a:prstGeom>
          <a:noFill/>
          <a:ln/>
        </p:spPr>
        <p:txBody>
          <a:bodyPr wrap="square" lIns="0" tIns="0" rIns="0" bIns="0" rtlCol="0" anchor="t"/>
          <a:lstStyle/>
          <a:p>
            <a:pPr algn="l" marL="177800" indent="-177800">
              <a:lnSpc>
                <a:spcPct val="108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Bauwirtschaft und Immobilienbranche</a:t>
            </a:r>
            <a:endParaRPr lang="en-US" sz="1250" dirty="0"/>
          </a:p>
          <a:p>
            <a:pPr algn="l" marL="177800" indent="-177800">
              <a:lnSpc>
                <a:spcPct val="108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Automobil- und Maschinenbau (Großaufträge auf Kredit)</a:t>
            </a:r>
            <a:endParaRPr lang="en-US" sz="1250" dirty="0"/>
          </a:p>
          <a:p>
            <a:pPr algn="l" marL="177800" indent="-177800">
              <a:lnSpc>
                <a:spcPct val="108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Start-ups und junge Unternehmen ohne Eigenkapital</a:t>
            </a:r>
            <a:endParaRPr lang="en-US" sz="1250" dirty="0"/>
          </a:p>
          <a:p>
            <a:pPr algn="l" marL="177800" indent="-177800">
              <a:lnSpc>
                <a:spcPct val="108000"/>
              </a:lnSpc>
              <a:spcAft>
                <a:spcPts val="500"/>
              </a:spcAft>
              <a:buSzPct val="100000"/>
              <a:buChar char="•"/>
            </a:pPr>
            <a:r>
              <a:rPr lang="en-US" sz="1250" dirty="0">
                <a:solidFill>
                  <a:srgbClr val="1A1D26"/>
                </a:solidFill>
                <a:latin typeface="Calibri" pitchFamily="34" charset="0"/>
                <a:ea typeface="Calibri" pitchFamily="34" charset="-122"/>
                <a:cs typeface="Calibri" pitchFamily="34" charset="-120"/>
              </a:rPr>
              <a:t>Betriebe mit hohem Lagerbestand</a:t>
            </a:r>
            <a:endParaRPr lang="en-US" sz="1250" dirty="0"/>
          </a:p>
        </p:txBody>
      </p:sp>
      <p:sp>
        <p:nvSpPr>
          <p:cNvPr id="14" name="Shape 12"/>
          <p:cNvSpPr/>
          <p:nvPr/>
        </p:nvSpPr>
        <p:spPr>
          <a:xfrm>
            <a:off x="6675120" y="3703320"/>
            <a:ext cx="4946904" cy="2148840"/>
          </a:xfrm>
          <a:prstGeom prst="roundRect">
            <a:avLst>
              <a:gd name="adj" fmla="val 3404"/>
            </a:avLst>
          </a:prstGeom>
          <a:solidFill>
            <a:srgbClr val="10224E"/>
          </a:solidFill>
          <a:ln w="12700">
            <a:solidFill>
              <a:srgbClr val="10224E"/>
            </a:solidFill>
            <a:prstDash val="solid"/>
          </a:ln>
          <a:effectLst>
            <a:outerShdw sx="100000" sy="100000" kx="0" ky="0" algn="bl" rotWithShape="0" blurRad="88900" dist="12700" dir="5400000">
              <a:srgbClr val="8A96AD">
                <a:alpha val="22000"/>
              </a:srgbClr>
            </a:outerShdw>
          </a:effectLst>
        </p:spPr>
      </p:sp>
      <p:sp>
        <p:nvSpPr>
          <p:cNvPr id="15" name="Text 13"/>
          <p:cNvSpPr txBox="1"/>
          <p:nvPr/>
        </p:nvSpPr>
        <p:spPr>
          <a:xfrm>
            <a:off x="6967728" y="3886200"/>
            <a:ext cx="4361688" cy="310896"/>
          </a:xfrm>
          <a:prstGeom prst="rect">
            <a:avLst/>
          </a:prstGeom>
          <a:noFill/>
          <a:ln/>
        </p:spPr>
        <p:txBody>
          <a:bodyPr wrap="square" lIns="0" tIns="0" rIns="0" bIns="0" rtlCol="0" anchor="t"/>
          <a:lstStyle/>
          <a:p>
            <a:pPr algn="l" indent="0" marL="0">
              <a:buNone/>
            </a:pPr>
            <a:r>
              <a:rPr lang="en-US" sz="1550" b="1" dirty="0">
                <a:solidFill>
                  <a:srgbClr val="FFC72C"/>
                </a:solidFill>
                <a:latin typeface="Cambria" pitchFamily="34" charset="0"/>
                <a:ea typeface="Cambria" pitchFamily="34" charset="-122"/>
                <a:cs typeface="Cambria" pitchFamily="34" charset="-120"/>
              </a:rPr>
              <a:t>Folge für den Arbeitsmarkt</a:t>
            </a:r>
            <a:endParaRPr lang="en-US" sz="1550" dirty="0"/>
          </a:p>
        </p:txBody>
      </p:sp>
      <p:sp>
        <p:nvSpPr>
          <p:cNvPr id="16" name="Text 14"/>
          <p:cNvSpPr txBox="1"/>
          <p:nvPr/>
        </p:nvSpPr>
        <p:spPr>
          <a:xfrm>
            <a:off x="6967728" y="4251960"/>
            <a:ext cx="4361688" cy="1325880"/>
          </a:xfrm>
          <a:prstGeom prst="rect">
            <a:avLst/>
          </a:prstGeom>
          <a:noFill/>
          <a:ln/>
        </p:spPr>
        <p:txBody>
          <a:bodyPr wrap="square" lIns="0" tIns="0" rIns="0" bIns="0" rtlCol="0" anchor="t"/>
          <a:lstStyle/>
          <a:p>
            <a:pPr algn="l" indent="0" marL="0">
              <a:lnSpc>
                <a:spcPct val="108000"/>
              </a:lnSpc>
              <a:buNone/>
            </a:pPr>
            <a:r>
              <a:rPr lang="en-US" sz="1250" dirty="0">
                <a:solidFill>
                  <a:srgbClr val="C9D5EE"/>
                </a:solidFill>
                <a:latin typeface="Calibri" pitchFamily="34" charset="0"/>
                <a:ea typeface="Calibri" pitchFamily="34" charset="-122"/>
                <a:cs typeface="Calibri" pitchFamily="34" charset="-120"/>
              </a:rPr>
              <a:t>Weniger Investitionen bedeuten weniger Aufträge, weniger neue Stellen und weniger Ausbildungsplätze. Umgekehrt kann billiges Geld einen Aufschwung verstärken – genau das ist von der EZB beabsichtigt.</a:t>
            </a:r>
            <a:endParaRPr lang="en-US" sz="1250" dirty="0"/>
          </a:p>
        </p:txBody>
      </p:sp>
      <p:sp>
        <p:nvSpPr>
          <p:cNvPr id="17" name="Text 15"/>
          <p:cNvSpPr txBox="1"/>
          <p:nvPr/>
        </p:nvSpPr>
        <p:spPr>
          <a:xfrm>
            <a:off x="566928" y="6364224"/>
            <a:ext cx="5486400" cy="256032"/>
          </a:xfrm>
          <a:prstGeom prst="rect">
            <a:avLst/>
          </a:prstGeom>
          <a:noFill/>
          <a:ln/>
        </p:spPr>
        <p:txBody>
          <a:bodyPr wrap="square" lIns="0" tIns="0" rIns="0" bIns="0" rtlCol="0" anchor="t"/>
          <a:lstStyle/>
          <a:p>
            <a:pPr algn="l" indent="0" marL="0">
              <a:buNone/>
            </a:pPr>
            <a:r>
              <a:rPr lang="en-US" sz="950" dirty="0">
                <a:solidFill>
                  <a:srgbClr val="5A6274"/>
                </a:solidFill>
                <a:latin typeface="Calibri" pitchFamily="34" charset="0"/>
                <a:ea typeface="Calibri" pitchFamily="34" charset="-122"/>
                <a:cs typeface="Calibri" pitchFamily="34" charset="-120"/>
              </a:rPr>
              <a:t>Die Geldpolitik der EZB</a:t>
            </a:r>
            <a:endParaRPr lang="en-US" sz="950" dirty="0"/>
          </a:p>
        </p:txBody>
      </p:sp>
      <p:sp>
        <p:nvSpPr>
          <p:cNvPr id="18" name="Text 16"/>
          <p:cNvSpPr txBox="1"/>
          <p:nvPr/>
        </p:nvSpPr>
        <p:spPr>
          <a:xfrm>
            <a:off x="7967167" y="6364224"/>
            <a:ext cx="3657600" cy="256032"/>
          </a:xfrm>
          <a:prstGeom prst="rect">
            <a:avLst/>
          </a:prstGeom>
          <a:noFill/>
          <a:ln/>
        </p:spPr>
        <p:txBody>
          <a:bodyPr wrap="square" lIns="0" tIns="0" rIns="0" bIns="0" rtlCol="0" anchor="t"/>
          <a:lstStyle/>
          <a:p>
            <a:pPr algn="r" indent="0" marL="0">
              <a:buNone/>
            </a:pPr>
            <a:r>
              <a:rPr lang="en-US" sz="950" dirty="0">
                <a:solidFill>
                  <a:srgbClr val="5A6274"/>
                </a:solidFill>
                <a:latin typeface="Calibri" pitchFamily="34" charset="0"/>
                <a:ea typeface="Calibri" pitchFamily="34" charset="-122"/>
                <a:cs typeface="Calibri" pitchFamily="34" charset="-120"/>
              </a:rPr>
              <a:t>Folie 15 von 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algn="l" indent="0" marL="0">
              <a:buNone/>
            </a:pPr>
            <a:r>
              <a:rPr lang="en-US" sz="1100" b="1" spc="140" kern="0" dirty="0">
                <a:solidFill>
                  <a:srgbClr val="9A6F00"/>
                </a:solidFill>
                <a:latin typeface="Calibri" pitchFamily="34" charset="0"/>
                <a:ea typeface="Calibri" pitchFamily="34" charset="-122"/>
                <a:cs typeface="Calibri" pitchFamily="34" charset="-120"/>
              </a:rPr>
              <a:t>TEIL 3 · WIRKUNG AUF DIE AKTEURE</a:t>
            </a:r>
            <a:endParaRPr lang="en-US" sz="1100" dirty="0"/>
          </a:p>
        </p:txBody>
      </p:sp>
      <p:sp>
        <p:nvSpPr>
          <p:cNvPr id="3" name="Text 1"/>
          <p:cNvSpPr txBox="1"/>
          <p:nvPr/>
        </p:nvSpPr>
        <p:spPr>
          <a:xfrm>
            <a:off x="566928" y="566928"/>
            <a:ext cx="11057839" cy="676656"/>
          </a:xfrm>
          <a:prstGeom prst="rect">
            <a:avLst/>
          </a:prstGeom>
          <a:noFill/>
          <a:ln/>
        </p:spPr>
        <p:txBody>
          <a:bodyPr wrap="square" lIns="0" tIns="0" rIns="0" bIns="0" rtlCol="0" anchor="ctr"/>
          <a:lstStyle/>
          <a:p>
            <a:pPr algn="l" indent="0" marL="0">
              <a:buNone/>
            </a:pPr>
            <a:r>
              <a:rPr lang="en-US" sz="3000" b="1" dirty="0">
                <a:solidFill>
                  <a:srgbClr val="10224E"/>
                </a:solidFill>
                <a:latin typeface="Cambria" pitchFamily="34" charset="0"/>
                <a:ea typeface="Cambria" pitchFamily="34" charset="-122"/>
                <a:cs typeface="Cambria" pitchFamily="34" charset="-120"/>
              </a:rPr>
              <a:t>Was der Zins mit Staat und Außenhandel macht</a:t>
            </a:r>
            <a:endParaRPr lang="en-US" sz="3000" dirty="0"/>
          </a:p>
        </p:txBody>
      </p:sp>
      <p:sp>
        <p:nvSpPr>
          <p:cNvPr id="4" name="Shape 2"/>
          <p:cNvSpPr/>
          <p:nvPr/>
        </p:nvSpPr>
        <p:spPr>
          <a:xfrm>
            <a:off x="566928" y="1389888"/>
            <a:ext cx="3502152" cy="2962656"/>
          </a:xfrm>
          <a:prstGeom prst="roundRect">
            <a:avLst>
              <a:gd name="adj" fmla="val 2469"/>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5" name="Shape 3"/>
          <p:cNvSpPr/>
          <p:nvPr/>
        </p:nvSpPr>
        <p:spPr>
          <a:xfrm>
            <a:off x="859536" y="1664208"/>
            <a:ext cx="566928" cy="566928"/>
          </a:xfrm>
          <a:prstGeom prst="ellipse">
            <a:avLst/>
          </a:prstGeom>
          <a:solidFill>
            <a:srgbClr val="FFC72C"/>
          </a:solidFill>
          <a:ln w="12700">
            <a:solidFill>
              <a:srgbClr val="FFC72C"/>
            </a:solidFill>
            <a:prstDash val="solid"/>
          </a:ln>
        </p:spPr>
      </p:sp>
      <p:sp>
        <p:nvSpPr>
          <p:cNvPr id="6" name="Text 4"/>
          <p:cNvSpPr txBox="1"/>
          <p:nvPr/>
        </p:nvSpPr>
        <p:spPr>
          <a:xfrm>
            <a:off x="859536" y="1664208"/>
            <a:ext cx="566928" cy="566928"/>
          </a:xfrm>
          <a:prstGeom prst="rect">
            <a:avLst/>
          </a:prstGeom>
          <a:noFill/>
          <a:ln/>
        </p:spPr>
        <p:txBody>
          <a:bodyPr wrap="square" lIns="0" tIns="0" rIns="0" bIns="0" rtlCol="0" anchor="ctr"/>
          <a:lstStyle/>
          <a:p>
            <a:pPr algn="ctr" indent="0" marL="0">
              <a:buNone/>
            </a:pPr>
            <a:r>
              <a:rPr lang="en-US" sz="1900" b="1" dirty="0">
                <a:solidFill>
                  <a:srgbClr val="10224E"/>
                </a:solidFill>
                <a:latin typeface="Cambria" pitchFamily="34" charset="0"/>
                <a:ea typeface="Cambria" pitchFamily="34" charset="-122"/>
                <a:cs typeface="Cambria" pitchFamily="34" charset="-120"/>
              </a:rPr>
              <a:t>1</a:t>
            </a:r>
            <a:endParaRPr lang="en-US" sz="1900" dirty="0"/>
          </a:p>
        </p:txBody>
      </p:sp>
      <p:sp>
        <p:nvSpPr>
          <p:cNvPr id="7" name="Text 5"/>
          <p:cNvSpPr txBox="1"/>
          <p:nvPr/>
        </p:nvSpPr>
        <p:spPr>
          <a:xfrm>
            <a:off x="859536" y="2359152"/>
            <a:ext cx="2916936" cy="603504"/>
          </a:xfrm>
          <a:prstGeom prst="rect">
            <a:avLst/>
          </a:prstGeom>
          <a:noFill/>
          <a:ln/>
        </p:spPr>
        <p:txBody>
          <a:bodyPr wrap="square" lIns="0" tIns="0" rIns="0" bIns="0" rtlCol="0" anchor="t"/>
          <a:lstStyle/>
          <a:p>
            <a:pPr algn="l" indent="0" marL="0">
              <a:buNone/>
            </a:pPr>
            <a:r>
              <a:rPr lang="en-US" sz="1500" b="1" dirty="0">
                <a:solidFill>
                  <a:srgbClr val="10224E"/>
                </a:solidFill>
                <a:latin typeface="Cambria" pitchFamily="34" charset="0"/>
                <a:ea typeface="Cambria" pitchFamily="34" charset="-122"/>
                <a:cs typeface="Cambria" pitchFamily="34" charset="-120"/>
              </a:rPr>
              <a:t>Der Staat als größter Schuldner</a:t>
            </a:r>
            <a:endParaRPr lang="en-US" sz="1500" dirty="0"/>
          </a:p>
        </p:txBody>
      </p:sp>
      <p:sp>
        <p:nvSpPr>
          <p:cNvPr id="8" name="Text 6"/>
          <p:cNvSpPr txBox="1"/>
          <p:nvPr/>
        </p:nvSpPr>
        <p:spPr>
          <a:xfrm>
            <a:off x="859536" y="2962656"/>
            <a:ext cx="2916936" cy="1225296"/>
          </a:xfrm>
          <a:prstGeom prst="rect">
            <a:avLst/>
          </a:prstGeom>
          <a:noFill/>
          <a:ln/>
        </p:spPr>
        <p:txBody>
          <a:bodyPr wrap="square" lIns="0" tIns="0" rIns="0" bIns="0" rtlCol="0" anchor="t"/>
          <a:lstStyle/>
          <a:p>
            <a:pPr algn="l" indent="0" marL="0">
              <a:lnSpc>
                <a:spcPct val="106000"/>
              </a:lnSpc>
              <a:buNone/>
            </a:pPr>
            <a:r>
              <a:rPr lang="en-US" sz="1200" dirty="0">
                <a:solidFill>
                  <a:srgbClr val="1A1D26"/>
                </a:solidFill>
                <a:latin typeface="Calibri" pitchFamily="34" charset="0"/>
                <a:ea typeface="Calibri" pitchFamily="34" charset="-122"/>
                <a:cs typeface="Calibri" pitchFamily="34" charset="-120"/>
              </a:rPr>
              <a:t>Bund, Länder und Kommunen finanzieren sich über Anleihen. Steigt der Zins, steigen die Zinsausgaben im Haushalt – Geld, das dann für Schulen, Straßen oder Digitalisierung fehlt.</a:t>
            </a:r>
            <a:endParaRPr lang="en-US" sz="1200" dirty="0"/>
          </a:p>
        </p:txBody>
      </p:sp>
      <p:sp>
        <p:nvSpPr>
          <p:cNvPr id="9" name="Shape 7"/>
          <p:cNvSpPr/>
          <p:nvPr/>
        </p:nvSpPr>
        <p:spPr>
          <a:xfrm>
            <a:off x="4343400" y="1389888"/>
            <a:ext cx="3502152" cy="2962656"/>
          </a:xfrm>
          <a:prstGeom prst="roundRect">
            <a:avLst>
              <a:gd name="adj" fmla="val 2469"/>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0" name="Shape 8"/>
          <p:cNvSpPr/>
          <p:nvPr/>
        </p:nvSpPr>
        <p:spPr>
          <a:xfrm>
            <a:off x="4636008" y="1664208"/>
            <a:ext cx="566928" cy="566928"/>
          </a:xfrm>
          <a:prstGeom prst="ellipse">
            <a:avLst/>
          </a:prstGeom>
          <a:solidFill>
            <a:srgbClr val="FFC72C"/>
          </a:solidFill>
          <a:ln w="12700">
            <a:solidFill>
              <a:srgbClr val="FFC72C"/>
            </a:solidFill>
            <a:prstDash val="solid"/>
          </a:ln>
        </p:spPr>
      </p:sp>
      <p:sp>
        <p:nvSpPr>
          <p:cNvPr id="11" name="Text 9"/>
          <p:cNvSpPr txBox="1"/>
          <p:nvPr/>
        </p:nvSpPr>
        <p:spPr>
          <a:xfrm>
            <a:off x="4636008" y="1664208"/>
            <a:ext cx="566928" cy="566928"/>
          </a:xfrm>
          <a:prstGeom prst="rect">
            <a:avLst/>
          </a:prstGeom>
          <a:noFill/>
          <a:ln/>
        </p:spPr>
        <p:txBody>
          <a:bodyPr wrap="square" lIns="0" tIns="0" rIns="0" bIns="0" rtlCol="0" anchor="ctr"/>
          <a:lstStyle/>
          <a:p>
            <a:pPr algn="ctr" indent="0" marL="0">
              <a:buNone/>
            </a:pPr>
            <a:r>
              <a:rPr lang="en-US" sz="1900" b="1" dirty="0">
                <a:solidFill>
                  <a:srgbClr val="10224E"/>
                </a:solidFill>
                <a:latin typeface="Cambria" pitchFamily="34" charset="0"/>
                <a:ea typeface="Cambria" pitchFamily="34" charset="-122"/>
                <a:cs typeface="Cambria" pitchFamily="34" charset="-120"/>
              </a:rPr>
              <a:t>2</a:t>
            </a:r>
            <a:endParaRPr lang="en-US" sz="1900" dirty="0"/>
          </a:p>
        </p:txBody>
      </p:sp>
      <p:sp>
        <p:nvSpPr>
          <p:cNvPr id="12" name="Text 10"/>
          <p:cNvSpPr txBox="1"/>
          <p:nvPr/>
        </p:nvSpPr>
        <p:spPr>
          <a:xfrm>
            <a:off x="4636008" y="2359152"/>
            <a:ext cx="2916936" cy="603504"/>
          </a:xfrm>
          <a:prstGeom prst="rect">
            <a:avLst/>
          </a:prstGeom>
          <a:noFill/>
          <a:ln/>
        </p:spPr>
        <p:txBody>
          <a:bodyPr wrap="square" lIns="0" tIns="0" rIns="0" bIns="0" rtlCol="0" anchor="t"/>
          <a:lstStyle/>
          <a:p>
            <a:pPr algn="l" indent="0" marL="0">
              <a:buNone/>
            </a:pPr>
            <a:r>
              <a:rPr lang="en-US" sz="1500" b="1" dirty="0">
                <a:solidFill>
                  <a:srgbClr val="10224E"/>
                </a:solidFill>
                <a:latin typeface="Cambria" pitchFamily="34" charset="0"/>
                <a:ea typeface="Cambria" pitchFamily="34" charset="-122"/>
                <a:cs typeface="Cambria" pitchFamily="34" charset="-120"/>
              </a:rPr>
              <a:t>Wechselkurs und Export</a:t>
            </a:r>
            <a:endParaRPr lang="en-US" sz="1500" dirty="0"/>
          </a:p>
        </p:txBody>
      </p:sp>
      <p:sp>
        <p:nvSpPr>
          <p:cNvPr id="13" name="Text 11"/>
          <p:cNvSpPr txBox="1"/>
          <p:nvPr/>
        </p:nvSpPr>
        <p:spPr>
          <a:xfrm>
            <a:off x="4636008" y="2962656"/>
            <a:ext cx="2916936" cy="1225296"/>
          </a:xfrm>
          <a:prstGeom prst="rect">
            <a:avLst/>
          </a:prstGeom>
          <a:noFill/>
          <a:ln/>
        </p:spPr>
        <p:txBody>
          <a:bodyPr wrap="square" lIns="0" tIns="0" rIns="0" bIns="0" rtlCol="0" anchor="t"/>
          <a:lstStyle/>
          <a:p>
            <a:pPr algn="l" indent="0" marL="0">
              <a:lnSpc>
                <a:spcPct val="106000"/>
              </a:lnSpc>
              <a:buNone/>
            </a:pPr>
            <a:r>
              <a:rPr lang="en-US" sz="1200" dirty="0">
                <a:solidFill>
                  <a:srgbClr val="1A1D26"/>
                </a:solidFill>
                <a:latin typeface="Calibri" pitchFamily="34" charset="0"/>
                <a:ea typeface="Calibri" pitchFamily="34" charset="-122"/>
                <a:cs typeface="Calibri" pitchFamily="34" charset="-120"/>
              </a:rPr>
              <a:t>Höhere Zinsen machen Anlagen in Euro attraktiver, der Euro wertet auf. Importe wie Öl und Rohstoffe werden billiger, deutsche Exporte für Kunden außerhalb der Eurozone aber teurer.</a:t>
            </a:r>
            <a:endParaRPr lang="en-US" sz="1200" dirty="0"/>
          </a:p>
        </p:txBody>
      </p:sp>
      <p:sp>
        <p:nvSpPr>
          <p:cNvPr id="14" name="Shape 12"/>
          <p:cNvSpPr/>
          <p:nvPr/>
        </p:nvSpPr>
        <p:spPr>
          <a:xfrm>
            <a:off x="8119872" y="1389888"/>
            <a:ext cx="3502152" cy="2962656"/>
          </a:xfrm>
          <a:prstGeom prst="roundRect">
            <a:avLst>
              <a:gd name="adj" fmla="val 2469"/>
            </a:avLst>
          </a:prstGeom>
          <a:solidFill>
            <a:srgbClr val="F1F4FA"/>
          </a:solidFill>
          <a:ln w="12700">
            <a:solidFill>
              <a:srgbClr val="D8E0EF"/>
            </a:solidFill>
            <a:prstDash val="solid"/>
          </a:ln>
          <a:effectLst>
            <a:outerShdw sx="100000" sy="100000" kx="0" ky="0" algn="bl" rotWithShape="0" blurRad="88900" dist="12700" dir="5400000">
              <a:srgbClr val="8A96AD">
                <a:alpha val="22000"/>
              </a:srgbClr>
            </a:outerShdw>
          </a:effectLst>
        </p:spPr>
      </p:sp>
      <p:sp>
        <p:nvSpPr>
          <p:cNvPr id="15" name="Shape 13"/>
          <p:cNvSpPr/>
          <p:nvPr/>
        </p:nvSpPr>
        <p:spPr>
          <a:xfrm>
            <a:off x="8412480" y="1664208"/>
            <a:ext cx="566928" cy="566928"/>
          </a:xfrm>
          <a:prstGeom prst="ellipse">
            <a:avLst/>
          </a:prstGeom>
          <a:solidFill>
            <a:srgbClr val="FFC72C"/>
          </a:solidFill>
          <a:ln w="12700">
            <a:solidFill>
              <a:srgbClr val="FFC72C"/>
            </a:solidFill>
            <a:prstDash val="solid"/>
          </a:ln>
        </p:spPr>
      </p:sp>
      <p:sp>
        <p:nvSpPr>
          <p:cNvPr id="16" name="Text 14"/>
          <p:cNvSpPr txBox="1"/>
          <p:nvPr/>
        </p:nvSpPr>
        <p:spPr>
          <a:xfrm>
            <a:off x="8412480" y="1664208"/>
            <a:ext cx="566928" cy="566928"/>
          </a:xfrm>
          <a:prstGeom prst="rect">
            <a:avLst/>
          </a:prstGeom>
          <a:noFill/>
          <a:ln/>
        </p:spPr>
        <p:txBody>
          <a:bodyPr wrap="square" lIns="0" tIns="0" rIns="0" bIns="0" rtlCol="0" anchor="ctr"/>
          <a:lstStyle/>
          <a:p>
            <a:pPr algn="ctr" indent="0" marL="0">
              <a:buNone/>
            </a:pPr>
            <a:r>
              <a:rPr lang="en-US" sz="1900" b="1" dirty="0">
                <a:solidFill>
                  <a:srgbClr val="10224E"/>
                </a:solidFill>
                <a:latin typeface="Cambria" pitchFamily="34" charset="0"/>
                <a:ea typeface="Cambria" pitchFamily="34" charset="-122"/>
                <a:cs typeface="Cambria" pitchFamily="34" charset="-120"/>
              </a:rPr>
              <a:t>3</a:t>
            </a:r>
            <a:endParaRPr lang="en-US" sz="1900" dirty="0"/>
          </a:p>
        </p:txBody>
      </p:sp>
      <p:sp>
        <p:nvSpPr>
          <p:cNvPr id="17" name="Text 15"/>
          <p:cNvSpPr txBox="1"/>
          <p:nvPr/>
        </p:nvSpPr>
        <p:spPr>
          <a:xfrm>
            <a:off x="8412480" y="2359152"/>
            <a:ext cx="2916936" cy="603504"/>
          </a:xfrm>
          <a:prstGeom prst="rect">
            <a:avLst/>
          </a:prstGeom>
          <a:noFill/>
          <a:ln/>
        </p:spPr>
        <p:txBody>
          <a:bodyPr wrap="square" lIns="0" tIns="0" rIns="0" bIns="0" rtlCol="0" anchor="t"/>
          <a:lstStyle/>
          <a:p>
            <a:pPr algn="l" indent="0" marL="0">
              <a:buNone/>
            </a:pPr>
            <a:r>
              <a:rPr lang="en-US" sz="1500" b="1" dirty="0">
                <a:solidFill>
                  <a:srgbClr val="10224E"/>
                </a:solidFill>
                <a:latin typeface="Cambria" pitchFamily="34" charset="0"/>
                <a:ea typeface="Cambria" pitchFamily="34" charset="-122"/>
                <a:cs typeface="Cambria" pitchFamily="34" charset="-120"/>
              </a:rPr>
              <a:t>Banken und Vermögen</a:t>
            </a:r>
            <a:endParaRPr lang="en-US" sz="1500" dirty="0"/>
          </a:p>
        </p:txBody>
      </p:sp>
      <p:sp>
        <p:nvSpPr>
          <p:cNvPr id="18" name="Text 16"/>
          <p:cNvSpPr txBox="1"/>
          <p:nvPr/>
        </p:nvSpPr>
        <p:spPr>
          <a:xfrm>
            <a:off x="8412480" y="2962656"/>
            <a:ext cx="2916936" cy="1225296"/>
          </a:xfrm>
          <a:prstGeom prst="rect">
            <a:avLst/>
          </a:prstGeom>
          <a:noFill/>
          <a:ln/>
        </p:spPr>
        <p:txBody>
          <a:bodyPr wrap="square" lIns="0" tIns="0" rIns="0" bIns="0" rtlCol="0" anchor="t"/>
          <a:lstStyle/>
          <a:p>
            <a:pPr algn="l" indent="0" marL="0">
              <a:lnSpc>
                <a:spcPct val="106000"/>
              </a:lnSpc>
              <a:buNone/>
            </a:pPr>
            <a:r>
              <a:rPr lang="en-US" sz="1200" dirty="0">
                <a:solidFill>
                  <a:srgbClr val="1A1D26"/>
                </a:solidFill>
                <a:latin typeface="Calibri" pitchFamily="34" charset="0"/>
                <a:ea typeface="Calibri" pitchFamily="34" charset="-122"/>
                <a:cs typeface="Calibri" pitchFamily="34" charset="-120"/>
              </a:rPr>
              <a:t>Steigende Zinsen erhöhen die Zinsmarge der Banken, entwerten aber ältere Anleihen in ihren Büchern. Auch Aktien- und Immobilienpreise reagieren: niedrige Zinsen treiben sie, hohe bremsen sie.</a:t>
            </a:r>
            <a:endParaRPr lang="en-US" sz="1200" dirty="0"/>
          </a:p>
        </p:txBody>
      </p:sp>
      <p:sp>
        <p:nvSpPr>
          <p:cNvPr id="19" name="Shape 17"/>
          <p:cNvSpPr/>
          <p:nvPr/>
        </p:nvSpPr>
        <p:spPr>
          <a:xfrm>
            <a:off x="566928" y="4572000"/>
            <a:ext cx="11057839" cy="1417320"/>
          </a:xfrm>
          <a:prstGeom prst="roundRect">
            <a:avLst>
              <a:gd name="adj" fmla="val 5161"/>
            </a:avLst>
          </a:prstGeom>
          <a:solidFill>
            <a:srgbClr val="10224E"/>
          </a:solidFill>
          <a:ln w="12700">
            <a:solidFill>
              <a:srgbClr val="10224E"/>
            </a:solidFill>
            <a:prstDash val="solid"/>
          </a:ln>
          <a:effectLst>
            <a:outerShdw sx="100000" sy="100000" kx="0" ky="0" algn="bl" rotWithShape="0" blurRad="88900" dist="12700" dir="5400000">
              <a:srgbClr val="8A96AD">
                <a:alpha val="22000"/>
              </a:srgbClr>
            </a:outerShdw>
          </a:effectLst>
        </p:spPr>
      </p:sp>
      <p:sp>
        <p:nvSpPr>
          <p:cNvPr id="20" name="Text 18"/>
          <p:cNvSpPr txBox="1"/>
          <p:nvPr/>
        </p:nvSpPr>
        <p:spPr>
          <a:xfrm>
            <a:off x="886968" y="4718304"/>
            <a:ext cx="10417759" cy="310896"/>
          </a:xfrm>
          <a:prstGeom prst="rect">
            <a:avLst/>
          </a:prstGeom>
          <a:noFill/>
          <a:ln/>
        </p:spPr>
        <p:txBody>
          <a:bodyPr wrap="square" lIns="0" tIns="0" rIns="0" bIns="0" rtlCol="0" anchor="t"/>
          <a:lstStyle/>
          <a:p>
            <a:pPr algn="l" indent="0" marL="0">
              <a:buNone/>
            </a:pPr>
            <a:r>
              <a:rPr lang="en-US" sz="1550" b="1" dirty="0">
                <a:solidFill>
                  <a:srgbClr val="FFC72C"/>
                </a:solidFill>
                <a:latin typeface="Cambria" pitchFamily="34" charset="0"/>
                <a:ea typeface="Cambria" pitchFamily="34" charset="-122"/>
                <a:cs typeface="Cambria" pitchFamily="34" charset="-120"/>
              </a:rPr>
              <a:t>Ein Zins für viele Länder – der Dauerkonflikt der Währungsunion</a:t>
            </a:r>
            <a:endParaRPr lang="en-US" sz="1550" dirty="0"/>
          </a:p>
        </p:txBody>
      </p:sp>
      <p:sp>
        <p:nvSpPr>
          <p:cNvPr id="21" name="Text 19"/>
          <p:cNvSpPr txBox="1"/>
          <p:nvPr/>
        </p:nvSpPr>
        <p:spPr>
          <a:xfrm>
            <a:off x="886968" y="5065776"/>
            <a:ext cx="10417759" cy="822960"/>
          </a:xfrm>
          <a:prstGeom prst="rect">
            <a:avLst/>
          </a:prstGeom>
          <a:noFill/>
          <a:ln/>
        </p:spPr>
        <p:txBody>
          <a:bodyPr wrap="square" lIns="0" tIns="0" rIns="0" bIns="0" rtlCol="0" anchor="t"/>
          <a:lstStyle/>
          <a:p>
            <a:pPr algn="l" indent="0" marL="0">
              <a:lnSpc>
                <a:spcPct val="108000"/>
              </a:lnSpc>
              <a:buNone/>
            </a:pPr>
            <a:r>
              <a:rPr lang="en-US" sz="1250" dirty="0">
                <a:solidFill>
                  <a:srgbClr val="C9D5EE"/>
                </a:solidFill>
                <a:latin typeface="Calibri" pitchFamily="34" charset="0"/>
                <a:ea typeface="Calibri" pitchFamily="34" charset="-122"/>
                <a:cs typeface="Calibri" pitchFamily="34" charset="-120"/>
              </a:rPr>
              <a:t>Die EZB setzt einen einzigen Leitzins für alle Mitgliedstaaten fest. Hoch verschuldete Staaten und schwache Volkswirtschaften trifft eine Zinserhöhung deutlich härter als Länder mit stabilen Finanzen. Ein Zinssatz, der für das eine Land passt, kann für das andere zu hoch oder zu niedrig sein – das ist der Preis der gemeinsamen Währung.</a:t>
            </a:r>
            <a:endParaRPr lang="en-US" sz="1250" dirty="0"/>
          </a:p>
        </p:txBody>
      </p:sp>
      <p:sp>
        <p:nvSpPr>
          <p:cNvPr id="22" name="Text 20"/>
          <p:cNvSpPr txBox="1"/>
          <p:nvPr/>
        </p:nvSpPr>
        <p:spPr>
          <a:xfrm>
            <a:off x="566928" y="6364224"/>
            <a:ext cx="5486400" cy="256032"/>
          </a:xfrm>
          <a:prstGeom prst="rect">
            <a:avLst/>
          </a:prstGeom>
          <a:noFill/>
          <a:ln/>
        </p:spPr>
        <p:txBody>
          <a:bodyPr wrap="square" lIns="0" tIns="0" rIns="0" bIns="0" rtlCol="0" anchor="t"/>
          <a:lstStyle/>
          <a:p>
            <a:pPr algn="l" indent="0" marL="0">
              <a:buNone/>
            </a:pPr>
            <a:r>
              <a:rPr lang="en-US" sz="950" dirty="0">
                <a:solidFill>
                  <a:srgbClr val="5A6274"/>
                </a:solidFill>
                <a:latin typeface="Calibri" pitchFamily="34" charset="0"/>
                <a:ea typeface="Calibri" pitchFamily="34" charset="-122"/>
                <a:cs typeface="Calibri" pitchFamily="34" charset="-120"/>
              </a:rPr>
              <a:t>Die Geldpolitik der EZB</a:t>
            </a:r>
            <a:endParaRPr lang="en-US" sz="950" dirty="0"/>
          </a:p>
        </p:txBody>
      </p:sp>
      <p:sp>
        <p:nvSpPr>
          <p:cNvPr id="23" name="Text 21"/>
          <p:cNvSpPr txBox="1"/>
          <p:nvPr/>
        </p:nvSpPr>
        <p:spPr>
          <a:xfrm>
            <a:off x="7967167" y="6364224"/>
            <a:ext cx="3657600" cy="256032"/>
          </a:xfrm>
          <a:prstGeom prst="rect">
            <a:avLst/>
          </a:prstGeom>
          <a:noFill/>
          <a:ln/>
        </p:spPr>
        <p:txBody>
          <a:bodyPr wrap="square" lIns="0" tIns="0" rIns="0" bIns="0" rtlCol="0" anchor="t"/>
          <a:lstStyle/>
          <a:p>
            <a:pPr algn="r" indent="0" marL="0">
              <a:buNone/>
            </a:pPr>
            <a:r>
              <a:rPr lang="en-US" sz="950" dirty="0">
                <a:solidFill>
                  <a:srgbClr val="5A6274"/>
                </a:solidFill>
                <a:latin typeface="Calibri" pitchFamily="34" charset="0"/>
                <a:ea typeface="Calibri" pitchFamily="34" charset="-122"/>
                <a:cs typeface="Calibri" pitchFamily="34" charset="-120"/>
              </a:rPr>
              <a:t>Folie 16 von 17</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0224E"/>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algn="l" indent="0" marL="0">
              <a:buNone/>
            </a:pPr>
            <a:r>
              <a:rPr lang="en-US" sz="1100" b="1" spc="140" kern="0" dirty="0">
                <a:solidFill>
                  <a:srgbClr val="FFC72C"/>
                </a:solidFill>
                <a:latin typeface="Calibri" pitchFamily="34" charset="0"/>
                <a:ea typeface="Calibri" pitchFamily="34" charset="-122"/>
                <a:cs typeface="Calibri" pitchFamily="34" charset="-120"/>
              </a:rPr>
              <a:t>FAZIT</a:t>
            </a:r>
            <a:endParaRPr lang="en-US" sz="1100" dirty="0"/>
          </a:p>
        </p:txBody>
      </p:sp>
      <p:sp>
        <p:nvSpPr>
          <p:cNvPr id="3" name="Text 1"/>
          <p:cNvSpPr txBox="1"/>
          <p:nvPr/>
        </p:nvSpPr>
        <p:spPr>
          <a:xfrm>
            <a:off x="566928" y="566928"/>
            <a:ext cx="11057839" cy="676656"/>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Ein Ziel, viele Zielkonflikte</a:t>
            </a:r>
            <a:endParaRPr lang="en-US" sz="3000" dirty="0"/>
          </a:p>
        </p:txBody>
      </p:sp>
      <p:sp>
        <p:nvSpPr>
          <p:cNvPr id="4" name="Shape 2"/>
          <p:cNvSpPr/>
          <p:nvPr/>
        </p:nvSpPr>
        <p:spPr>
          <a:xfrm>
            <a:off x="566928" y="1444752"/>
            <a:ext cx="6400800" cy="1335024"/>
          </a:xfrm>
          <a:prstGeom prst="roundRect">
            <a:avLst>
              <a:gd name="adj" fmla="val 5479"/>
            </a:avLst>
          </a:prstGeom>
          <a:solidFill>
            <a:srgbClr val="1C3670"/>
          </a:solidFill>
          <a:ln w="12700">
            <a:solidFill>
              <a:srgbClr val="1C3670"/>
            </a:solidFill>
            <a:prstDash val="solid"/>
          </a:ln>
        </p:spPr>
      </p:sp>
      <p:sp>
        <p:nvSpPr>
          <p:cNvPr id="5" name="Shape 3"/>
          <p:cNvSpPr/>
          <p:nvPr/>
        </p:nvSpPr>
        <p:spPr>
          <a:xfrm>
            <a:off x="822960" y="1755648"/>
            <a:ext cx="548640" cy="548640"/>
          </a:xfrm>
          <a:prstGeom prst="ellipse">
            <a:avLst/>
          </a:prstGeom>
          <a:solidFill>
            <a:srgbClr val="FFC72C"/>
          </a:solidFill>
          <a:ln w="12700">
            <a:solidFill>
              <a:srgbClr val="FFC72C"/>
            </a:solidFill>
            <a:prstDash val="solid"/>
          </a:ln>
        </p:spPr>
      </p:sp>
      <p:sp>
        <p:nvSpPr>
          <p:cNvPr id="6" name="Text 4"/>
          <p:cNvSpPr txBox="1"/>
          <p:nvPr/>
        </p:nvSpPr>
        <p:spPr>
          <a:xfrm>
            <a:off x="822960" y="1755648"/>
            <a:ext cx="548640" cy="548640"/>
          </a:xfrm>
          <a:prstGeom prst="rect">
            <a:avLst/>
          </a:prstGeom>
          <a:noFill/>
          <a:ln/>
        </p:spPr>
        <p:txBody>
          <a:bodyPr wrap="square" lIns="0" tIns="0" rIns="0" bIns="0" rtlCol="0" anchor="ctr"/>
          <a:lstStyle/>
          <a:p>
            <a:pPr algn="ctr" indent="0" marL="0">
              <a:buNone/>
            </a:pPr>
            <a:r>
              <a:rPr lang="en-US" sz="1900" b="1" dirty="0">
                <a:solidFill>
                  <a:srgbClr val="10224E"/>
                </a:solidFill>
                <a:latin typeface="Cambria" pitchFamily="34" charset="0"/>
                <a:ea typeface="Cambria" pitchFamily="34" charset="-122"/>
                <a:cs typeface="Cambria" pitchFamily="34" charset="-120"/>
              </a:rPr>
              <a:t>1</a:t>
            </a:r>
            <a:endParaRPr lang="en-US" sz="1900" dirty="0"/>
          </a:p>
        </p:txBody>
      </p:sp>
      <p:sp>
        <p:nvSpPr>
          <p:cNvPr id="7" name="Text 5"/>
          <p:cNvSpPr txBox="1"/>
          <p:nvPr/>
        </p:nvSpPr>
        <p:spPr>
          <a:xfrm>
            <a:off x="1536192" y="1627632"/>
            <a:ext cx="5120640" cy="512064"/>
          </a:xfrm>
          <a:prstGeom prst="rect">
            <a:avLst/>
          </a:prstGeom>
          <a:noFill/>
          <a:ln/>
        </p:spPr>
        <p:txBody>
          <a:bodyPr wrap="square" lIns="0" tIns="0" rIns="0" bIns="0" rtlCol="0" anchor="t"/>
          <a:lstStyle/>
          <a:p>
            <a:pPr algn="l" indent="0" marL="0">
              <a:buNone/>
            </a:pPr>
            <a:r>
              <a:rPr lang="en-US" sz="1550" b="1" dirty="0">
                <a:solidFill>
                  <a:srgbClr val="FFC72C"/>
                </a:solidFill>
                <a:latin typeface="Cambria" pitchFamily="34" charset="0"/>
                <a:ea typeface="Cambria" pitchFamily="34" charset="-122"/>
                <a:cs typeface="Cambria" pitchFamily="34" charset="-120"/>
              </a:rPr>
              <a:t>Die EZB hat einen klaren Auftrag</a:t>
            </a:r>
            <a:endParaRPr lang="en-US" sz="1550" dirty="0"/>
          </a:p>
        </p:txBody>
      </p:sp>
      <p:sp>
        <p:nvSpPr>
          <p:cNvPr id="8" name="Text 6"/>
          <p:cNvSpPr txBox="1"/>
          <p:nvPr/>
        </p:nvSpPr>
        <p:spPr>
          <a:xfrm>
            <a:off x="1536192" y="2157984"/>
            <a:ext cx="5120640" cy="530352"/>
          </a:xfrm>
          <a:prstGeom prst="rect">
            <a:avLst/>
          </a:prstGeom>
          <a:noFill/>
          <a:ln/>
        </p:spPr>
        <p:txBody>
          <a:bodyPr wrap="square" lIns="0" tIns="0" rIns="0" bIns="0" rtlCol="0" anchor="t"/>
          <a:lstStyle/>
          <a:p>
            <a:pPr algn="l" indent="0" marL="0">
              <a:lnSpc>
                <a:spcPct val="108000"/>
              </a:lnSpc>
              <a:buNone/>
            </a:pPr>
            <a:r>
              <a:rPr lang="en-US" sz="1250" dirty="0">
                <a:solidFill>
                  <a:srgbClr val="C9D5EE"/>
                </a:solidFill>
                <a:latin typeface="Calibri" pitchFamily="34" charset="0"/>
                <a:ea typeface="Calibri" pitchFamily="34" charset="-122"/>
                <a:cs typeface="Calibri" pitchFamily="34" charset="-120"/>
              </a:rPr>
              <a:t>Preisstabilität bei rund 2 % Inflation. Alles andere ist ausdrücklich nachrangig – so steht es im EU-Vertrag.</a:t>
            </a:r>
            <a:endParaRPr lang="en-US" sz="1250" dirty="0"/>
          </a:p>
        </p:txBody>
      </p:sp>
      <p:sp>
        <p:nvSpPr>
          <p:cNvPr id="9" name="Shape 7"/>
          <p:cNvSpPr/>
          <p:nvPr/>
        </p:nvSpPr>
        <p:spPr>
          <a:xfrm>
            <a:off x="566928" y="2907792"/>
            <a:ext cx="6400800" cy="1335024"/>
          </a:xfrm>
          <a:prstGeom prst="roundRect">
            <a:avLst>
              <a:gd name="adj" fmla="val 5479"/>
            </a:avLst>
          </a:prstGeom>
          <a:solidFill>
            <a:srgbClr val="1C3670"/>
          </a:solidFill>
          <a:ln w="12700">
            <a:solidFill>
              <a:srgbClr val="1C3670"/>
            </a:solidFill>
            <a:prstDash val="solid"/>
          </a:ln>
        </p:spPr>
      </p:sp>
      <p:sp>
        <p:nvSpPr>
          <p:cNvPr id="10" name="Shape 8"/>
          <p:cNvSpPr/>
          <p:nvPr/>
        </p:nvSpPr>
        <p:spPr>
          <a:xfrm>
            <a:off x="822960" y="3218688"/>
            <a:ext cx="548640" cy="548640"/>
          </a:xfrm>
          <a:prstGeom prst="ellipse">
            <a:avLst/>
          </a:prstGeom>
          <a:solidFill>
            <a:srgbClr val="FFC72C"/>
          </a:solidFill>
          <a:ln w="12700">
            <a:solidFill>
              <a:srgbClr val="FFC72C"/>
            </a:solidFill>
            <a:prstDash val="solid"/>
          </a:ln>
        </p:spPr>
      </p:sp>
      <p:sp>
        <p:nvSpPr>
          <p:cNvPr id="11" name="Text 9"/>
          <p:cNvSpPr txBox="1"/>
          <p:nvPr/>
        </p:nvSpPr>
        <p:spPr>
          <a:xfrm>
            <a:off x="822960" y="3218688"/>
            <a:ext cx="548640" cy="548640"/>
          </a:xfrm>
          <a:prstGeom prst="rect">
            <a:avLst/>
          </a:prstGeom>
          <a:noFill/>
          <a:ln/>
        </p:spPr>
        <p:txBody>
          <a:bodyPr wrap="square" lIns="0" tIns="0" rIns="0" bIns="0" rtlCol="0" anchor="ctr"/>
          <a:lstStyle/>
          <a:p>
            <a:pPr algn="ctr" indent="0" marL="0">
              <a:buNone/>
            </a:pPr>
            <a:r>
              <a:rPr lang="en-US" sz="1900" b="1" dirty="0">
                <a:solidFill>
                  <a:srgbClr val="10224E"/>
                </a:solidFill>
                <a:latin typeface="Cambria" pitchFamily="34" charset="0"/>
                <a:ea typeface="Cambria" pitchFamily="34" charset="-122"/>
                <a:cs typeface="Cambria" pitchFamily="34" charset="-120"/>
              </a:rPr>
              <a:t>2</a:t>
            </a:r>
            <a:endParaRPr lang="en-US" sz="1900" dirty="0"/>
          </a:p>
        </p:txBody>
      </p:sp>
      <p:sp>
        <p:nvSpPr>
          <p:cNvPr id="12" name="Text 10"/>
          <p:cNvSpPr txBox="1"/>
          <p:nvPr/>
        </p:nvSpPr>
        <p:spPr>
          <a:xfrm>
            <a:off x="1536192" y="3090672"/>
            <a:ext cx="5120640" cy="512064"/>
          </a:xfrm>
          <a:prstGeom prst="rect">
            <a:avLst/>
          </a:prstGeom>
          <a:noFill/>
          <a:ln/>
        </p:spPr>
        <p:txBody>
          <a:bodyPr wrap="square" lIns="0" tIns="0" rIns="0" bIns="0" rtlCol="0" anchor="t"/>
          <a:lstStyle/>
          <a:p>
            <a:pPr algn="l" indent="0" marL="0">
              <a:buNone/>
            </a:pPr>
            <a:r>
              <a:rPr lang="en-US" sz="1550" b="1" dirty="0">
                <a:solidFill>
                  <a:srgbClr val="FFC72C"/>
                </a:solidFill>
                <a:latin typeface="Cambria" pitchFamily="34" charset="0"/>
                <a:ea typeface="Cambria" pitchFamily="34" charset="-122"/>
                <a:cs typeface="Cambria" pitchFamily="34" charset="-120"/>
              </a:rPr>
              <a:t>Ihr stärkstes Werkzeug ist der Zins</a:t>
            </a:r>
            <a:endParaRPr lang="en-US" sz="1550" dirty="0"/>
          </a:p>
        </p:txBody>
      </p:sp>
      <p:sp>
        <p:nvSpPr>
          <p:cNvPr id="13" name="Text 11"/>
          <p:cNvSpPr txBox="1"/>
          <p:nvPr/>
        </p:nvSpPr>
        <p:spPr>
          <a:xfrm>
            <a:off x="1536192" y="3621024"/>
            <a:ext cx="5120640" cy="530352"/>
          </a:xfrm>
          <a:prstGeom prst="rect">
            <a:avLst/>
          </a:prstGeom>
          <a:noFill/>
          <a:ln/>
        </p:spPr>
        <p:txBody>
          <a:bodyPr wrap="square" lIns="0" tIns="0" rIns="0" bIns="0" rtlCol="0" anchor="t"/>
          <a:lstStyle/>
          <a:p>
            <a:pPr algn="l" indent="0" marL="0">
              <a:lnSpc>
                <a:spcPct val="108000"/>
              </a:lnSpc>
              <a:buNone/>
            </a:pPr>
            <a:r>
              <a:rPr lang="en-US" sz="1250" dirty="0">
                <a:solidFill>
                  <a:srgbClr val="C9D5EE"/>
                </a:solidFill>
                <a:latin typeface="Calibri" pitchFamily="34" charset="0"/>
                <a:ea typeface="Calibri" pitchFamily="34" charset="-122"/>
                <a:cs typeface="Calibri" pitchFamily="34" charset="-120"/>
              </a:rPr>
              <a:t>Über Banken, Kredite und Nachfrage wirkt er auf die Preise – langsam, indirekt und nie punktgenau.</a:t>
            </a:r>
            <a:endParaRPr lang="en-US" sz="1250" dirty="0"/>
          </a:p>
        </p:txBody>
      </p:sp>
      <p:sp>
        <p:nvSpPr>
          <p:cNvPr id="14" name="Shape 12"/>
          <p:cNvSpPr/>
          <p:nvPr/>
        </p:nvSpPr>
        <p:spPr>
          <a:xfrm>
            <a:off x="566928" y="4370832"/>
            <a:ext cx="6400800" cy="1335024"/>
          </a:xfrm>
          <a:prstGeom prst="roundRect">
            <a:avLst>
              <a:gd name="adj" fmla="val 5479"/>
            </a:avLst>
          </a:prstGeom>
          <a:solidFill>
            <a:srgbClr val="1C3670"/>
          </a:solidFill>
          <a:ln w="12700">
            <a:solidFill>
              <a:srgbClr val="1C3670"/>
            </a:solidFill>
            <a:prstDash val="solid"/>
          </a:ln>
        </p:spPr>
      </p:sp>
      <p:sp>
        <p:nvSpPr>
          <p:cNvPr id="15" name="Shape 13"/>
          <p:cNvSpPr/>
          <p:nvPr/>
        </p:nvSpPr>
        <p:spPr>
          <a:xfrm>
            <a:off x="822960" y="4681728"/>
            <a:ext cx="548640" cy="548640"/>
          </a:xfrm>
          <a:prstGeom prst="ellipse">
            <a:avLst/>
          </a:prstGeom>
          <a:solidFill>
            <a:srgbClr val="FFC72C"/>
          </a:solidFill>
          <a:ln w="12700">
            <a:solidFill>
              <a:srgbClr val="FFC72C"/>
            </a:solidFill>
            <a:prstDash val="solid"/>
          </a:ln>
        </p:spPr>
      </p:sp>
      <p:sp>
        <p:nvSpPr>
          <p:cNvPr id="16" name="Text 14"/>
          <p:cNvSpPr txBox="1"/>
          <p:nvPr/>
        </p:nvSpPr>
        <p:spPr>
          <a:xfrm>
            <a:off x="822960" y="4681728"/>
            <a:ext cx="548640" cy="548640"/>
          </a:xfrm>
          <a:prstGeom prst="rect">
            <a:avLst/>
          </a:prstGeom>
          <a:noFill/>
          <a:ln/>
        </p:spPr>
        <p:txBody>
          <a:bodyPr wrap="square" lIns="0" tIns="0" rIns="0" bIns="0" rtlCol="0" anchor="ctr"/>
          <a:lstStyle/>
          <a:p>
            <a:pPr algn="ctr" indent="0" marL="0">
              <a:buNone/>
            </a:pPr>
            <a:r>
              <a:rPr lang="en-US" sz="1900" b="1" dirty="0">
                <a:solidFill>
                  <a:srgbClr val="10224E"/>
                </a:solidFill>
                <a:latin typeface="Cambria" pitchFamily="34" charset="0"/>
                <a:ea typeface="Cambria" pitchFamily="34" charset="-122"/>
                <a:cs typeface="Cambria" pitchFamily="34" charset="-120"/>
              </a:rPr>
              <a:t>3</a:t>
            </a:r>
            <a:endParaRPr lang="en-US" sz="1900" dirty="0"/>
          </a:p>
        </p:txBody>
      </p:sp>
      <p:sp>
        <p:nvSpPr>
          <p:cNvPr id="17" name="Text 15"/>
          <p:cNvSpPr txBox="1"/>
          <p:nvPr/>
        </p:nvSpPr>
        <p:spPr>
          <a:xfrm>
            <a:off x="1536192" y="4553712"/>
            <a:ext cx="5120640" cy="512064"/>
          </a:xfrm>
          <a:prstGeom prst="rect">
            <a:avLst/>
          </a:prstGeom>
          <a:noFill/>
          <a:ln/>
        </p:spPr>
        <p:txBody>
          <a:bodyPr wrap="square" lIns="0" tIns="0" rIns="0" bIns="0" rtlCol="0" anchor="t"/>
          <a:lstStyle/>
          <a:p>
            <a:pPr algn="l" indent="0" marL="0">
              <a:buNone/>
            </a:pPr>
            <a:r>
              <a:rPr lang="en-US" sz="1550" b="1" dirty="0">
                <a:solidFill>
                  <a:srgbClr val="FFC72C"/>
                </a:solidFill>
                <a:latin typeface="Cambria" pitchFamily="34" charset="0"/>
                <a:ea typeface="Cambria" pitchFamily="34" charset="-122"/>
                <a:cs typeface="Cambria" pitchFamily="34" charset="-120"/>
              </a:rPr>
              <a:t>Jede Entscheidung hat Gewinner und Verlierer</a:t>
            </a:r>
            <a:endParaRPr lang="en-US" sz="1550" dirty="0"/>
          </a:p>
        </p:txBody>
      </p:sp>
      <p:sp>
        <p:nvSpPr>
          <p:cNvPr id="18" name="Text 16"/>
          <p:cNvSpPr txBox="1"/>
          <p:nvPr/>
        </p:nvSpPr>
        <p:spPr>
          <a:xfrm>
            <a:off x="1536192" y="5084064"/>
            <a:ext cx="5120640" cy="530352"/>
          </a:xfrm>
          <a:prstGeom prst="rect">
            <a:avLst/>
          </a:prstGeom>
          <a:noFill/>
          <a:ln/>
        </p:spPr>
        <p:txBody>
          <a:bodyPr wrap="square" lIns="0" tIns="0" rIns="0" bIns="0" rtlCol="0" anchor="t"/>
          <a:lstStyle/>
          <a:p>
            <a:pPr algn="l" indent="0" marL="0">
              <a:lnSpc>
                <a:spcPct val="108000"/>
              </a:lnSpc>
              <a:buNone/>
            </a:pPr>
            <a:r>
              <a:rPr lang="en-US" sz="1250" dirty="0">
                <a:solidFill>
                  <a:srgbClr val="C9D5EE"/>
                </a:solidFill>
                <a:latin typeface="Calibri" pitchFamily="34" charset="0"/>
                <a:ea typeface="Calibri" pitchFamily="34" charset="-122"/>
                <a:cs typeface="Calibri" pitchFamily="34" charset="-120"/>
              </a:rPr>
              <a:t>Was Sparerinnen und Sparer freut, belastet Kreditnehmer, Betriebe und den Staat. Geldpolitik ist immer eine Abwägung.</a:t>
            </a:r>
            <a:endParaRPr lang="en-US" sz="1250" dirty="0"/>
          </a:p>
        </p:txBody>
      </p:sp>
      <p:sp>
        <p:nvSpPr>
          <p:cNvPr id="19" name="Shape 17"/>
          <p:cNvSpPr/>
          <p:nvPr/>
        </p:nvSpPr>
        <p:spPr>
          <a:xfrm>
            <a:off x="7269480" y="1444752"/>
            <a:ext cx="4352544" cy="4261104"/>
          </a:xfrm>
          <a:prstGeom prst="roundRect">
            <a:avLst>
              <a:gd name="adj" fmla="val 1717"/>
            </a:avLst>
          </a:prstGeom>
          <a:solidFill>
            <a:srgbClr val="FFFFFF"/>
          </a:solidFill>
          <a:ln w="12700">
            <a:solidFill>
              <a:srgbClr val="FFFFFF"/>
            </a:solidFill>
            <a:prstDash val="solid"/>
          </a:ln>
          <a:effectLst>
            <a:outerShdw sx="100000" sy="100000" kx="0" ky="0" algn="bl" rotWithShape="0" blurRad="88900" dist="12700" dir="5400000">
              <a:srgbClr val="8A96AD">
                <a:alpha val="22000"/>
              </a:srgbClr>
            </a:outerShdw>
          </a:effectLst>
        </p:spPr>
      </p:sp>
      <p:sp>
        <p:nvSpPr>
          <p:cNvPr id="20" name="Text 18"/>
          <p:cNvSpPr txBox="1"/>
          <p:nvPr/>
        </p:nvSpPr>
        <p:spPr>
          <a:xfrm>
            <a:off x="7562088" y="1682496"/>
            <a:ext cx="3767328" cy="329184"/>
          </a:xfrm>
          <a:prstGeom prst="rect">
            <a:avLst/>
          </a:prstGeom>
          <a:noFill/>
          <a:ln/>
        </p:spPr>
        <p:txBody>
          <a:bodyPr wrap="square" lIns="0" tIns="0" rIns="0" bIns="0" rtlCol="0" anchor="t"/>
          <a:lstStyle/>
          <a:p>
            <a:pPr algn="l" indent="0" marL="0">
              <a:buNone/>
            </a:pPr>
            <a:r>
              <a:rPr lang="en-US" sz="1600" b="1" dirty="0">
                <a:solidFill>
                  <a:srgbClr val="10224E"/>
                </a:solidFill>
                <a:latin typeface="Cambria" pitchFamily="34" charset="0"/>
                <a:ea typeface="Cambria" pitchFamily="34" charset="-122"/>
                <a:cs typeface="Cambria" pitchFamily="34" charset="-120"/>
              </a:rPr>
              <a:t>Fragen zur Diskussion</a:t>
            </a:r>
            <a:endParaRPr lang="en-US" sz="1600" dirty="0"/>
          </a:p>
        </p:txBody>
      </p:sp>
      <p:sp>
        <p:nvSpPr>
          <p:cNvPr id="21" name="Text 19"/>
          <p:cNvSpPr txBox="1"/>
          <p:nvPr/>
        </p:nvSpPr>
        <p:spPr>
          <a:xfrm>
            <a:off x="7562088" y="2157984"/>
            <a:ext cx="3767328" cy="3291840"/>
          </a:xfrm>
          <a:prstGeom prst="rect">
            <a:avLst/>
          </a:prstGeom>
          <a:noFill/>
          <a:ln/>
        </p:spPr>
        <p:txBody>
          <a:bodyPr wrap="square" lIns="0" tIns="0" rIns="0" bIns="0" rtlCol="0" anchor="t"/>
          <a:lstStyle/>
          <a:p>
            <a:pPr algn="l" marL="177800" indent="-177800">
              <a:lnSpc>
                <a:spcPct val="112000"/>
              </a:lnSpc>
              <a:spcAft>
                <a:spcPts val="500"/>
              </a:spcAft>
              <a:buSzPct val="100000"/>
              <a:buChar char="•"/>
            </a:pPr>
            <a:r>
              <a:rPr lang="en-US" sz="1300" dirty="0">
                <a:solidFill>
                  <a:srgbClr val="1A1D26"/>
                </a:solidFill>
                <a:latin typeface="Calibri" pitchFamily="34" charset="0"/>
                <a:ea typeface="Calibri" pitchFamily="34" charset="-122"/>
                <a:cs typeface="Calibri" pitchFamily="34" charset="-120"/>
              </a:rPr>
              <a:t>Sollte die EZB neben stabilen Preisen auch für Beschäftigung und Klimaschutz zuständig sein?</a:t>
            </a:r>
            <a:endParaRPr lang="en-US" sz="1300" dirty="0"/>
          </a:p>
          <a:p>
            <a:pPr algn="l" marL="177800" indent="-177800">
              <a:lnSpc>
                <a:spcPct val="112000"/>
              </a:lnSpc>
              <a:spcAft>
                <a:spcPts val="500"/>
              </a:spcAft>
              <a:buSzPct val="100000"/>
              <a:buChar char="•"/>
            </a:pPr>
            <a:r>
              <a:rPr lang="en-US" sz="1300" dirty="0">
                <a:solidFill>
                  <a:srgbClr val="1A1D26"/>
                </a:solidFill>
                <a:latin typeface="Calibri" pitchFamily="34" charset="0"/>
                <a:ea typeface="Calibri" pitchFamily="34" charset="-122"/>
                <a:cs typeface="Calibri" pitchFamily="34" charset="-120"/>
              </a:rPr>
              <a:t>Ist es demokratisch vertretbar, dass eine unabhängige Institution so stark in unser Leben eingreift?</a:t>
            </a:r>
            <a:endParaRPr lang="en-US" sz="1300" dirty="0"/>
          </a:p>
          <a:p>
            <a:pPr algn="l" marL="177800" indent="-177800">
              <a:lnSpc>
                <a:spcPct val="112000"/>
              </a:lnSpc>
              <a:spcAft>
                <a:spcPts val="500"/>
              </a:spcAft>
              <a:buSzPct val="100000"/>
              <a:buChar char="•"/>
            </a:pPr>
            <a:r>
              <a:rPr lang="en-US" sz="1300" dirty="0">
                <a:solidFill>
                  <a:srgbClr val="1A1D26"/>
                </a:solidFill>
                <a:latin typeface="Calibri" pitchFamily="34" charset="0"/>
                <a:ea typeface="Calibri" pitchFamily="34" charset="-122"/>
                <a:cs typeface="Calibri" pitchFamily="34" charset="-120"/>
              </a:rPr>
              <a:t>Wer trägt die Last einer Zinserhöhung – und wer profitiert davon?</a:t>
            </a:r>
            <a:endParaRPr lang="en-US" sz="1300" dirty="0"/>
          </a:p>
          <a:p>
            <a:pPr algn="l" marL="177800" indent="-177800">
              <a:lnSpc>
                <a:spcPct val="112000"/>
              </a:lnSpc>
              <a:spcAft>
                <a:spcPts val="500"/>
              </a:spcAft>
              <a:buSzPct val="100000"/>
              <a:buChar char="•"/>
            </a:pPr>
            <a:r>
              <a:rPr lang="en-US" sz="1300" dirty="0">
                <a:solidFill>
                  <a:srgbClr val="1A1D26"/>
                </a:solidFill>
                <a:latin typeface="Calibri" pitchFamily="34" charset="0"/>
                <a:ea typeface="Calibri" pitchFamily="34" charset="-122"/>
                <a:cs typeface="Calibri" pitchFamily="34" charset="-120"/>
              </a:rPr>
              <a:t>Was würdet ihr an der Stelle des EZB-Rats heute entscheiden?</a:t>
            </a:r>
            <a:endParaRPr lang="en-US" sz="1300" dirty="0"/>
          </a:p>
        </p:txBody>
      </p:sp>
      <p:sp>
        <p:nvSpPr>
          <p:cNvPr id="22" name="Text 20"/>
          <p:cNvSpPr txBox="1"/>
          <p:nvPr/>
        </p:nvSpPr>
        <p:spPr>
          <a:xfrm>
            <a:off x="566928" y="5961888"/>
            <a:ext cx="11057839" cy="292608"/>
          </a:xfrm>
          <a:prstGeom prst="rect">
            <a:avLst/>
          </a:prstGeom>
          <a:noFill/>
          <a:ln/>
        </p:spPr>
        <p:txBody>
          <a:bodyPr wrap="square" lIns="0" tIns="0" rIns="0" bIns="0" rtlCol="0" anchor="t"/>
          <a:lstStyle/>
          <a:p>
            <a:pPr algn="l" indent="0" marL="0">
              <a:buNone/>
            </a:pPr>
            <a:r>
              <a:rPr lang="en-US" sz="1000" i="1" dirty="0">
                <a:solidFill>
                  <a:srgbClr val="8FA2C8"/>
                </a:solidFill>
                <a:latin typeface="Calibri" pitchFamily="34" charset="0"/>
                <a:ea typeface="Calibri" pitchFamily="34" charset="-122"/>
                <a:cs typeface="Calibri" pitchFamily="34" charset="-120"/>
              </a:rPr>
              <a:t>Quellen: Vorlesungsskript „Geld und Geldpolitik“ (Prof. Dr. L. Rebeggiani); Europäische Zentralbank; Deutsche Bundesbank; Eurostat.</a:t>
            </a:r>
            <a:endParaRPr lang="en-US" sz="1000" dirty="0"/>
          </a:p>
        </p:txBody>
      </p:sp>
      <p:sp>
        <p:nvSpPr>
          <p:cNvPr id="23" name="Text 21"/>
          <p:cNvSpPr txBox="1"/>
          <p:nvPr/>
        </p:nvSpPr>
        <p:spPr>
          <a:xfrm>
            <a:off x="566928" y="6309360"/>
            <a:ext cx="6400800" cy="292608"/>
          </a:xfrm>
          <a:prstGeom prst="rect">
            <a:avLst/>
          </a:prstGeom>
          <a:noFill/>
          <a:ln/>
        </p:spPr>
        <p:txBody>
          <a:bodyPr wrap="square" lIns="0" tIns="0" rIns="0" bIns="0" rtlCol="0" anchor="t"/>
          <a:lstStyle/>
          <a:p>
            <a:pPr algn="l" indent="0" marL="0">
              <a:buNone/>
            </a:pPr>
            <a:r>
              <a:rPr lang="en-US" sz="1200" b="1" dirty="0">
                <a:solidFill>
                  <a:srgbClr val="FFC72C"/>
                </a:solidFill>
                <a:latin typeface="Calibri" pitchFamily="34" charset="0"/>
                <a:ea typeface="Calibri" pitchFamily="34" charset="-122"/>
                <a:cs typeface="Calibri" pitchFamily="34" charset="-120"/>
              </a:rPr>
              <a:t>Vielen Dank für eure Aufmerksamkeit.</a:t>
            </a:r>
            <a:endParaRPr lang="en-US" sz="1200" dirty="0"/>
          </a:p>
        </p:txBody>
      </p:sp>
      <p:sp>
        <p:nvSpPr>
          <p:cNvPr id="24" name="Text 22"/>
          <p:cNvSpPr txBox="1"/>
          <p:nvPr/>
        </p:nvSpPr>
        <p:spPr>
          <a:xfrm>
            <a:off x="7967167" y="6309360"/>
            <a:ext cx="3657600" cy="292608"/>
          </a:xfrm>
          <a:prstGeom prst="rect">
            <a:avLst/>
          </a:prstGeom>
          <a:noFill/>
          <a:ln/>
        </p:spPr>
        <p:txBody>
          <a:bodyPr wrap="square" lIns="0" tIns="0" rIns="0" bIns="0" rtlCol="0" anchor="t"/>
          <a:lstStyle/>
          <a:p>
            <a:pPr algn="r" indent="0" marL="0">
              <a:buNone/>
            </a:pPr>
            <a:r>
              <a:rPr lang="en-US" sz="950" dirty="0">
                <a:solidFill>
                  <a:srgbClr val="8FA2C8"/>
                </a:solidFill>
                <a:latin typeface="Calibri" pitchFamily="34" charset="0"/>
                <a:ea typeface="Calibri" pitchFamily="34" charset="-122"/>
                <a:cs typeface="Calibri" pitchFamily="34" charset="-120"/>
              </a:rPr>
              <a:t>Folie 17 von 17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Die Geldpolitik der EZB</dc:title>
  <dc:subject>PptxGenJS Presentation</dc:subject>
  <dc:creator>Politikunterricht</dc:creator>
  <cp:lastModifiedBy>Politikunterricht</cp:lastModifiedBy>
  <cp:revision>1</cp:revision>
  <dcterms:created xsi:type="dcterms:W3CDTF">2026-09-02T07:40:41Z</dcterms:created>
  <dcterms:modified xsi:type="dcterms:W3CDTF">2026-09-02T07:40:41Z</dcterms:modified>
</cp:coreProperties>
</file>